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337" r:id="rId2"/>
    <p:sldId id="339" r:id="rId3"/>
    <p:sldId id="338" r:id="rId4"/>
    <p:sldId id="341" r:id="rId5"/>
    <p:sldId id="342" r:id="rId6"/>
    <p:sldId id="343" r:id="rId7"/>
    <p:sldId id="340" r:id="rId8"/>
    <p:sldId id="346" r:id="rId9"/>
    <p:sldId id="344" r:id="rId10"/>
    <p:sldId id="347" r:id="rId11"/>
    <p:sldId id="348" r:id="rId12"/>
    <p:sldId id="349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2" r:id="rId22"/>
    <p:sldId id="361" r:id="rId23"/>
    <p:sldId id="363" r:id="rId24"/>
    <p:sldId id="364" r:id="rId25"/>
    <p:sldId id="365" r:id="rId26"/>
    <p:sldId id="366" r:id="rId27"/>
    <p:sldId id="368" r:id="rId28"/>
    <p:sldId id="369" r:id="rId29"/>
    <p:sldId id="367" r:id="rId30"/>
    <p:sldId id="370" r:id="rId31"/>
    <p:sldId id="371" r:id="rId32"/>
    <p:sldId id="372" r:id="rId33"/>
    <p:sldId id="373" r:id="rId34"/>
    <p:sldId id="374" r:id="rId35"/>
    <p:sldId id="375" r:id="rId36"/>
    <p:sldId id="350" r:id="rId37"/>
    <p:sldId id="351" r:id="rId38"/>
    <p:sldId id="352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Adult vs pediatric</a:t>
            </a:r>
          </a:p>
          <a:p>
            <a:r>
              <a:rPr lang="en-US" dirty="0"/>
              <a:t>Different countries might have dosage regulations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732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hen2meet.com/?34226536-qhHh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/>
              <a:t>Introduction to Embedded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Administratrivia</a:t>
            </a:r>
            <a:endParaRPr lang="en-US" dirty="0"/>
          </a:p>
          <a:p>
            <a:r>
              <a:rPr lang="en-US" dirty="0"/>
              <a:t>What is an embedded system?</a:t>
            </a:r>
          </a:p>
          <a:p>
            <a:r>
              <a:rPr lang="en-US" dirty="0"/>
              <a:t>How do they differ from general purpose computers?</a:t>
            </a:r>
          </a:p>
          <a:p>
            <a:r>
              <a:rPr lang="en-US" dirty="0"/>
              <a:t>Embedded vs general purpose software</a:t>
            </a:r>
          </a:p>
          <a:p>
            <a:r>
              <a:rPr lang="en-US" dirty="0"/>
              <a:t>Examples from automotive, medical, industrial systems</a:t>
            </a:r>
          </a:p>
          <a:p>
            <a:r>
              <a:rPr lang="en-US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8982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1BF510-3683-48EE-B74F-B532D1806EC9}"/>
              </a:ext>
            </a:extLst>
          </p:cNvPr>
          <p:cNvSpPr txBox="1">
            <a:spLocks/>
          </p:cNvSpPr>
          <p:nvPr/>
        </p:nvSpPr>
        <p:spPr bwMode="auto">
          <a:xfrm>
            <a:off x="5562600" y="1295400"/>
            <a:ext cx="3429000" cy="5259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F0"/>
                </a:solidFill>
              </a:rPr>
              <a:t>Course page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In-class quizzes!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Code: PS52M5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 err="1">
                <a:solidFill>
                  <a:srgbClr val="FFC000"/>
                </a:solidFill>
              </a:rPr>
              <a:t>Administratrivia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9688"/>
            <a:ext cx="51816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Evaluation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Midsemester exam: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Comprehensive exam: 30%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In-class quizzes and attendance: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reports: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presentations: 10%</a:t>
            </a:r>
          </a:p>
          <a:p>
            <a:pPr>
              <a:spcBef>
                <a:spcPts val="100"/>
              </a:spcBef>
              <a:buFontTx/>
              <a:buChar char="-"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Reference books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Miro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Samek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Practical UML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Statecharts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C/C++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Douglass et al. — Real-Time Design Patterns</a:t>
            </a:r>
          </a:p>
          <a:p>
            <a:pPr>
              <a:buFontTx/>
              <a:buChar char="-"/>
            </a:pP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Elecia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White — Making Embedded Systems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Jane W. S. Liu — Real-Time Systems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5A8A9-BF2C-45F1-A631-FF21014319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 b="5882"/>
          <a:stretch/>
        </p:blipFill>
        <p:spPr>
          <a:xfrm>
            <a:off x="5981700" y="1830390"/>
            <a:ext cx="2171700" cy="1916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331-11EC-4569-B543-A0F54B465A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4" b="7383"/>
          <a:stretch/>
        </p:blipFill>
        <p:spPr>
          <a:xfrm>
            <a:off x="5981699" y="4192590"/>
            <a:ext cx="2171701" cy="183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6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F744-9670-4455-B0E1-6A9E2523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EB48-76AF-4F7A-B010-FB9433926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114800" cy="5492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7625-FE31-4D2A-8F60-7838C131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FACD9-BD66-42B8-96CB-1BCF04BC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A83C3C-2C38-43C1-AFD9-D54A98EA7CF1}"/>
              </a:ext>
            </a:extLst>
          </p:cNvPr>
          <p:cNvSpPr txBox="1">
            <a:spLocks/>
          </p:cNvSpPr>
          <p:nvPr/>
        </p:nvSpPr>
        <p:spPr bwMode="auto">
          <a:xfrm>
            <a:off x="4724400" y="1446211"/>
            <a:ext cx="42672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Characteristics?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6" name="TextBox1" r:id="rId2" imgW="3002400" imgH="3337560"/>
        </mc:Choice>
        <mc:Fallback>
          <p:control name="TextBox1" r:id="rId2" imgW="3002400" imgH="3337560">
            <p:pic>
              <p:nvPicPr>
                <p:cNvPr id="9" name="TextBox1">
                  <a:extLst>
                    <a:ext uri="{FF2B5EF4-FFF2-40B4-BE49-F238E27FC236}">
                      <a16:creationId xmlns:a16="http://schemas.microsoft.com/office/drawing/2014/main" id="{EB2C2FD8-FC03-49B3-B03A-18B141578AB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600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37" name="TextBox2" r:id="rId3" imgW="3002400" imgH="3337560"/>
        </mc:Choice>
        <mc:Fallback>
          <p:control name="TextBox2" r:id="rId3" imgW="3002400" imgH="333756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A04E001B-06C1-48C4-8020-E97CA0E46F8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2688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986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A955-080F-456D-AE9A-20A5DF11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 vs general purpose computers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B3F2-6040-4265-8FEA-F4DAB584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A4BEC-01DF-4CCE-81EA-EEFD9C8E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DF19EA-56FF-46AD-A37C-1DAFB509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requirements?</a:t>
            </a:r>
          </a:p>
          <a:p>
            <a:endParaRPr lang="en-US" dirty="0"/>
          </a:p>
          <a:p>
            <a:r>
              <a:rPr lang="en-US" dirty="0"/>
              <a:t>Resource availability?</a:t>
            </a:r>
          </a:p>
          <a:p>
            <a:endParaRPr lang="en-US" dirty="0"/>
          </a:p>
          <a:p>
            <a:r>
              <a:rPr lang="en-US" dirty="0"/>
              <a:t>Use-case challenges?</a:t>
            </a:r>
          </a:p>
          <a:p>
            <a:endParaRPr lang="en-US" dirty="0"/>
          </a:p>
          <a:p>
            <a:r>
              <a:rPr lang="en-US" dirty="0"/>
              <a:t>Development cycle / tools?</a:t>
            </a:r>
          </a:p>
        </p:txBody>
      </p:sp>
    </p:spTree>
    <p:extLst>
      <p:ext uri="{BB962C8B-B14F-4D97-AF65-F5344CB8AC3E}">
        <p14:creationId xmlns:p14="http://schemas.microsoft.com/office/powerpoint/2010/main" val="344738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A380-885B-44FC-8818-3067A977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for embedded systems – challenges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E0CB27-6C72-4F0E-B883-FCDDAA7E9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705" y="1762613"/>
            <a:ext cx="7268589" cy="43821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7E0F-03FC-42F9-9935-A6E8C36E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F5CC1-D93E-47A6-B9F5-B1A5CA49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6CC6E-9581-49A3-835A-F916A20D59DF}"/>
              </a:ext>
            </a:extLst>
          </p:cNvPr>
          <p:cNvSpPr txBox="1"/>
          <p:nvPr/>
        </p:nvSpPr>
        <p:spPr>
          <a:xfrm>
            <a:off x="4253038" y="6144725"/>
            <a:ext cx="396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Making embedded systems (Fig. 1-1)</a:t>
            </a:r>
          </a:p>
        </p:txBody>
      </p:sp>
    </p:spTree>
    <p:extLst>
      <p:ext uri="{BB962C8B-B14F-4D97-AF65-F5344CB8AC3E}">
        <p14:creationId xmlns:p14="http://schemas.microsoft.com/office/powerpoint/2010/main" val="110675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6211"/>
            <a:ext cx="8686800" cy="5014912"/>
          </a:xfrm>
        </p:spPr>
        <p:txBody>
          <a:bodyPr/>
          <a:lstStyle/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Teams made by instructor (3-4 students with balanced backgrounds)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 will be floated in first lab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 on projects alongside classwork… directly apply what you learn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/>
              <a:t>More details in first lab…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/>
              <a:t>…fill out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schedule poll</a:t>
            </a:r>
            <a:r>
              <a:rPr lang="en-US" sz="2000" dirty="0"/>
              <a:t> (mark as many times as possible)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7350D-4494-47B0-ACDA-E871C093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37" y="3142341"/>
            <a:ext cx="32861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/>
              <a:t>The role of software in embedded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Responsibilities of embedded software</a:t>
            </a:r>
          </a:p>
          <a:p>
            <a:r>
              <a:rPr lang="en-US" dirty="0"/>
              <a:t>Software is central to embedded systems</a:t>
            </a:r>
          </a:p>
          <a:p>
            <a:r>
              <a:rPr lang="en-US" dirty="0"/>
              <a:t>Embedded vs general purpose software</a:t>
            </a:r>
          </a:p>
          <a:p>
            <a:r>
              <a:rPr lang="en-US" dirty="0"/>
              <a:t>Software-hardware interaction</a:t>
            </a:r>
          </a:p>
          <a:p>
            <a:r>
              <a:rPr lang="en-US" dirty="0"/>
              <a:t>Event-driven nature of embedded systems</a:t>
            </a:r>
          </a:p>
          <a:p>
            <a:r>
              <a:rPr lang="en-US" dirty="0"/>
              <a:t>Embedded software safety</a:t>
            </a:r>
          </a:p>
          <a:p>
            <a:r>
              <a:rPr lang="en-US" dirty="0"/>
              <a:t>The need for discipline in developing embedded software</a:t>
            </a:r>
          </a:p>
        </p:txBody>
      </p:sp>
    </p:spTree>
    <p:extLst>
      <p:ext uri="{BB962C8B-B14F-4D97-AF65-F5344CB8AC3E}">
        <p14:creationId xmlns:p14="http://schemas.microsoft.com/office/powerpoint/2010/main" val="9852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632327"/>
            <a:ext cx="4191000" cy="6873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Embedded system design directly affects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D7EA2-2F2A-401F-8553-75A2D84D843C}"/>
              </a:ext>
            </a:extLst>
          </p:cNvPr>
          <p:cNvSpPr txBox="1"/>
          <p:nvPr/>
        </p:nvSpPr>
        <p:spPr>
          <a:xfrm>
            <a:off x="152400" y="5769114"/>
            <a:ext cx="3162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3868F-0849-4B06-AE96-C6F38F707BAE}"/>
              </a:ext>
            </a:extLst>
          </p:cNvPr>
          <p:cNvSpPr txBox="1"/>
          <p:nvPr/>
        </p:nvSpPr>
        <p:spPr>
          <a:xfrm>
            <a:off x="2095166" y="5769114"/>
            <a:ext cx="3162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Timing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B85E6C-5460-49DB-8822-5B55F9AD883A}"/>
              </a:ext>
            </a:extLst>
          </p:cNvPr>
          <p:cNvSpPr txBox="1">
            <a:spLocks/>
          </p:cNvSpPr>
          <p:nvPr/>
        </p:nvSpPr>
        <p:spPr bwMode="auto">
          <a:xfrm>
            <a:off x="152400" y="1377949"/>
            <a:ext cx="8839200" cy="3032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Interpreting inputs from the physical world</a:t>
            </a:r>
          </a:p>
          <a:p>
            <a:r>
              <a:rPr lang="en-US" dirty="0"/>
              <a:t>Making control decisions</a:t>
            </a:r>
          </a:p>
          <a:p>
            <a:r>
              <a:rPr lang="en-US" dirty="0"/>
              <a:t>Driving actuators</a:t>
            </a:r>
          </a:p>
          <a:p>
            <a:r>
              <a:rPr lang="en-US" dirty="0"/>
              <a:t>Enforcing safety and constraints</a:t>
            </a:r>
          </a:p>
        </p:txBody>
      </p:sp>
      <p:pic>
        <p:nvPicPr>
          <p:cNvPr id="2050" name="Picture 2" descr="Figure 2. Embedded system with sensors and actuators and input or output  human-machine devices : Model Based Design of Embedded Systems : Science  and Education Publishing">
            <a:extLst>
              <a:ext uri="{FF2B5EF4-FFF2-40B4-BE49-F238E27FC236}">
                <a16:creationId xmlns:a16="http://schemas.microsoft.com/office/drawing/2014/main" id="{28367FA7-04C9-4AC1-84A4-63516A9F1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267200"/>
            <a:ext cx="4800600" cy="20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39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Think about conventional vs contemporary</a:t>
            </a:r>
          </a:p>
          <a:p>
            <a:pPr lvl="1"/>
            <a:r>
              <a:rPr lang="en-US" dirty="0"/>
              <a:t>Washing machine controller</a:t>
            </a:r>
          </a:p>
          <a:p>
            <a:pPr lvl="1"/>
            <a:r>
              <a:rPr lang="en-US" dirty="0"/>
              <a:t>Refrigerator controller</a:t>
            </a:r>
          </a:p>
          <a:p>
            <a:pPr lvl="1"/>
            <a:r>
              <a:rPr lang="en-US" dirty="0"/>
              <a:t>AC controller</a:t>
            </a:r>
          </a:p>
          <a:p>
            <a:pPr lvl="1"/>
            <a:r>
              <a:rPr lang="en-US" dirty="0"/>
              <a:t>Automobile ECU</a:t>
            </a:r>
          </a:p>
          <a:p>
            <a:r>
              <a:rPr lang="en-US" dirty="0"/>
              <a:t>Complexity of function</a:t>
            </a:r>
          </a:p>
          <a:p>
            <a:r>
              <a:rPr lang="en-US" dirty="0"/>
              <a:t>Physical size</a:t>
            </a:r>
          </a:p>
          <a:p>
            <a:r>
              <a:rPr lang="en-US" dirty="0"/>
              <a:t>Upgradability? Repairability?</a:t>
            </a:r>
          </a:p>
          <a:p>
            <a:r>
              <a:rPr lang="en-US" dirty="0"/>
              <a:t>What else?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04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ASIC (Application Specific ICs) </a:t>
            </a:r>
            <a:r>
              <a:rPr lang="en-US" dirty="0">
                <a:sym typeface="Wingdings" panose="05000000000000000000" pitchFamily="2" charset="2"/>
              </a:rPr>
              <a:t> hardware as a platform</a:t>
            </a:r>
          </a:p>
          <a:p>
            <a:r>
              <a:rPr lang="en-US" dirty="0">
                <a:sym typeface="Wingdings" panose="05000000000000000000" pitchFamily="2" charset="2"/>
              </a:rPr>
              <a:t>Software as differentiator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Same engine  software defined fuel injection  cheap vs luxury car</a:t>
            </a:r>
          </a:p>
          <a:p>
            <a:r>
              <a:rPr lang="en-US" dirty="0">
                <a:sym typeface="Wingdings" panose="05000000000000000000" pitchFamily="2" charset="2"/>
              </a:rPr>
              <a:t>Development cost / time to market (vs unit costs)</a:t>
            </a:r>
          </a:p>
          <a:p>
            <a:r>
              <a:rPr lang="en-US" dirty="0"/>
              <a:t>Functional complexity (AI, IoT etc.)</a:t>
            </a:r>
          </a:p>
          <a:p>
            <a:r>
              <a:rPr lang="en-US" dirty="0"/>
              <a:t>Flexibility (changing standards)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9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030789"/>
          </a:xfrm>
        </p:spPr>
        <p:txBody>
          <a:bodyPr>
            <a:noAutofit/>
          </a:bodyPr>
          <a:lstStyle/>
          <a:p>
            <a:r>
              <a:rPr lang="en-US" sz="2800" dirty="0"/>
              <a:t>Early embedded systems</a:t>
            </a:r>
          </a:p>
          <a:p>
            <a:pPr lvl="1"/>
            <a:r>
              <a:rPr lang="en-US" sz="2400" dirty="0"/>
              <a:t>Fixed hardware behavior</a:t>
            </a:r>
          </a:p>
          <a:p>
            <a:pPr lvl="1"/>
            <a:r>
              <a:rPr lang="en-US" sz="2400" dirty="0"/>
              <a:t>Minimal software, largely for UI</a:t>
            </a:r>
          </a:p>
          <a:p>
            <a:r>
              <a:rPr lang="en-US" sz="2800" dirty="0"/>
              <a:t>Modern embedded systems</a:t>
            </a:r>
          </a:p>
          <a:p>
            <a:pPr lvl="1"/>
            <a:r>
              <a:rPr lang="en-US" sz="2400" dirty="0"/>
              <a:t>Generic hardware</a:t>
            </a:r>
          </a:p>
          <a:p>
            <a:pPr lvl="1"/>
            <a:r>
              <a:rPr lang="en-US" sz="2400" dirty="0"/>
              <a:t>Complex software behavior</a:t>
            </a:r>
          </a:p>
          <a:p>
            <a:pPr lvl="1"/>
            <a:r>
              <a:rPr lang="en-US" sz="2400" dirty="0"/>
              <a:t>Updates and reconfigurability</a:t>
            </a:r>
          </a:p>
          <a:p>
            <a:pPr lvl="1"/>
            <a:endParaRPr lang="en-US" sz="2400" dirty="0"/>
          </a:p>
          <a:p>
            <a:r>
              <a:rPr lang="en-US" sz="2800" dirty="0"/>
              <a:t>Hardware executes, software decides</a:t>
            </a:r>
          </a:p>
          <a:p>
            <a:r>
              <a:rPr lang="en-US" sz="2800" dirty="0"/>
              <a:t>Responsibilities largely shifted to software!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13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139D-4C3F-4D77-ABE1-776CEAF4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vs general-purpose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721B5-9670-420A-BAD0-352ABC2B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280819"/>
            <a:ext cx="8839200" cy="990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Embedded software must be predictable, not just correct!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442F2-7B7B-4476-8CF4-A3E51ED9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1EB86-64F1-463D-8F3D-A8F5A525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A5E78-0E78-480F-A131-C24A4697C2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980"/>
          <a:stretch/>
        </p:blipFill>
        <p:spPr>
          <a:xfrm>
            <a:off x="188976" y="1447800"/>
            <a:ext cx="8839966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C83DF-0DA0-4F20-BF4A-40E36E794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8" r="72821" b="182"/>
          <a:stretch/>
        </p:blipFill>
        <p:spPr>
          <a:xfrm>
            <a:off x="188210" y="1905000"/>
            <a:ext cx="2402590" cy="304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C8B82A-2424-41A4-B736-3A56C2DEE4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3018" r="413" b="69622"/>
          <a:stretch/>
        </p:blipFill>
        <p:spPr>
          <a:xfrm>
            <a:off x="188210" y="1905000"/>
            <a:ext cx="880339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CFDE5F-B40C-4C9A-9992-95D0C8D12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3018" r="413" b="58772"/>
          <a:stretch/>
        </p:blipFill>
        <p:spPr>
          <a:xfrm>
            <a:off x="188210" y="1905000"/>
            <a:ext cx="8803390" cy="99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CABD1A-3394-4AF3-868F-8F60B162A8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1228" r="413" b="41367"/>
          <a:stretch/>
        </p:blipFill>
        <p:spPr>
          <a:xfrm>
            <a:off x="188210" y="2895600"/>
            <a:ext cx="8803390" cy="611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E36C20-F1B5-432C-A492-E908DC8B10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8634" r="413" b="31466"/>
          <a:stretch/>
        </p:blipFill>
        <p:spPr>
          <a:xfrm>
            <a:off x="188210" y="3506788"/>
            <a:ext cx="8803390" cy="3476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BDCFFB-D319-47E8-92FF-422BBBCFA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68285" r="413" b="13407"/>
          <a:stretch/>
        </p:blipFill>
        <p:spPr>
          <a:xfrm>
            <a:off x="188210" y="3854450"/>
            <a:ext cx="8803390" cy="6429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018D01-92C6-4C20-BC0D-148B12A9C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86722" r="413" b="304"/>
          <a:stretch/>
        </p:blipFill>
        <p:spPr>
          <a:xfrm>
            <a:off x="188210" y="4497388"/>
            <a:ext cx="8803390" cy="4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BB2E-35A7-4BF8-9B3C-E6C4D311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vs general-purpose software: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82C45-436B-498F-8E81-1CBAC9AA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Handling temperature data</a:t>
            </a:r>
          </a:p>
          <a:p>
            <a:r>
              <a:rPr lang="en-US" dirty="0"/>
              <a:t>General software:</a:t>
            </a:r>
          </a:p>
          <a:p>
            <a:pPr lvl="1"/>
            <a:r>
              <a:rPr lang="en-US" dirty="0"/>
              <a:t>Read temperature</a:t>
            </a:r>
          </a:p>
          <a:p>
            <a:pPr lvl="1"/>
            <a:r>
              <a:rPr lang="en-US" dirty="0"/>
              <a:t>Display on screen</a:t>
            </a:r>
          </a:p>
          <a:p>
            <a:pPr lvl="1"/>
            <a:r>
              <a:rPr lang="en-US" dirty="0"/>
              <a:t>Delay == annoyance</a:t>
            </a:r>
          </a:p>
          <a:p>
            <a:r>
              <a:rPr lang="en-US" dirty="0"/>
              <a:t>Embedded software:</a:t>
            </a:r>
          </a:p>
          <a:p>
            <a:pPr lvl="1"/>
            <a:r>
              <a:rPr lang="en-US" dirty="0"/>
              <a:t>Read temperature</a:t>
            </a:r>
          </a:p>
          <a:p>
            <a:pPr lvl="1"/>
            <a:r>
              <a:rPr lang="en-US" dirty="0"/>
              <a:t>Control heater</a:t>
            </a:r>
          </a:p>
          <a:p>
            <a:pPr lvl="1"/>
            <a:r>
              <a:rPr lang="en-US" dirty="0"/>
              <a:t>Delay == overheating, accidents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ADFD2-A1D6-48B2-84D5-955D4404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BD02-7C3D-4F09-A2FA-EC43F992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0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171A-F3D3-4AAA-BDED-B26AE81C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DCE7D-90F0-4921-849F-9B6427E5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Much more careful design</a:t>
            </a:r>
          </a:p>
          <a:p>
            <a:r>
              <a:rPr lang="en-US" dirty="0"/>
              <a:t>Defensive programming</a:t>
            </a:r>
          </a:p>
          <a:p>
            <a:r>
              <a:rPr lang="en-US" dirty="0"/>
              <a:t>Emphasis on verification</a:t>
            </a:r>
          </a:p>
          <a:p>
            <a:r>
              <a:rPr lang="en-US" dirty="0"/>
              <a:t>Disciplined coding and testing</a:t>
            </a:r>
          </a:p>
          <a:p>
            <a:r>
              <a:rPr lang="en-US" dirty="0"/>
              <a:t>Stricter requirements</a:t>
            </a:r>
          </a:p>
          <a:p>
            <a:r>
              <a:rPr lang="en-US" dirty="0"/>
              <a:t>Modeling</a:t>
            </a:r>
          </a:p>
          <a:p>
            <a:r>
              <a:rPr lang="en-US" dirty="0"/>
              <a:t>Real-time operating systems</a:t>
            </a:r>
          </a:p>
          <a:p>
            <a:endParaRPr lang="en-US" dirty="0"/>
          </a:p>
          <a:p>
            <a:r>
              <a:rPr lang="en-US" dirty="0"/>
              <a:t>Embedded software is not just software with limited memory!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1935-5640-4173-B24F-6A1F0DDD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F2D8F-E47F-49ED-A436-04209B10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44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AC2B-454C-454B-B33B-AC710115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– hardware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9361-F1D7-4BB8-A000-2F635B74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257800" cy="5014912"/>
          </a:xfrm>
        </p:spPr>
        <p:txBody>
          <a:bodyPr/>
          <a:lstStyle/>
          <a:p>
            <a:r>
              <a:rPr lang="en-US" sz="2800" dirty="0"/>
              <a:t>Embedded software is not hardware-independent!</a:t>
            </a:r>
          </a:p>
          <a:p>
            <a:r>
              <a:rPr lang="en-US" sz="2800" dirty="0"/>
              <a:t>Needs understanding of the hardware</a:t>
            </a:r>
          </a:p>
          <a:p>
            <a:r>
              <a:rPr lang="en-US" sz="2800" dirty="0"/>
              <a:t>Asynchronous external events; but software is sequential</a:t>
            </a:r>
          </a:p>
          <a:p>
            <a:r>
              <a:rPr lang="en-US" sz="2800" dirty="0"/>
              <a:t>Response to asynchronous event needs to be time-bound</a:t>
            </a:r>
          </a:p>
          <a:p>
            <a:r>
              <a:rPr lang="en-US" sz="2800" dirty="0"/>
              <a:t>Concurrency – many simultaneous event sources and actuator requirements to handle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D8E4-4482-4645-ACC0-5DC020F3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4818F-A739-42B8-BA6F-9E18DAF2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02F2DB-1AA6-4308-A9D8-2C0605C5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71" y="1458403"/>
            <a:ext cx="3373930" cy="265639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A6BBBD-C5BB-47F1-ADB5-1693FE9A1D48}"/>
              </a:ext>
            </a:extLst>
          </p:cNvPr>
          <p:cNvSpPr txBox="1">
            <a:spLocks/>
          </p:cNvSpPr>
          <p:nvPr/>
        </p:nvSpPr>
        <p:spPr bwMode="auto">
          <a:xfrm>
            <a:off x="5541471" y="4323843"/>
            <a:ext cx="3373930" cy="213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FFC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>
                <a:solidFill>
                  <a:srgbClr val="72C3E8"/>
                </a:solidFill>
              </a:rPr>
              <a:t>Embedded software is primarily event-driven</a:t>
            </a:r>
          </a:p>
        </p:txBody>
      </p:sp>
    </p:spTree>
    <p:extLst>
      <p:ext uri="{BB962C8B-B14F-4D97-AF65-F5344CB8AC3E}">
        <p14:creationId xmlns:p14="http://schemas.microsoft.com/office/powerpoint/2010/main" val="31994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06B1-1263-42FF-8C9F-988DD14B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State-dependent behavior in embedded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4DA7-6066-4414-8967-CB9568529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Response to the same event can be different depending on the state / system context</a:t>
            </a:r>
          </a:p>
          <a:p>
            <a:r>
              <a:rPr lang="en-US" sz="2800" dirty="0"/>
              <a:t>State changes must be explicit and controlled</a:t>
            </a:r>
          </a:p>
          <a:p>
            <a:r>
              <a:rPr lang="en-US" sz="2800" dirty="0"/>
              <a:t>Hidden states can lead to bugs</a:t>
            </a:r>
          </a:p>
          <a:p>
            <a:r>
              <a:rPr lang="en-US" sz="2800" dirty="0"/>
              <a:t>Example: Button press</a:t>
            </a:r>
          </a:p>
          <a:p>
            <a:pPr lvl="1"/>
            <a:r>
              <a:rPr lang="en-US" sz="2400" dirty="0"/>
              <a:t>Idle state </a:t>
            </a:r>
            <a:r>
              <a:rPr lang="en-US" sz="2400" dirty="0">
                <a:sym typeface="Wingdings" panose="05000000000000000000" pitchFamily="2" charset="2"/>
              </a:rPr>
              <a:t> start operation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Running state  stop operation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Fault state  ignore / raise alarm</a:t>
            </a:r>
          </a:p>
          <a:p>
            <a:pPr lvl="1"/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Behavioral modeling to cover all possibilities systematically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65A4C-8706-414B-9237-A82AF7C0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A9C8E-D6CA-45A7-A147-8B47D1D0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03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E8C5-71DC-4833-9A46-B13A3B78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Emphasis of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08B63-8CF6-4D34-BD7A-C3AE7392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Cannot afford software crashes (or ensure safety in spite of crashes)</a:t>
            </a:r>
          </a:p>
          <a:p>
            <a:r>
              <a:rPr lang="en-US" sz="2800" dirty="0"/>
              <a:t>Software running fine does not ensure safety</a:t>
            </a:r>
          </a:p>
          <a:p>
            <a:pPr lvl="1"/>
            <a:r>
              <a:rPr lang="en-US" sz="2400" dirty="0"/>
              <a:t>For example, an elevator controller software might not crash, but could ignore a sensor and crush a hand!</a:t>
            </a:r>
          </a:p>
          <a:p>
            <a:r>
              <a:rPr lang="en-US" sz="2800" dirty="0"/>
              <a:t>Identify potential hazardous conditions during design</a:t>
            </a:r>
          </a:p>
          <a:p>
            <a:r>
              <a:rPr lang="en-US" sz="2800" dirty="0"/>
              <a:t>Must be designed to handle external faults (sensors failing, unexpected inputs etc.)</a:t>
            </a:r>
          </a:p>
          <a:p>
            <a:r>
              <a:rPr lang="en-US" sz="2800" dirty="0"/>
              <a:t>Prepare the system for the unexpected (safe states)!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23C82-772D-4599-9E9B-A9E836D2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C1E1B-DEB4-4D29-9C41-4D6A42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DAB9-B03B-4E6F-B224-B0E52C81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Disciplined system design and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42E4-4E92-41C6-9A42-7A6845F5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 hoc code </a:t>
            </a:r>
            <a:r>
              <a:rPr lang="en-US" sz="2800" dirty="0">
                <a:sym typeface="Wingdings" panose="05000000000000000000" pitchFamily="2" charset="2"/>
              </a:rPr>
              <a:t> implicit assumptions  late discovery of faults</a:t>
            </a:r>
          </a:p>
          <a:p>
            <a:r>
              <a:rPr lang="en-US" sz="2800" dirty="0">
                <a:sym typeface="Wingdings" panose="05000000000000000000" pitchFamily="2" charset="2"/>
              </a:rPr>
              <a:t>With discipline: predictable behavior, early detection of errors, verifiable safety</a:t>
            </a:r>
          </a:p>
          <a:p>
            <a:r>
              <a:rPr lang="en-US" sz="2800" dirty="0">
                <a:sym typeface="Wingdings" panose="05000000000000000000" pitchFamily="2" charset="2"/>
              </a:rPr>
              <a:t>In this course</a:t>
            </a:r>
          </a:p>
          <a:p>
            <a:pPr lvl="1"/>
            <a:r>
              <a:rPr lang="en-US" sz="2400" dirty="0"/>
              <a:t>Requirements engineering → clarity</a:t>
            </a:r>
          </a:p>
          <a:p>
            <a:pPr lvl="1"/>
            <a:r>
              <a:rPr lang="en-US" sz="2400" dirty="0"/>
              <a:t>Modeling (UML) → behavioral reasoning</a:t>
            </a:r>
          </a:p>
          <a:p>
            <a:pPr lvl="1"/>
            <a:r>
              <a:rPr lang="en-US" sz="2400" dirty="0"/>
              <a:t>Architecture → structure and separation</a:t>
            </a:r>
          </a:p>
          <a:p>
            <a:pPr lvl="1"/>
            <a:r>
              <a:rPr lang="en-US" sz="2400" dirty="0"/>
              <a:t>RTOS &amp; scheduling → timing guarantees</a:t>
            </a:r>
          </a:p>
          <a:p>
            <a:pPr lvl="1"/>
            <a:r>
              <a:rPr lang="en-US" sz="2400" dirty="0"/>
              <a:t>Verification &amp; testing → confidence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5ECC-39C3-4E75-9352-EA93AE76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1C6B5-0A4E-4B0A-880D-09CBC81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23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A7F4-A08A-4B6A-9E9E-6F5E5854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A3B1-34E2-4DF4-AA4F-DDFA37D2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of the following are characteristics of embedded systems?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What defines correctness in embedded software?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statement best explains why embedded software is typically event-driven?</a:t>
            </a:r>
            <a:endParaRPr lang="en-US" dirty="0">
              <a:latin typeface="ui-sans-serif"/>
            </a:endParaRP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distinction most clearly differentiates embedded software from general-purpose software?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An embedded system continues running without crashing, but an actuator keeps operating after a sensor failure, causing physical damage. Which statement is most accurate?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C6ACC-3EA8-4DF2-8DEB-D33A95D5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3EC2E-6C12-491F-9A15-66C29731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78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C380-3A71-436F-AF85-106A4B1C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66925"/>
            <a:ext cx="7924800" cy="1362075"/>
          </a:xfrm>
        </p:spPr>
        <p:txBody>
          <a:bodyPr/>
          <a:lstStyle/>
          <a:p>
            <a:r>
              <a:rPr lang="en-US" sz="3600" dirty="0"/>
              <a:t>Lifecycle and Evolution Constraints in Embedded Software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238BF-8103-48BF-B754-41500EC0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DAD1-D15A-4F0E-9EFD-0A534279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91CA3-F3C5-4644-A2FF-2E077507C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810000"/>
            <a:ext cx="7772400" cy="2514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Additional constraints specifically faced by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725514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06BB-3CC0-49CE-9D14-30AD9ACE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software lives long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39D8-0285-4310-93A6-69758228F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/>
              <a:t>Embedded software often outlives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hardware platform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Suppliers (hardware components)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Development teams</a:t>
            </a:r>
          </a:p>
          <a:p>
            <a:pPr>
              <a:spcBef>
                <a:spcPts val="1000"/>
              </a:spcBef>
            </a:pPr>
            <a:r>
              <a:rPr lang="en-US" dirty="0"/>
              <a:t>Typical lifetimes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Automotive ECUs: 10 – 15 years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Medical devices: 10 – 20 years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Industrial controllers: few – several decades</a:t>
            </a:r>
          </a:p>
          <a:p>
            <a:pPr>
              <a:spcBef>
                <a:spcPts val="1000"/>
              </a:spcBef>
            </a:pPr>
            <a:r>
              <a:rPr lang="en-US" dirty="0"/>
              <a:t>Example: Medtronic — Medical Devices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Medical device firmware in use for decades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Post-market surveillance frequently triggers late updates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Updates require full safety justification / certification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Long-term maintenance is a requirement for embedded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B501B-8F76-4F7C-813A-23DF3A6E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AF787-209A-4BE8-886D-9DD288E5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39DE7-26E3-46AF-ABE6-29FA06A01104}"/>
              </a:ext>
            </a:extLst>
          </p:cNvPr>
          <p:cNvGrpSpPr/>
          <p:nvPr/>
        </p:nvGrpSpPr>
        <p:grpSpPr>
          <a:xfrm>
            <a:off x="4834331" y="1600200"/>
            <a:ext cx="4163365" cy="1883292"/>
            <a:chOff x="4834331" y="1600200"/>
            <a:chExt cx="4163365" cy="1883292"/>
          </a:xfrm>
        </p:grpSpPr>
        <p:pic>
          <p:nvPicPr>
            <p:cNvPr id="2050" name="Picture 2" descr="Hemodiaz Syringe Infusion Pump : Amazon.in: Industrial &amp; Scientific">
              <a:extLst>
                <a:ext uri="{FF2B5EF4-FFF2-40B4-BE49-F238E27FC236}">
                  <a16:creationId xmlns:a16="http://schemas.microsoft.com/office/drawing/2014/main" id="{E543085F-01DD-454D-BF59-873E7D5AA4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4331" y="1600200"/>
              <a:ext cx="4163365" cy="1544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CCCE8E-370C-4210-B727-C188722B35A5}"/>
                </a:ext>
              </a:extLst>
            </p:cNvPr>
            <p:cNvSpPr txBox="1"/>
            <p:nvPr/>
          </p:nvSpPr>
          <p:spPr>
            <a:xfrm>
              <a:off x="5941695" y="3114160"/>
              <a:ext cx="20353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Infusion pump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04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D540-5512-4803-A392-3BAC67B8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477000" cy="1195386"/>
          </a:xfrm>
        </p:spPr>
        <p:txBody>
          <a:bodyPr/>
          <a:lstStyle/>
          <a:p>
            <a:r>
              <a:rPr lang="en-US" dirty="0"/>
              <a:t>Many things directly affecting the S/W change over these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525F-EFE7-45E1-A8F1-84DCB7B3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kind of factors change?</a:t>
            </a:r>
          </a:p>
          <a:p>
            <a:pPr lvl="1"/>
            <a:r>
              <a:rPr lang="en-US" dirty="0"/>
              <a:t>Components reach end-of-life</a:t>
            </a:r>
          </a:p>
          <a:p>
            <a:pPr lvl="1"/>
            <a:r>
              <a:rPr lang="en-US" dirty="0"/>
              <a:t>Suppliers change</a:t>
            </a:r>
          </a:p>
          <a:p>
            <a:pPr lvl="1"/>
            <a:r>
              <a:rPr lang="en-US" dirty="0"/>
              <a:t>Hardware revisions to reduce cost</a:t>
            </a:r>
          </a:p>
          <a:p>
            <a:pPr lvl="1"/>
            <a:r>
              <a:rPr lang="en-US" dirty="0"/>
              <a:t>Regulatory requirements</a:t>
            </a:r>
          </a:p>
          <a:p>
            <a:r>
              <a:rPr lang="en-US" dirty="0"/>
              <a:t>Changes are inevitable and cannot be planned</a:t>
            </a:r>
          </a:p>
          <a:p>
            <a:r>
              <a:rPr lang="en-US" dirty="0"/>
              <a:t>But the can be </a:t>
            </a:r>
            <a:r>
              <a:rPr lang="en-US" i="1" dirty="0"/>
              <a:t>planned for</a:t>
            </a:r>
            <a:endParaRPr lang="en-US" dirty="0"/>
          </a:p>
          <a:p>
            <a:r>
              <a:rPr lang="en-US" dirty="0"/>
              <a:t>How to write software that is adaptable to change?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835F-8CCA-4DCC-BB81-D5E33F29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B6B61-82D4-4422-A531-47F1014B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1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olumetric Infusion Pump | NXP FRDM | Maker Pro">
            <a:extLst>
              <a:ext uri="{FF2B5EF4-FFF2-40B4-BE49-F238E27FC236}">
                <a16:creationId xmlns:a16="http://schemas.microsoft.com/office/drawing/2014/main" id="{1291793B-A6E6-426D-AF0A-EA551648C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2895599"/>
            <a:ext cx="5593080" cy="347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202DFE-9F2E-4C24-8C00-F452A5F3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059A6-9018-4FD5-942D-9D83FF99E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2592389"/>
          </a:xfrm>
        </p:spPr>
        <p:txBody>
          <a:bodyPr/>
          <a:lstStyle/>
          <a:p>
            <a:r>
              <a:rPr lang="en-US" dirty="0"/>
              <a:t>Changes in one part should not destabilize others</a:t>
            </a:r>
          </a:p>
          <a:p>
            <a:pPr lvl="1"/>
            <a:r>
              <a:rPr lang="en-US" dirty="0"/>
              <a:t>components of the system as independent as possible</a:t>
            </a:r>
          </a:p>
          <a:p>
            <a:r>
              <a:rPr lang="en-US" dirty="0"/>
              <a:t>Isolating change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352A-A131-4765-81A2-002E69E8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1381E-828C-47E7-8DCC-709BE4E3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6CECFA-98A8-420B-9595-EFB15651E611}"/>
              </a:ext>
            </a:extLst>
          </p:cNvPr>
          <p:cNvSpPr txBox="1">
            <a:spLocks/>
          </p:cNvSpPr>
          <p:nvPr/>
        </p:nvSpPr>
        <p:spPr bwMode="auto">
          <a:xfrm>
            <a:off x="5257800" y="2666999"/>
            <a:ext cx="3886200" cy="394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dirty="0"/>
              <a:t>Infusion pump example</a:t>
            </a:r>
          </a:p>
          <a:p>
            <a:r>
              <a:rPr lang="en-US" sz="2250" dirty="0"/>
              <a:t>What can change over time?</a:t>
            </a:r>
          </a:p>
          <a:p>
            <a:r>
              <a:rPr lang="en-US" sz="2250" dirty="0"/>
              <a:t>What are the different functions that can and should remain independent?</a:t>
            </a:r>
          </a:p>
          <a:p>
            <a:r>
              <a:rPr lang="en-US" sz="2250" dirty="0"/>
              <a:t>Sensor replaced </a:t>
            </a:r>
            <a:r>
              <a:rPr lang="en-US" sz="2250" dirty="0">
                <a:sym typeface="Wingdings" panose="05000000000000000000" pitchFamily="2" charset="2"/>
              </a:rPr>
              <a:t></a:t>
            </a:r>
          </a:p>
          <a:p>
            <a:pPr lvl="1"/>
            <a:r>
              <a:rPr lang="en-US" sz="2250" dirty="0">
                <a:sym typeface="Wingdings" panose="05000000000000000000" pitchFamily="2" charset="2"/>
              </a:rPr>
              <a:t>Should control behavior change?</a:t>
            </a:r>
          </a:p>
          <a:p>
            <a:pPr lvl="1"/>
            <a:r>
              <a:rPr lang="en-US" sz="2250" dirty="0">
                <a:sym typeface="Wingdings" panose="05000000000000000000" pitchFamily="2" charset="2"/>
              </a:rPr>
              <a:t>Control code?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41931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1865-9225-4C69-A7FF-EDED1985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radar sensors from Bosch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82A4-EB3C-43A7-A022-ECFDDE7F6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6781800" cy="501491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Several OEMs (BMW, Audi, Mercedes, VW) use it for:</a:t>
            </a:r>
          </a:p>
          <a:p>
            <a:pPr lvl="1"/>
            <a:r>
              <a:rPr lang="en-US" sz="2400" dirty="0"/>
              <a:t>Adaptive cruise control (ACC)</a:t>
            </a:r>
          </a:p>
          <a:p>
            <a:pPr lvl="1"/>
            <a:r>
              <a:rPr lang="en-US" sz="2400" dirty="0"/>
              <a:t>Automatic emergency braking</a:t>
            </a:r>
          </a:p>
          <a:p>
            <a:r>
              <a:rPr lang="en-US" sz="2800" dirty="0"/>
              <a:t>New sensor generation introduces</a:t>
            </a:r>
          </a:p>
          <a:p>
            <a:pPr lvl="1"/>
            <a:r>
              <a:rPr lang="en-US" sz="2400" dirty="0"/>
              <a:t>Same function and interface</a:t>
            </a:r>
          </a:p>
          <a:p>
            <a:pPr lvl="1"/>
            <a:r>
              <a:rPr lang="en-US" sz="2400" dirty="0"/>
              <a:t>But signal behavior was different (noise, SNR etc.)</a:t>
            </a:r>
          </a:p>
          <a:p>
            <a:r>
              <a:rPr lang="en-US" sz="2800" dirty="0"/>
              <a:t>Behavior degraded</a:t>
            </a:r>
          </a:p>
          <a:p>
            <a:pPr lvl="1"/>
            <a:r>
              <a:rPr lang="en-US" sz="2400" dirty="0"/>
              <a:t>False positive braking</a:t>
            </a:r>
          </a:p>
          <a:p>
            <a:pPr lvl="1"/>
            <a:r>
              <a:rPr lang="en-US" sz="2400" dirty="0"/>
              <a:t>Degraded ACC smoothness</a:t>
            </a:r>
          </a:p>
          <a:p>
            <a:r>
              <a:rPr lang="en-US" sz="2800" dirty="0"/>
              <a:t>OEMs had to retune control logic, revalidate safety via software updates, recalls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78DA3-FB3B-448E-9C04-32C82912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A7CFB-54E6-4836-92B9-87B18C5C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4098" name="Picture 2" descr="Auto Shanghai: Bosch presents new software and hardware for assisted and  automated driving - Bosch Media Service">
            <a:extLst>
              <a:ext uri="{FF2B5EF4-FFF2-40B4-BE49-F238E27FC236}">
                <a16:creationId xmlns:a16="http://schemas.microsoft.com/office/drawing/2014/main" id="{50BCB6FB-57B1-4517-9467-44401FCF2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2971800" cy="197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51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0FFC-B2B0-4755-87DA-DAF8A6FB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C403-24A0-40E6-9567-815B861D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platforms change, but software must remain equivalent</a:t>
            </a:r>
          </a:p>
          <a:p>
            <a:r>
              <a:rPr lang="en-US" dirty="0"/>
              <a:t>Infusion pump example: microcontroller itself reached EOL, and new MCU introduced</a:t>
            </a:r>
          </a:p>
          <a:p>
            <a:r>
              <a:rPr lang="en-US" dirty="0"/>
              <a:t>Why does change of MCU matter so much?</a:t>
            </a:r>
          </a:p>
          <a:p>
            <a:r>
              <a:rPr lang="en-US" dirty="0"/>
              <a:t>Is it simply about recompiling the code for a different platform?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587C-27CE-4AD3-81DA-0C771CDB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1D60-CD13-4158-8A03-A2B880F1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3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4A82-379C-43F4-A2C8-BE99614B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A96F-4250-476C-9061-1FF3A311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Programmable Logic Controllers (PLCs): devices used for industrial automation</a:t>
            </a:r>
          </a:p>
          <a:p>
            <a:r>
              <a:rPr lang="en-US" dirty="0"/>
              <a:t>Observe </a:t>
            </a:r>
            <a:r>
              <a:rPr lang="en-US" dirty="0">
                <a:sym typeface="Wingdings" panose="05000000000000000000" pitchFamily="2" charset="2"/>
              </a:rPr>
              <a:t> Decide  Act  Repeat (1 scan)</a:t>
            </a:r>
          </a:p>
          <a:p>
            <a:r>
              <a:rPr lang="en-US" dirty="0">
                <a:sym typeface="Wingdings" panose="05000000000000000000" pitchFamily="2" charset="2"/>
              </a:rPr>
              <a:t>Assumes observed variables remain fixed for duration of scan</a:t>
            </a:r>
          </a:p>
          <a:p>
            <a:r>
              <a:rPr lang="en-US" dirty="0"/>
              <a:t>Siemens – SIMATIC S7 PLC family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Control executed once per scan, but scan time was never explicitly specified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New hardware: faster CPUs, but added more complex communication protocols, logging etc.</a:t>
            </a:r>
          </a:p>
          <a:p>
            <a:pPr lvl="1"/>
            <a:r>
              <a:rPr lang="en-US" dirty="0"/>
              <a:t>Scan times became variable!</a:t>
            </a:r>
          </a:p>
          <a:p>
            <a:pPr lvl="1"/>
            <a:r>
              <a:rPr lang="en-US" dirty="0"/>
              <a:t>Control became unstable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92CE0-6D91-4FED-842F-1F242CCA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A3667-2457-4512-8EFA-F72ED61D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70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8A53-DEA6-4016-9059-18673C61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Portability 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AA277D-B069-4D8F-BC3B-CC7F2DF4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58B6-2FCE-4EC7-9777-EDB0D15B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F1391-E991-4077-A56D-AFAB26542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Not just easy of recompiling, BUT</a:t>
            </a:r>
          </a:p>
          <a:p>
            <a:r>
              <a:rPr lang="en-US" dirty="0"/>
              <a:t>Avoiding undocumented hardware assumptions</a:t>
            </a:r>
          </a:p>
          <a:p>
            <a:r>
              <a:rPr lang="en-US" dirty="0"/>
              <a:t>Making timing and resource constraints explicit</a:t>
            </a:r>
          </a:p>
        </p:txBody>
      </p:sp>
    </p:spTree>
    <p:extLst>
      <p:ext uri="{BB962C8B-B14F-4D97-AF65-F5344CB8AC3E}">
        <p14:creationId xmlns:p14="http://schemas.microsoft.com/office/powerpoint/2010/main" val="400028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A389-DF8D-48D1-927C-E805859D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Configurability: one system, many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42CC-2311-4FCD-9110-8164C3D5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same car sold in different markets:</a:t>
            </a:r>
          </a:p>
          <a:p>
            <a:pPr lvl="1"/>
            <a:r>
              <a:rPr lang="en-US" dirty="0"/>
              <a:t>Different features</a:t>
            </a:r>
          </a:p>
          <a:p>
            <a:pPr lvl="1"/>
            <a:r>
              <a:rPr lang="en-US" dirty="0"/>
              <a:t>Different safety norms</a:t>
            </a:r>
          </a:p>
          <a:p>
            <a:r>
              <a:rPr lang="en-US" dirty="0"/>
              <a:t>Proper understanding / mapping of configuration required for safe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EE0B9-341F-4C98-AB2F-65C28CA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2AF8C-2FB5-4C9A-B660-37EF21B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90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B092-5EB5-42AA-85E4-A205F8B8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Therac-25 (Radiation Therapy Device)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5BE8-C24F-48F0-84E1-1A6DE7F2E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Software controlled modes of operation: low and high energy radiation, with different dosage times etc., configured in software</a:t>
            </a:r>
          </a:p>
          <a:p>
            <a:r>
              <a:rPr lang="en-US" dirty="0"/>
              <a:t>Certain configuration settings were rare and not properly validated</a:t>
            </a:r>
          </a:p>
          <a:p>
            <a:r>
              <a:rPr lang="en-US" dirty="0"/>
              <a:t>Configuration became inconsistent across software modules, causing the timing module to think it is in low energy, and radiation module to think it is in high energy mode</a:t>
            </a:r>
          </a:p>
          <a:p>
            <a:r>
              <a:rPr lang="en-US" dirty="0"/>
              <a:t>Overdose led to several patient deaths</a:t>
            </a:r>
          </a:p>
          <a:p>
            <a:r>
              <a:rPr lang="en-US" dirty="0"/>
              <a:t>No hardware failed, no bugs, but poor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78B9-37FF-486E-BDDD-14642C89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CA895-49DC-468A-ABBE-AF28A991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09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ACC5-C8C0-42FB-82E4-68AB8D7B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Volkswagen </a:t>
            </a:r>
            <a:r>
              <a:rPr lang="en-US" dirty="0" err="1"/>
              <a:t>Dieselgate</a:t>
            </a:r>
            <a:r>
              <a:rPr lang="en-US" dirty="0"/>
              <a:t> controversy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6651-35DF-4B11-BE75-677F31B2F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OEM developed two software configurations – test/diagnostic and normal</a:t>
            </a:r>
          </a:p>
          <a:p>
            <a:r>
              <a:rPr lang="en-US" sz="2800" dirty="0"/>
              <a:t>Emissions testing during certification was in test mode, within limits</a:t>
            </a:r>
          </a:p>
          <a:p>
            <a:r>
              <a:rPr lang="en-US" sz="2800" dirty="0"/>
              <a:t>Emissions in normal mode much higher!</a:t>
            </a:r>
          </a:p>
          <a:p>
            <a:endParaRPr lang="en-US" sz="2800" dirty="0"/>
          </a:p>
          <a:p>
            <a:r>
              <a:rPr lang="en-US" sz="2800" dirty="0"/>
              <a:t>Same software </a:t>
            </a:r>
            <a:r>
              <a:rPr lang="en-US" sz="2800" dirty="0">
                <a:sym typeface="Wingdings" panose="05000000000000000000" pitchFamily="2" charset="2"/>
              </a:rPr>
              <a:t> very different behaviors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Infusion pump example: what kind of configurations can you think of?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218E2-FDD8-4D0D-8A67-2915E614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2A550-84BA-422C-84A6-B5E465CF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45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B1A7-2282-42E6-9FEB-A7907D4C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as a safety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DEF8-B0E0-4315-AD1A-4918C040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/ configuration flags scattered across code</a:t>
            </a:r>
          </a:p>
          <a:p>
            <a:r>
              <a:rPr lang="en-US" dirty="0"/>
              <a:t>Difficult to trace unsafe combinations</a:t>
            </a:r>
          </a:p>
          <a:p>
            <a:endParaRPr lang="en-US" dirty="0"/>
          </a:p>
          <a:p>
            <a:r>
              <a:rPr lang="en-US" dirty="0"/>
              <a:t>Explicitly defined and placed rules</a:t>
            </a:r>
          </a:p>
          <a:p>
            <a:r>
              <a:rPr lang="en-US" dirty="0"/>
              <a:t>Verifiable combinations</a:t>
            </a:r>
          </a:p>
          <a:p>
            <a:r>
              <a:rPr lang="en-US" dirty="0"/>
              <a:t>Safe as software evolves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F0767-42C6-45C4-8DC9-BD829775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AF14E-2840-4EB3-A27F-07B13DEA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50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5BC3-C66A-44D5-93ED-F3D6E9FC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BC75-6E1D-44E3-B4D6-E3D79D98F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ability to diagnose and, crucially, fix issues after deployment</a:t>
            </a:r>
          </a:p>
          <a:p>
            <a:endParaRPr lang="en-US" dirty="0"/>
          </a:p>
          <a:p>
            <a:r>
              <a:rPr lang="en-US" dirty="0"/>
              <a:t>Who maintains embedded software?</a:t>
            </a:r>
          </a:p>
          <a:p>
            <a:pPr lvl="1"/>
            <a:r>
              <a:rPr lang="en-US" dirty="0"/>
              <a:t>Original developers no longer involved</a:t>
            </a:r>
          </a:p>
          <a:p>
            <a:pPr lvl="1"/>
            <a:r>
              <a:rPr lang="en-US" dirty="0"/>
              <a:t>Full hardware access might not be available</a:t>
            </a:r>
          </a:p>
          <a:p>
            <a:pPr lvl="1"/>
            <a:endParaRPr lang="en-US" dirty="0"/>
          </a:p>
          <a:p>
            <a:r>
              <a:rPr lang="en-US" dirty="0"/>
              <a:t>Infusion pump example: if a bug is discovered after 10 years of operation, can it be handled?</a:t>
            </a:r>
          </a:p>
          <a:p>
            <a:endParaRPr lang="en-US" dirty="0"/>
          </a:p>
          <a:p>
            <a:r>
              <a:rPr lang="en-US" dirty="0"/>
              <a:t>Code without maintainability considerations:</a:t>
            </a:r>
          </a:p>
          <a:p>
            <a:pPr lvl="1"/>
            <a:r>
              <a:rPr lang="en-US" dirty="0"/>
              <a:t>Fear of making changes – it will break the system!</a:t>
            </a:r>
          </a:p>
          <a:p>
            <a:pPr lvl="1"/>
            <a:r>
              <a:rPr lang="en-US" dirty="0"/>
              <a:t>Slow fixes</a:t>
            </a:r>
          </a:p>
          <a:p>
            <a:pPr lvl="1"/>
            <a:r>
              <a:rPr lang="en-US" dirty="0"/>
              <a:t>Increased risk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3F9F-B9B7-4B73-A2AB-AF08D644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3A2D2-885F-440C-81ED-47DBBF75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65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667B-F3CC-4F3B-A9D7-8AACC446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Mars Pathfinder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051B-5BC5-49AF-969A-0A883219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‘Priority inversion’ caused the robot to frequently restart after deployment on Mars</a:t>
            </a:r>
          </a:p>
          <a:p>
            <a:r>
              <a:rPr lang="en-US" dirty="0"/>
              <a:t>Remote logging, debugging and analysis designed into the software</a:t>
            </a:r>
          </a:p>
          <a:p>
            <a:r>
              <a:rPr lang="en-US" dirty="0"/>
              <a:t>Over-the-air updates</a:t>
            </a:r>
          </a:p>
          <a:p>
            <a:r>
              <a:rPr lang="en-US" dirty="0"/>
              <a:t>Successfully patched software to recover the robot on Mars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5D38-6D0E-4385-B7C5-7E24CC5D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2709F-C67F-4838-821C-9DC1952D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6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3DF1-1319-4490-BDB3-383E0E3D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Constraints, not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50E-E466-425A-B81C-14B596A43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  <a:p>
            <a:r>
              <a:rPr lang="en-US" dirty="0"/>
              <a:t>Portability</a:t>
            </a:r>
          </a:p>
          <a:p>
            <a:r>
              <a:rPr lang="en-US" dirty="0"/>
              <a:t>Configurability</a:t>
            </a:r>
          </a:p>
          <a:p>
            <a:r>
              <a:rPr lang="en-US" dirty="0"/>
              <a:t>Maintainability</a:t>
            </a:r>
          </a:p>
          <a:p>
            <a:endParaRPr lang="en-US" dirty="0"/>
          </a:p>
          <a:p>
            <a:r>
              <a:rPr lang="en-US" dirty="0"/>
              <a:t>Required for proper lifecycle handling</a:t>
            </a:r>
          </a:p>
          <a:p>
            <a:endParaRPr lang="en-US" dirty="0"/>
          </a:p>
          <a:p>
            <a:r>
              <a:rPr lang="en-US" dirty="0"/>
              <a:t>Next class: defining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759F8-D7A5-417E-B30E-CD877E3B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6E1C9-ADB6-439D-9E9A-82B31973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71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A08F-9821-4D80-A108-D8037383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4C14-C931-4DC4-8542-63929069F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Needed to make the system work</a:t>
            </a:r>
          </a:p>
          <a:p>
            <a:r>
              <a:rPr lang="en-US" dirty="0"/>
              <a:t>Control logic</a:t>
            </a:r>
          </a:p>
          <a:p>
            <a:r>
              <a:rPr lang="en-US" dirty="0"/>
              <a:t>Data acquisition and processing</a:t>
            </a:r>
          </a:p>
          <a:p>
            <a:r>
              <a:rPr lang="en-US" dirty="0"/>
              <a:t>State-based behavior</a:t>
            </a:r>
          </a:p>
          <a:p>
            <a:r>
              <a:rPr lang="en-US" dirty="0"/>
              <a:t>Coordination between subsystems</a:t>
            </a:r>
          </a:p>
          <a:p>
            <a:endParaRPr lang="en-US" dirty="0"/>
          </a:p>
          <a:p>
            <a:r>
              <a:rPr lang="en-US" dirty="0"/>
              <a:t>What are the functional responsibilities of an elevator controller?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91024-1FD3-4DAE-8731-0D94F21F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9780E-5850-49F3-9E24-60528ABF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03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3004-BE65-4D50-8D46-7E2D7273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90EF9-A827-41CE-96B4-16AEC603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Needed to make the system work </a:t>
            </a:r>
            <a:r>
              <a:rPr lang="en-US" i="1" dirty="0"/>
              <a:t>well</a:t>
            </a:r>
          </a:p>
          <a:p>
            <a:r>
              <a:rPr lang="en-US" dirty="0"/>
              <a:t>Timing correctness</a:t>
            </a:r>
          </a:p>
          <a:p>
            <a:r>
              <a:rPr lang="en-US" dirty="0"/>
              <a:t>Safety, security and fault handling</a:t>
            </a:r>
          </a:p>
          <a:p>
            <a:r>
              <a:rPr lang="en-US" dirty="0"/>
              <a:t>Resource usage (CPU, memory, power)</a:t>
            </a:r>
          </a:p>
          <a:p>
            <a:r>
              <a:rPr lang="en-US" dirty="0"/>
              <a:t>Reliability over long lifetimes</a:t>
            </a:r>
          </a:p>
          <a:p>
            <a:endParaRPr lang="en-US" dirty="0"/>
          </a:p>
          <a:p>
            <a:r>
              <a:rPr lang="en-US" dirty="0"/>
              <a:t>What can be non-functional responsibilities of an elevator controller?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45D41-AB28-4FC5-B1AB-8E9370D9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1CED-5829-44BA-B556-3A8F6B85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41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A339-EFE9-4829-89D1-E1172E68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Important to understand and distinguish the two responsibilities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A31A0-A595-4EC2-931A-643CD353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7BE3A-77C5-41E2-AEBA-655058D2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3074" name="Picture 2" descr="Functional vs Nonfunctional Requirements: what is the difference [with  Examples] | DDI Development">
            <a:extLst>
              <a:ext uri="{FF2B5EF4-FFF2-40B4-BE49-F238E27FC236}">
                <a16:creationId xmlns:a16="http://schemas.microsoft.com/office/drawing/2014/main" id="{65AF73D9-985D-4484-BB08-93C8A2A245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5" b="5762"/>
          <a:stretch/>
        </p:blipFill>
        <p:spPr bwMode="auto">
          <a:xfrm>
            <a:off x="1143000" y="1371600"/>
            <a:ext cx="6858000" cy="509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12296</TotalTime>
  <Words>1701</Words>
  <Application>Microsoft Office PowerPoint</Application>
  <PresentationFormat>On-screen Show (4:3)</PresentationFormat>
  <Paragraphs>368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ui-sans-serif</vt:lpstr>
      <vt:lpstr>Office Theme</vt:lpstr>
      <vt:lpstr>Software for Embedded Systems</vt:lpstr>
      <vt:lpstr>Introduction to Embedded Systems</vt:lpstr>
      <vt:lpstr>Administratrivia</vt:lpstr>
      <vt:lpstr>What is an embedded system?</vt:lpstr>
      <vt:lpstr>Embedded systems vs general purpose computers</vt:lpstr>
      <vt:lpstr>Software development for embedded systems – challenges</vt:lpstr>
      <vt:lpstr>Projects</vt:lpstr>
      <vt:lpstr>The role of software in embedded systems</vt:lpstr>
      <vt:lpstr>Embedded system responsibilities</vt:lpstr>
      <vt:lpstr>Embedded systems moving from hardware- to software-centric</vt:lpstr>
      <vt:lpstr>Embedded systems moving from hardware- to software-centric</vt:lpstr>
      <vt:lpstr>Embedded systems moving from hardware- to software-centric</vt:lpstr>
      <vt:lpstr>Embedded vs general-purpose software</vt:lpstr>
      <vt:lpstr>Embedded vs general-purpose software: example</vt:lpstr>
      <vt:lpstr>What this means</vt:lpstr>
      <vt:lpstr>Software – hardware interaction</vt:lpstr>
      <vt:lpstr>State-dependent behavior in embedded software</vt:lpstr>
      <vt:lpstr>Emphasis of safety</vt:lpstr>
      <vt:lpstr>Disciplined system design and coding</vt:lpstr>
      <vt:lpstr>Review questions</vt:lpstr>
      <vt:lpstr>Lifecycle and Evolution Constraints in Embedded Software</vt:lpstr>
      <vt:lpstr>Embedded software lives long</vt:lpstr>
      <vt:lpstr>Many things directly affecting the S/W change over these times</vt:lpstr>
      <vt:lpstr>Modularity</vt:lpstr>
      <vt:lpstr>Example – radar sensors from Bosch</vt:lpstr>
      <vt:lpstr>Portability</vt:lpstr>
      <vt:lpstr>Example</vt:lpstr>
      <vt:lpstr>Portability is</vt:lpstr>
      <vt:lpstr>Configurability: one system, many variants</vt:lpstr>
      <vt:lpstr>Example: Therac-25 (Radiation Therapy Device)</vt:lpstr>
      <vt:lpstr>Example: Volkswagen Dieselgate controversy</vt:lpstr>
      <vt:lpstr>Configuration as a safety concern</vt:lpstr>
      <vt:lpstr>Long term maintenance</vt:lpstr>
      <vt:lpstr>Example: Mars Pathfinder</vt:lpstr>
      <vt:lpstr>Constraints, not design choices</vt:lpstr>
      <vt:lpstr>Functional responsibilities</vt:lpstr>
      <vt:lpstr>Non-functional responsibilities</vt:lpstr>
      <vt:lpstr>Important to understand and distinguish the two responsibilities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594</cp:revision>
  <dcterms:created xsi:type="dcterms:W3CDTF">2010-01-15T20:22:21Z</dcterms:created>
  <dcterms:modified xsi:type="dcterms:W3CDTF">2026-01-09T06:19:43Z</dcterms:modified>
</cp:coreProperties>
</file>