
<file path=[Content_Types].xml><?xml version="1.0" encoding="utf-8"?>
<Types xmlns="http://schemas.openxmlformats.org/package/2006/content-types">
  <Default Extension="bin" ContentType="application/vnd.ms-office.activeX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activeX/activeX1.xml" ContentType="application/vnd.ms-office.activeX+xml"/>
  <Override PartName="/ppt/activeX/activeX2.xml" ContentType="application/vnd.ms-office.activeX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4"/>
  </p:notesMasterIdLst>
  <p:sldIdLst>
    <p:sldId id="337" r:id="rId2"/>
    <p:sldId id="339" r:id="rId3"/>
    <p:sldId id="338" r:id="rId4"/>
    <p:sldId id="341" r:id="rId5"/>
    <p:sldId id="342" r:id="rId6"/>
    <p:sldId id="343" r:id="rId7"/>
    <p:sldId id="340" r:id="rId8"/>
    <p:sldId id="346" r:id="rId9"/>
    <p:sldId id="344" r:id="rId10"/>
    <p:sldId id="347" r:id="rId11"/>
    <p:sldId id="348" r:id="rId12"/>
    <p:sldId id="349" r:id="rId13"/>
    <p:sldId id="353" r:id="rId14"/>
    <p:sldId id="354" r:id="rId15"/>
    <p:sldId id="355" r:id="rId16"/>
    <p:sldId id="356" r:id="rId17"/>
    <p:sldId id="357" r:id="rId18"/>
    <p:sldId id="358" r:id="rId19"/>
    <p:sldId id="359" r:id="rId20"/>
    <p:sldId id="350" r:id="rId21"/>
    <p:sldId id="351" r:id="rId22"/>
    <p:sldId id="352" r:id="rId23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2C3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4" autoAdjust="0"/>
    <p:restoredTop sz="92730" autoAdjust="0"/>
  </p:normalViewPr>
  <p:slideViewPr>
    <p:cSldViewPr>
      <p:cViewPr varScale="1">
        <p:scale>
          <a:sx n="84" d="100"/>
          <a:sy n="84" d="100"/>
        </p:scale>
        <p:origin x="816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activeX/_rels/activeX1.xml.rels><?xml version="1.0" encoding="UTF-8" standalone="yes"?>
<Relationships xmlns="http://schemas.openxmlformats.org/package/2006/relationships"><Relationship Id="rId1" Type="http://schemas.microsoft.com/office/2006/relationships/activeXControlBinary" Target="activeX1.bin"/></Relationships>
</file>

<file path=ppt/activeX/_rels/activeX2.xml.rels><?xml version="1.0" encoding="UTF-8" standalone="yes"?>
<Relationships xmlns="http://schemas.openxmlformats.org/package/2006/relationships"><Relationship Id="rId1" Type="http://schemas.microsoft.com/office/2006/relationships/activeXControlBinary" Target="activeX2.bin"/></Relationships>
</file>

<file path=ppt/activeX/activeX1.xml><?xml version="1.0" encoding="utf-8"?>
<ax:ocx xmlns:ax="http://schemas.microsoft.com/office/2006/activeX" xmlns:r="http://schemas.openxmlformats.org/officeDocument/2006/relationships" ax:classid="{8BD21D10-EC42-11CE-9E0D-00AA006002F3}" ax:persistence="persistStorage" r:id="rId1"/>
</file>

<file path=ppt/activeX/activeX2.xml><?xml version="1.0" encoding="utf-8"?>
<ax:ocx xmlns:ax="http://schemas.microsoft.com/office/2006/activeX" xmlns:r="http://schemas.openxmlformats.org/officeDocument/2006/relationships" ax:classid="{8BD21D10-EC42-11CE-9E0D-00AA006002F3}" ax:persistence="persistStorage" r:id="rId1"/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6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1/8/2026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44638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D4032-0DCD-4B56-8C1A-A046DCFB4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7772400" cy="3124200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2400" y="53975"/>
            <a:ext cx="6324600" cy="1195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52400" y="1446211"/>
            <a:ext cx="88392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99238"/>
            <a:ext cx="1828800" cy="2587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599238"/>
            <a:ext cx="28956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,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 Campus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6800" y="6599238"/>
            <a:ext cx="4572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7" name="Picture 11" descr="Picture 7.png">
            <a:extLst>
              <a:ext uri="{FF2B5EF4-FFF2-40B4-BE49-F238E27FC236}">
                <a16:creationId xmlns:a16="http://schemas.microsoft.com/office/drawing/2014/main" id="{B1A82462-8175-42D8-B46C-67766E05E740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18">
            <a:extLst>
              <a:ext uri="{FF2B5EF4-FFF2-40B4-BE49-F238E27FC236}">
                <a16:creationId xmlns:a16="http://schemas.microsoft.com/office/drawing/2014/main" id="{F71B9737-4DA8-4B8F-9335-5F2A7C906531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2335E3-1C88-4FEB-B3EA-2686D6520BDF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7711E8-77A4-4937-A983-1A5FDBFC089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C71875C-BA0F-4B96-BF59-4025A49FA021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C2B4447A-9437-4C8F-B654-838CD5BB86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377527-4981-49F2-8F12-B5DB6F066126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B94671-9EEF-4175-9164-57B69291B8A6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C7A3-548A-4998-81D6-DC9D9CECAAD8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34" r:id="rId2"/>
    <p:sldLayoutId id="2147484835" r:id="rId3"/>
    <p:sldLayoutId id="2147484836" r:id="rId4"/>
    <p:sldLayoutId id="2147484837" r:id="rId5"/>
    <p:sldLayoutId id="2147484838" r:id="rId6"/>
    <p:sldLayoutId id="2147484839" r:id="rId7"/>
    <p:sldLayoutId id="2147484840" r:id="rId8"/>
    <p:sldLayoutId id="2147484841" r:id="rId9"/>
    <p:sldLayoutId id="2147484842" r:id="rId10"/>
    <p:sldLayoutId id="2147484843" r:id="rId11"/>
    <p:sldLayoutId id="2147484844" r:id="rId12"/>
  </p:sldLayoutIdLst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rgbClr val="FFC000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ontrol" Target="../activeX/activeX2.xml"/><Relationship Id="rId2" Type="http://schemas.openxmlformats.org/officeDocument/2006/relationships/control" Target="../activeX/activeX1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6.wmf"/><Relationship Id="rId4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ww.when2meet.com/?34226536-qhHhN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Software for Embedded Systems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000" dirty="0"/>
              <a:t>Prof. Saurabh Gandhi (EEE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B88B3-3B06-4E95-AF9C-02FCB12729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752600"/>
            <a:ext cx="7772400" cy="1362075"/>
          </a:xfrm>
        </p:spPr>
        <p:txBody>
          <a:bodyPr/>
          <a:lstStyle/>
          <a:p>
            <a:r>
              <a:rPr lang="en-US" dirty="0"/>
              <a:t>Introduction to Embedded Systems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DE09265-F63B-4728-9FDF-3DA93EF6C96D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685800" y="3429000"/>
            <a:ext cx="7772400" cy="2590800"/>
          </a:xfrm>
        </p:spPr>
        <p:txBody>
          <a:bodyPr>
            <a:normAutofit fontScale="77500" lnSpcReduction="20000"/>
          </a:bodyPr>
          <a:lstStyle/>
          <a:p>
            <a:r>
              <a:rPr lang="en-US" dirty="0" err="1"/>
              <a:t>Administratrivia</a:t>
            </a:r>
            <a:endParaRPr lang="en-US" dirty="0"/>
          </a:p>
          <a:p>
            <a:r>
              <a:rPr lang="en-US" dirty="0"/>
              <a:t>What is an embedded system?</a:t>
            </a:r>
          </a:p>
          <a:p>
            <a:r>
              <a:rPr lang="en-US" dirty="0"/>
              <a:t>How do they differ from general purpose computers?</a:t>
            </a:r>
          </a:p>
          <a:p>
            <a:r>
              <a:rPr lang="en-US" dirty="0"/>
              <a:t>Embedded vs general purpose software</a:t>
            </a:r>
          </a:p>
          <a:p>
            <a:r>
              <a:rPr lang="en-US" dirty="0"/>
              <a:t>Examples from automotive, medical, industrial systems</a:t>
            </a:r>
          </a:p>
          <a:p>
            <a:r>
              <a:rPr lang="en-US" dirty="0"/>
              <a:t>Projects</a:t>
            </a:r>
          </a:p>
        </p:txBody>
      </p:sp>
    </p:spTree>
    <p:extLst>
      <p:ext uri="{BB962C8B-B14F-4D97-AF65-F5344CB8AC3E}">
        <p14:creationId xmlns:p14="http://schemas.microsoft.com/office/powerpoint/2010/main" val="8982641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01BF510-3683-48EE-B74F-B532D1806EC9}"/>
              </a:ext>
            </a:extLst>
          </p:cNvPr>
          <p:cNvSpPr txBox="1">
            <a:spLocks/>
          </p:cNvSpPr>
          <p:nvPr/>
        </p:nvSpPr>
        <p:spPr bwMode="auto">
          <a:xfrm>
            <a:off x="5562600" y="1295400"/>
            <a:ext cx="3429000" cy="52593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B0F0"/>
                </a:solidFill>
              </a:rPr>
              <a:t>Course page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B0F0"/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B0F0"/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B0F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In-class quizzes!</a:t>
            </a:r>
          </a:p>
          <a:p>
            <a:pPr marL="0" indent="0">
              <a:buNone/>
            </a:pPr>
            <a:endParaRPr lang="en-US" dirty="0">
              <a:solidFill>
                <a:srgbClr val="00B0F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00B0F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00B0F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Code: PS52M5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8BD55A-9819-4F7D-A665-B05BEC00D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53975"/>
            <a:ext cx="6324600" cy="1195386"/>
          </a:xfrm>
        </p:spPr>
        <p:txBody>
          <a:bodyPr/>
          <a:lstStyle/>
          <a:p>
            <a:r>
              <a:rPr lang="en-US" dirty="0" err="1">
                <a:solidFill>
                  <a:srgbClr val="FFC000"/>
                </a:solidFill>
              </a:rPr>
              <a:t>Administratrivia</a:t>
            </a:r>
            <a:endParaRPr lang="en-US" dirty="0">
              <a:solidFill>
                <a:srgbClr val="FFC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AFF8D-7ECF-4905-B3CF-FAF0DE73B0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309688"/>
            <a:ext cx="5181600" cy="5014912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Evaluation</a:t>
            </a:r>
          </a:p>
          <a:p>
            <a:pPr>
              <a:spcBef>
                <a:spcPts val="100"/>
              </a:spcBef>
              <a:buFontTx/>
              <a:buChar char="-"/>
            </a:pP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Midsemester exam: 20%</a:t>
            </a:r>
          </a:p>
          <a:p>
            <a:pPr>
              <a:spcBef>
                <a:spcPts val="100"/>
              </a:spcBef>
              <a:buFontTx/>
              <a:buChar char="-"/>
            </a:pP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Comprehensive exam: 30%</a:t>
            </a:r>
          </a:p>
          <a:p>
            <a:pPr>
              <a:spcBef>
                <a:spcPts val="100"/>
              </a:spcBef>
              <a:buFontTx/>
              <a:buChar char="-"/>
            </a:pP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In-class quizzes and attendance: 10%</a:t>
            </a:r>
          </a:p>
          <a:p>
            <a:pPr>
              <a:spcBef>
                <a:spcPts val="100"/>
              </a:spcBef>
              <a:buFontTx/>
              <a:buChar char="-"/>
            </a:pP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Projects: 20%</a:t>
            </a:r>
          </a:p>
          <a:p>
            <a:pPr>
              <a:spcBef>
                <a:spcPts val="100"/>
              </a:spcBef>
              <a:buFontTx/>
              <a:buChar char="-"/>
            </a:pP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Lab reports: 10%</a:t>
            </a:r>
          </a:p>
          <a:p>
            <a:pPr>
              <a:spcBef>
                <a:spcPts val="100"/>
              </a:spcBef>
              <a:buFontTx/>
              <a:buChar char="-"/>
            </a:pP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Lab presentations: 10%</a:t>
            </a:r>
          </a:p>
          <a:p>
            <a:pPr>
              <a:spcBef>
                <a:spcPts val="100"/>
              </a:spcBef>
              <a:buFontTx/>
              <a:buChar char="-"/>
            </a:pPr>
            <a:endParaRPr lang="en-US" sz="1050" dirty="0"/>
          </a:p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Reference books</a:t>
            </a:r>
          </a:p>
          <a:p>
            <a:pPr>
              <a:buFontTx/>
              <a:buChar char="-"/>
            </a:pP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Miro </a:t>
            </a:r>
            <a:r>
              <a:rPr lang="en-US" sz="20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Samek</a:t>
            </a: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— Practical UML </a:t>
            </a:r>
            <a:r>
              <a:rPr lang="en-US" sz="20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Statecharts</a:t>
            </a: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in C/C++</a:t>
            </a:r>
          </a:p>
          <a:p>
            <a:pPr>
              <a:buFontTx/>
              <a:buChar char="-"/>
            </a:pP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Douglass et al. — Real-Time Design Patterns</a:t>
            </a:r>
          </a:p>
          <a:p>
            <a:pPr>
              <a:buFontTx/>
              <a:buChar char="-"/>
            </a:pPr>
            <a:r>
              <a:rPr lang="en-US" sz="20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Elecia</a:t>
            </a: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White — Making Embedded Systems</a:t>
            </a:r>
          </a:p>
          <a:p>
            <a:pPr>
              <a:buFontTx/>
              <a:buChar char="-"/>
            </a:pP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Jane W. S. Liu — Real-Time Systems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AF0131-6E57-4E31-B843-E7775EDA7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EFA6EB-CF38-418D-B7C1-DD19F1B20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15A8A9-BF2C-45F1-A631-FF210143195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82" b="5882"/>
          <a:stretch/>
        </p:blipFill>
        <p:spPr>
          <a:xfrm>
            <a:off x="5981700" y="1830390"/>
            <a:ext cx="2171700" cy="19162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FA15331-11EC-4569-B543-A0F54B465A0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334" b="7383"/>
          <a:stretch/>
        </p:blipFill>
        <p:spPr>
          <a:xfrm>
            <a:off x="5981699" y="4192590"/>
            <a:ext cx="2171701" cy="1830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765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EF744-9670-4455-B0E1-6A9E25237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an embedded system?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ABEB48-76AF-4F7A-B010-FB94339262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4114800" cy="54927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Examples?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F97625-FE31-4D2A-8F60-7838C1313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FFACD9-BD66-42B8-96CB-1BCF04BC4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3A83C3C-2C38-43C1-AFD9-D54A98EA7CF1}"/>
              </a:ext>
            </a:extLst>
          </p:cNvPr>
          <p:cNvSpPr txBox="1">
            <a:spLocks/>
          </p:cNvSpPr>
          <p:nvPr/>
        </p:nvSpPr>
        <p:spPr bwMode="auto">
          <a:xfrm>
            <a:off x="4724400" y="1446211"/>
            <a:ext cx="4267200" cy="5492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Characteristics?</a:t>
            </a:r>
          </a:p>
        </p:txBody>
      </p:sp>
    </p:spTree>
    <p:controls>
      <mc:AlternateContent xmlns:mc="http://schemas.openxmlformats.org/markup-compatibility/2006">
        <mc:Choice xmlns:v="urn:schemas-microsoft-com:vml" Requires="v">
          <p:control spid="1032" name="TextBox1" r:id="rId2" imgW="3002400" imgH="3337560"/>
        </mc:Choice>
        <mc:Fallback>
          <p:control name="TextBox1" r:id="rId2" imgW="3002400" imgH="3337560">
            <p:pic>
              <p:nvPicPr>
                <p:cNvPr id="9" name="TextBox1">
                  <a:extLst>
                    <a:ext uri="{FF2B5EF4-FFF2-40B4-BE49-F238E27FC236}">
                      <a16:creationId xmlns:a16="http://schemas.microsoft.com/office/drawing/2014/main" id="{EB2C2FD8-FC03-49B3-B03A-18B141578ABB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09600" y="2819400"/>
                  <a:ext cx="3001962" cy="3340800"/>
                </a:xfrm>
                <a:prstGeom prst="rect">
                  <a:avLst/>
                </a:prstGeom>
              </p:spPr>
            </p:pic>
          </p:control>
        </mc:Fallback>
      </mc:AlternateContent>
      <mc:AlternateContent xmlns:mc="http://schemas.openxmlformats.org/markup-compatibility/2006">
        <mc:Choice xmlns:v="urn:schemas-microsoft-com:vml" Requires="v">
          <p:control spid="1033" name="TextBox2" r:id="rId3" imgW="3002400" imgH="3337560"/>
        </mc:Choice>
        <mc:Fallback>
          <p:control name="TextBox2" r:id="rId3" imgW="3002400" imgH="3337560">
            <p:pic>
              <p:nvPicPr>
                <p:cNvPr id="10" name="TextBox2">
                  <a:extLst>
                    <a:ext uri="{FF2B5EF4-FFF2-40B4-BE49-F238E27FC236}">
                      <a16:creationId xmlns:a16="http://schemas.microsoft.com/office/drawing/2014/main" id="{A04E001B-06C1-48C4-8020-E97CA0E46F8D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742688" y="2819400"/>
                  <a:ext cx="3001962" cy="3340800"/>
                </a:xfrm>
                <a:prstGeom prst="rect">
                  <a:avLst/>
                </a:prstGeom>
              </p:spPr>
            </p:pic>
          </p:control>
        </mc:Fallback>
      </mc:AlternateContent>
    </p:controls>
    <p:extLst>
      <p:ext uri="{BB962C8B-B14F-4D97-AF65-F5344CB8AC3E}">
        <p14:creationId xmlns:p14="http://schemas.microsoft.com/office/powerpoint/2010/main" val="2598683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4A955-080F-456D-AE9A-20A5DF110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Embedded systems vs general purpose computers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6B3F2-6040-4265-8FEA-F4DAB5844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6A4BEC-01DF-4CCE-81EA-EEFD9C8E0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DF19EA-56FF-46AD-A37C-1DAFB509EA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Hardware requirements?</a:t>
            </a:r>
          </a:p>
          <a:p>
            <a:endParaRPr lang="en-US" dirty="0"/>
          </a:p>
          <a:p>
            <a:r>
              <a:rPr lang="en-US" dirty="0"/>
              <a:t>Resource availability?</a:t>
            </a:r>
          </a:p>
          <a:p>
            <a:endParaRPr lang="en-US" dirty="0"/>
          </a:p>
          <a:p>
            <a:r>
              <a:rPr lang="en-US" dirty="0"/>
              <a:t>Use-case challenges?</a:t>
            </a:r>
          </a:p>
          <a:p>
            <a:endParaRPr lang="en-US" dirty="0"/>
          </a:p>
          <a:p>
            <a:r>
              <a:rPr lang="en-US" dirty="0"/>
              <a:t>Development cycle / tools?</a:t>
            </a:r>
          </a:p>
        </p:txBody>
      </p:sp>
    </p:spTree>
    <p:extLst>
      <p:ext uri="{BB962C8B-B14F-4D97-AF65-F5344CB8AC3E}">
        <p14:creationId xmlns:p14="http://schemas.microsoft.com/office/powerpoint/2010/main" val="3447381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9A380-885B-44FC-8818-3067A9776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development for embedded systems – challenges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BE0CB27-6C72-4F0E-B883-FCDDAA7E96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37705" y="1762613"/>
            <a:ext cx="7268589" cy="4382112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F77E0F-03FC-42F9-9935-A6E8C36EA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3F5CC1-D93E-47A6-B9F5-B1A5CA497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76CC6E-9581-49A3-835A-F916A20D59DF}"/>
              </a:ext>
            </a:extLst>
          </p:cNvPr>
          <p:cNvSpPr txBox="1"/>
          <p:nvPr/>
        </p:nvSpPr>
        <p:spPr>
          <a:xfrm>
            <a:off x="4253038" y="6144725"/>
            <a:ext cx="3962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Making embedded systems (Fig. 1-1)</a:t>
            </a:r>
          </a:p>
        </p:txBody>
      </p:sp>
    </p:spTree>
    <p:extLst>
      <p:ext uri="{BB962C8B-B14F-4D97-AF65-F5344CB8AC3E}">
        <p14:creationId xmlns:p14="http://schemas.microsoft.com/office/powerpoint/2010/main" val="1106756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BD55A-9819-4F7D-A665-B05BEC00D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53975"/>
            <a:ext cx="6324600" cy="1195386"/>
          </a:xfrm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Projects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AFF8D-7ECF-4905-B3CF-FAF0DE73B0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446211"/>
            <a:ext cx="8686800" cy="5014912"/>
          </a:xfrm>
        </p:spPr>
        <p:txBody>
          <a:bodyPr/>
          <a:lstStyle/>
          <a:p>
            <a:pPr>
              <a:spcBef>
                <a:spcPts val="100"/>
              </a:spcBef>
              <a:buFontTx/>
              <a:buChar char="-"/>
            </a:pP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Teams made by instructor (3-4 students with balanced backgrounds)</a:t>
            </a:r>
          </a:p>
          <a:p>
            <a:pPr>
              <a:spcBef>
                <a:spcPts val="100"/>
              </a:spcBef>
              <a:buFontTx/>
              <a:buChar char="-"/>
            </a:pP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Projects will be floated in first lab</a:t>
            </a:r>
          </a:p>
          <a:p>
            <a:pPr>
              <a:spcBef>
                <a:spcPts val="100"/>
              </a:spcBef>
              <a:buFontTx/>
              <a:buChar char="-"/>
            </a:pP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Work on projects alongside classwork… directly apply what you learn</a:t>
            </a:r>
          </a:p>
          <a:p>
            <a:pPr>
              <a:spcBef>
                <a:spcPts val="100"/>
              </a:spcBef>
              <a:buFontTx/>
              <a:buChar char="-"/>
            </a:pPr>
            <a:r>
              <a:rPr lang="en-US" sz="2000" dirty="0"/>
              <a:t>More details in first lab…</a:t>
            </a:r>
          </a:p>
          <a:p>
            <a:pPr>
              <a:spcBef>
                <a:spcPts val="100"/>
              </a:spcBef>
              <a:buFontTx/>
              <a:buChar char="-"/>
            </a:pPr>
            <a:r>
              <a:rPr lang="en-US" sz="2000" dirty="0"/>
              <a:t>…fill out </a:t>
            </a:r>
            <a:r>
              <a:rPr lang="en-US" sz="20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lab schedule poll</a:t>
            </a:r>
            <a:r>
              <a:rPr lang="en-US" sz="2000" dirty="0"/>
              <a:t> (mark as many times as possible)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AF0131-6E57-4E31-B843-E7775EDA7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EFA6EB-CF38-418D-B7C1-DD19F1B20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27350D-4494-47B0-ACDA-E871C09311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8937" y="3142341"/>
            <a:ext cx="3286125" cy="3286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015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B88B3-3B06-4E95-AF9C-02FCB12729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752600"/>
            <a:ext cx="7772400" cy="1362075"/>
          </a:xfrm>
        </p:spPr>
        <p:txBody>
          <a:bodyPr/>
          <a:lstStyle/>
          <a:p>
            <a:r>
              <a:rPr lang="en-US" dirty="0"/>
              <a:t>The role of software in embedded systems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DE09265-F63B-4728-9FDF-3DA93EF6C96D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685800" y="3429000"/>
            <a:ext cx="7772400" cy="2590800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Responsibilities of embedded software</a:t>
            </a:r>
          </a:p>
          <a:p>
            <a:r>
              <a:rPr lang="en-US" dirty="0"/>
              <a:t>Software is central to embedded systems</a:t>
            </a:r>
          </a:p>
          <a:p>
            <a:r>
              <a:rPr lang="en-US" dirty="0"/>
              <a:t>Embedded vs general purpose software</a:t>
            </a:r>
          </a:p>
          <a:p>
            <a:r>
              <a:rPr lang="en-US" dirty="0"/>
              <a:t>Software-hardware interaction</a:t>
            </a:r>
          </a:p>
          <a:p>
            <a:r>
              <a:rPr lang="en-US" dirty="0"/>
              <a:t>Event-driven nature of embedded systems</a:t>
            </a:r>
          </a:p>
          <a:p>
            <a:r>
              <a:rPr lang="en-US" dirty="0"/>
              <a:t>Embedded software safety</a:t>
            </a:r>
          </a:p>
          <a:p>
            <a:r>
              <a:rPr lang="en-US" dirty="0"/>
              <a:t>The need for discipline in developing embedded software</a:t>
            </a:r>
          </a:p>
        </p:txBody>
      </p:sp>
    </p:spTree>
    <p:extLst>
      <p:ext uri="{BB962C8B-B14F-4D97-AF65-F5344CB8AC3E}">
        <p14:creationId xmlns:p14="http://schemas.microsoft.com/office/powerpoint/2010/main" val="985219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7DA98-1682-4917-8123-DE3DE1986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Embedded system responsibilities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EB824C-798A-4260-AB79-B52FD0DDB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4632327"/>
            <a:ext cx="4191000" cy="68738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Embedded system design directly affects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E91D78-4A5E-423A-96DB-D2C13BD53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BC9731-90FB-4B25-B57F-CE23BB149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CD7EA2-2F2A-401F-8553-75A2D84D843C}"/>
              </a:ext>
            </a:extLst>
          </p:cNvPr>
          <p:cNvSpPr txBox="1"/>
          <p:nvPr/>
        </p:nvSpPr>
        <p:spPr>
          <a:xfrm>
            <a:off x="152400" y="5769114"/>
            <a:ext cx="31626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Safety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Reliability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83868F-0849-4B06-AE96-C6F38F707BAE}"/>
              </a:ext>
            </a:extLst>
          </p:cNvPr>
          <p:cNvSpPr txBox="1"/>
          <p:nvPr/>
        </p:nvSpPr>
        <p:spPr>
          <a:xfrm>
            <a:off x="2095166" y="5769114"/>
            <a:ext cx="31626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Power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Timing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0B85E6C-5460-49DB-8822-5B55F9AD883A}"/>
              </a:ext>
            </a:extLst>
          </p:cNvPr>
          <p:cNvSpPr txBox="1">
            <a:spLocks/>
          </p:cNvSpPr>
          <p:nvPr/>
        </p:nvSpPr>
        <p:spPr bwMode="auto">
          <a:xfrm>
            <a:off x="152400" y="1377949"/>
            <a:ext cx="8839200" cy="30321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Responsibilities:</a:t>
            </a:r>
          </a:p>
          <a:p>
            <a:r>
              <a:rPr lang="en-US" dirty="0"/>
              <a:t>Interpreting inputs from the physical world</a:t>
            </a:r>
          </a:p>
          <a:p>
            <a:r>
              <a:rPr lang="en-US" dirty="0"/>
              <a:t>Making control decisions</a:t>
            </a:r>
          </a:p>
          <a:p>
            <a:r>
              <a:rPr lang="en-US" dirty="0"/>
              <a:t>Driving actuators</a:t>
            </a:r>
          </a:p>
          <a:p>
            <a:r>
              <a:rPr lang="en-US" dirty="0"/>
              <a:t>Enforcing safety and constraints</a:t>
            </a:r>
          </a:p>
        </p:txBody>
      </p:sp>
      <p:pic>
        <p:nvPicPr>
          <p:cNvPr id="2050" name="Picture 2" descr="Figure 2. Embedded system with sensors and actuators and input or output  human-machine devices : Model Based Design of Embedded Systems : Science  and Education Publishing">
            <a:extLst>
              <a:ext uri="{FF2B5EF4-FFF2-40B4-BE49-F238E27FC236}">
                <a16:creationId xmlns:a16="http://schemas.microsoft.com/office/drawing/2014/main" id="{28367FA7-04C9-4AC1-84A4-63516A9F11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1000" y="4267200"/>
            <a:ext cx="4800600" cy="2031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3394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  <p:bldP spid="9" grpId="0"/>
      <p:bldP spid="10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7DA98-1682-4917-8123-DE3DE1986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Embedded systems moving from hardware- to software-centric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EB824C-798A-4260-AB79-B52FD0DDB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Think about conventional vs contemporary</a:t>
            </a:r>
          </a:p>
          <a:p>
            <a:pPr lvl="1"/>
            <a:r>
              <a:rPr lang="en-US" dirty="0"/>
              <a:t>Washing machine controller</a:t>
            </a:r>
          </a:p>
          <a:p>
            <a:pPr lvl="1"/>
            <a:r>
              <a:rPr lang="en-US" dirty="0"/>
              <a:t>Refrigerator controller</a:t>
            </a:r>
          </a:p>
          <a:p>
            <a:pPr lvl="1"/>
            <a:r>
              <a:rPr lang="en-US" dirty="0"/>
              <a:t>AC controller</a:t>
            </a:r>
          </a:p>
          <a:p>
            <a:pPr lvl="1"/>
            <a:r>
              <a:rPr lang="en-US" dirty="0"/>
              <a:t>Automobile ECU</a:t>
            </a:r>
          </a:p>
          <a:p>
            <a:r>
              <a:rPr lang="en-US" dirty="0"/>
              <a:t>Complexity of function</a:t>
            </a:r>
          </a:p>
          <a:p>
            <a:r>
              <a:rPr lang="en-US" dirty="0"/>
              <a:t>Physical size</a:t>
            </a:r>
          </a:p>
          <a:p>
            <a:r>
              <a:rPr lang="en-US" dirty="0"/>
              <a:t>Upgradability? Repairability?</a:t>
            </a:r>
          </a:p>
          <a:p>
            <a:r>
              <a:rPr lang="en-US" dirty="0"/>
              <a:t>What else?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E91D78-4A5E-423A-96DB-D2C13BD53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BC9731-90FB-4B25-B57F-CE23BB149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76046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7DA98-1682-4917-8123-DE3DE1986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Embedded systems moving from hardware- to software-centric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EB824C-798A-4260-AB79-B52FD0DDB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Custom ASIC (Application Specific ICs) </a:t>
            </a:r>
            <a:r>
              <a:rPr lang="en-US" dirty="0">
                <a:sym typeface="Wingdings" panose="05000000000000000000" pitchFamily="2" charset="2"/>
              </a:rPr>
              <a:t> hardware as a platform</a:t>
            </a:r>
          </a:p>
          <a:p>
            <a:r>
              <a:rPr lang="en-US" dirty="0">
                <a:sym typeface="Wingdings" panose="05000000000000000000" pitchFamily="2" charset="2"/>
              </a:rPr>
              <a:t>Software as differentiator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Same engine  software defined fuel injection  cheap vs luxury car</a:t>
            </a:r>
          </a:p>
          <a:p>
            <a:r>
              <a:rPr lang="en-US" dirty="0">
                <a:sym typeface="Wingdings" panose="05000000000000000000" pitchFamily="2" charset="2"/>
              </a:rPr>
              <a:t>Development cost / time to market (vs unit costs)</a:t>
            </a:r>
          </a:p>
          <a:p>
            <a:r>
              <a:rPr lang="en-US" dirty="0"/>
              <a:t>Functional complexity (AI, IoT etc.)</a:t>
            </a:r>
          </a:p>
          <a:p>
            <a:r>
              <a:rPr lang="en-US" dirty="0"/>
              <a:t>Flexibility (changing standards)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E91D78-4A5E-423A-96DB-D2C13BD53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BC9731-90FB-4B25-B57F-CE23BB149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7490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7DA98-1682-4917-8123-DE3DE1986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Embedded systems moving from hardware- to software-centric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EB824C-798A-4260-AB79-B52FD0DDB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0"/>
            <a:ext cx="8839200" cy="5030789"/>
          </a:xfrm>
        </p:spPr>
        <p:txBody>
          <a:bodyPr>
            <a:noAutofit/>
          </a:bodyPr>
          <a:lstStyle/>
          <a:p>
            <a:r>
              <a:rPr lang="en-US" sz="2800" dirty="0"/>
              <a:t>Early embedded systems</a:t>
            </a:r>
          </a:p>
          <a:p>
            <a:pPr lvl="1"/>
            <a:r>
              <a:rPr lang="en-US" sz="2400" dirty="0"/>
              <a:t>Fixed hardware behavior</a:t>
            </a:r>
          </a:p>
          <a:p>
            <a:pPr lvl="1"/>
            <a:r>
              <a:rPr lang="en-US" sz="2400" dirty="0"/>
              <a:t>Minimal software, largely for UI</a:t>
            </a:r>
          </a:p>
          <a:p>
            <a:r>
              <a:rPr lang="en-US" sz="2800" dirty="0"/>
              <a:t>Modern embedded systems</a:t>
            </a:r>
          </a:p>
          <a:p>
            <a:pPr lvl="1"/>
            <a:r>
              <a:rPr lang="en-US" sz="2400" dirty="0"/>
              <a:t>Generic hardware</a:t>
            </a:r>
          </a:p>
          <a:p>
            <a:pPr lvl="1"/>
            <a:r>
              <a:rPr lang="en-US" sz="2400" dirty="0"/>
              <a:t>Complex software behavior</a:t>
            </a:r>
          </a:p>
          <a:p>
            <a:pPr lvl="1"/>
            <a:r>
              <a:rPr lang="en-US" sz="2400" dirty="0"/>
              <a:t>Updates and reconfigurability</a:t>
            </a:r>
          </a:p>
          <a:p>
            <a:pPr lvl="1"/>
            <a:endParaRPr lang="en-US" sz="2400" dirty="0"/>
          </a:p>
          <a:p>
            <a:r>
              <a:rPr lang="en-US" sz="2800" dirty="0"/>
              <a:t>Hardware executes, software decides</a:t>
            </a:r>
          </a:p>
          <a:p>
            <a:r>
              <a:rPr lang="en-US" sz="2800" dirty="0"/>
              <a:t>Responsibilities largely shifted to software!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E91D78-4A5E-423A-96DB-D2C13BD53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BC9731-90FB-4B25-B57F-CE23BB149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00131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0139D-4C3F-4D77-ABE1-776CEAF46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Embedded vs general-purpose software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721B5-9670-420A-BAD0-352ABC2B86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5280819"/>
            <a:ext cx="8839200" cy="9906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Embedded software must be predictable, not just correct!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0442F2-7B7B-4476-8CF4-A3E51ED92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31EB86-64F1-463D-8F3D-A8F5A525E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13</a:t>
            </a:fld>
            <a:endParaRPr lang="en-US" alt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DEA5E78-0E78-480F-A131-C24A4697C2A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86980"/>
          <a:stretch/>
        </p:blipFill>
        <p:spPr>
          <a:xfrm>
            <a:off x="188976" y="1447800"/>
            <a:ext cx="8839966" cy="457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19C83DF-0DA0-4F20-BF4A-40E36E7942B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3018" r="72821" b="182"/>
          <a:stretch/>
        </p:blipFill>
        <p:spPr>
          <a:xfrm>
            <a:off x="188210" y="1905000"/>
            <a:ext cx="2402590" cy="3048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C8B82A-2424-41A4-B736-3A56C2DEE4F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1" t="13018" r="413" b="69622"/>
          <a:stretch/>
        </p:blipFill>
        <p:spPr>
          <a:xfrm>
            <a:off x="188210" y="1905000"/>
            <a:ext cx="8803390" cy="6096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ECFDE5F-B40C-4C9A-9992-95D0C8D12B6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1" t="13018" r="413" b="58772"/>
          <a:stretch/>
        </p:blipFill>
        <p:spPr>
          <a:xfrm>
            <a:off x="188210" y="1905000"/>
            <a:ext cx="8803390" cy="9906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ACABD1A-3394-4AF3-868F-8F60B162A8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1" t="41228" r="413" b="41367"/>
          <a:stretch/>
        </p:blipFill>
        <p:spPr>
          <a:xfrm>
            <a:off x="188210" y="2895600"/>
            <a:ext cx="8803390" cy="61118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5E36C20-F1B5-432C-A492-E908DC8B10F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1" t="58634" r="413" b="31466"/>
          <a:stretch/>
        </p:blipFill>
        <p:spPr>
          <a:xfrm>
            <a:off x="188210" y="3506788"/>
            <a:ext cx="8803390" cy="34766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ABDCFFB-D319-47E8-92FF-422BBBCFA80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1" t="68285" r="413" b="13407"/>
          <a:stretch/>
        </p:blipFill>
        <p:spPr>
          <a:xfrm>
            <a:off x="188210" y="3854450"/>
            <a:ext cx="8803390" cy="64293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7018D01-92C6-4C20-BC0D-148B12A9CDC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1" t="86722" r="413" b="304"/>
          <a:stretch/>
        </p:blipFill>
        <p:spPr>
          <a:xfrm>
            <a:off x="188210" y="4497388"/>
            <a:ext cx="8803390" cy="455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9232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CBB2E-35A7-4BF8-9B3C-E6C4D3119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Embedded vs general-purpose software: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F82C45-436B-498F-8E81-1CBAC9AA05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Handling temperature data</a:t>
            </a:r>
          </a:p>
          <a:p>
            <a:r>
              <a:rPr lang="en-US" dirty="0"/>
              <a:t>General software:</a:t>
            </a:r>
          </a:p>
          <a:p>
            <a:pPr lvl="1"/>
            <a:r>
              <a:rPr lang="en-US" dirty="0"/>
              <a:t>Read temperature</a:t>
            </a:r>
          </a:p>
          <a:p>
            <a:pPr lvl="1"/>
            <a:r>
              <a:rPr lang="en-US" dirty="0"/>
              <a:t>Display on screen</a:t>
            </a:r>
          </a:p>
          <a:p>
            <a:pPr lvl="1"/>
            <a:r>
              <a:rPr lang="en-US" dirty="0"/>
              <a:t>Delay == annoyance</a:t>
            </a:r>
          </a:p>
          <a:p>
            <a:r>
              <a:rPr lang="en-US" dirty="0"/>
              <a:t>Embedded software:</a:t>
            </a:r>
          </a:p>
          <a:p>
            <a:pPr lvl="1"/>
            <a:r>
              <a:rPr lang="en-US" dirty="0"/>
              <a:t>Read temperature</a:t>
            </a:r>
          </a:p>
          <a:p>
            <a:pPr lvl="1"/>
            <a:r>
              <a:rPr lang="en-US" dirty="0"/>
              <a:t>Control heater</a:t>
            </a:r>
          </a:p>
          <a:p>
            <a:pPr lvl="1"/>
            <a:r>
              <a:rPr lang="en-US" dirty="0"/>
              <a:t>Delay == overheating, accidents etc.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FADFD2-A1D6-48B2-84D5-955D44046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BBD02-7C3D-4F09-A2FA-EC43F992D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45081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A171A-F3D3-4AAA-BDED-B26AE81C4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this means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4DCE7D-90F0-4921-849F-9B6427E57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Much more careful design</a:t>
            </a:r>
          </a:p>
          <a:p>
            <a:r>
              <a:rPr lang="en-US" dirty="0"/>
              <a:t>Defensive programming</a:t>
            </a:r>
          </a:p>
          <a:p>
            <a:r>
              <a:rPr lang="en-US" dirty="0"/>
              <a:t>Emphasis on verification</a:t>
            </a:r>
          </a:p>
          <a:p>
            <a:r>
              <a:rPr lang="en-US" dirty="0"/>
              <a:t>Disciplined coding and testing</a:t>
            </a:r>
          </a:p>
          <a:p>
            <a:r>
              <a:rPr lang="en-US" dirty="0"/>
              <a:t>Stricter requirements</a:t>
            </a:r>
          </a:p>
          <a:p>
            <a:r>
              <a:rPr lang="en-US" dirty="0"/>
              <a:t>Modeling</a:t>
            </a:r>
          </a:p>
          <a:p>
            <a:r>
              <a:rPr lang="en-US" dirty="0"/>
              <a:t>Real-time operating systems</a:t>
            </a:r>
          </a:p>
          <a:p>
            <a:endParaRPr lang="en-US" dirty="0"/>
          </a:p>
          <a:p>
            <a:r>
              <a:rPr lang="en-US" dirty="0"/>
              <a:t>Embedded software is not just software with limited memory!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D01935-5640-4173-B24F-6A1F0DDD8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F2D8F-E47F-49ED-A436-04209B10D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30443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2AC2B-454C-454B-B33B-AC7101154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– hardware interaction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D49361-F1D7-4BB8-A000-2F635B74C6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5257800" cy="5014912"/>
          </a:xfrm>
        </p:spPr>
        <p:txBody>
          <a:bodyPr/>
          <a:lstStyle/>
          <a:p>
            <a:r>
              <a:rPr lang="en-US" sz="2800" dirty="0"/>
              <a:t>Embedded software is not hardware-independent!</a:t>
            </a:r>
          </a:p>
          <a:p>
            <a:r>
              <a:rPr lang="en-US" sz="2800" dirty="0"/>
              <a:t>Needs understanding of the hardware</a:t>
            </a:r>
          </a:p>
          <a:p>
            <a:r>
              <a:rPr lang="en-US" sz="2800" dirty="0"/>
              <a:t>Asynchronous external events; but software is sequential</a:t>
            </a:r>
          </a:p>
          <a:p>
            <a:r>
              <a:rPr lang="en-US" sz="2800" dirty="0"/>
              <a:t>Response to asynchronous event needs to be time-bound</a:t>
            </a:r>
          </a:p>
          <a:p>
            <a:r>
              <a:rPr lang="en-US" sz="2800" dirty="0"/>
              <a:t>Concurrency – many simultaneous event sources and actuator requirements to handle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B2D8E4-4482-4645-ACC0-5DC020F358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84818F-A739-42B8-BA6F-9E18DAF23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16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D02F2DB-1AA6-4308-A9D8-2C0605C547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1471" y="1458403"/>
            <a:ext cx="3373930" cy="2656397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F1A6BBBD-C5BB-47F1-ADB5-1693FE9A1D48}"/>
              </a:ext>
            </a:extLst>
          </p:cNvPr>
          <p:cNvSpPr txBox="1">
            <a:spLocks/>
          </p:cNvSpPr>
          <p:nvPr/>
        </p:nvSpPr>
        <p:spPr bwMode="auto">
          <a:xfrm>
            <a:off x="5541471" y="4323843"/>
            <a:ext cx="3373930" cy="21372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 kern="1200">
                <a:solidFill>
                  <a:srgbClr val="FFC000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r>
              <a:rPr lang="en-US" dirty="0">
                <a:solidFill>
                  <a:srgbClr val="72C3E8"/>
                </a:solidFill>
              </a:rPr>
              <a:t>Embedded software is primarily event-driven</a:t>
            </a:r>
          </a:p>
        </p:txBody>
      </p:sp>
    </p:spTree>
    <p:extLst>
      <p:ext uri="{BB962C8B-B14F-4D97-AF65-F5344CB8AC3E}">
        <p14:creationId xmlns:p14="http://schemas.microsoft.com/office/powerpoint/2010/main" val="3199497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206B1-1263-42FF-8C9F-988DD14B4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State-dependent behavior in embedded software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514DA7-6066-4414-8967-CB9568529B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Response to the same event can be different depending on the state / system context</a:t>
            </a:r>
          </a:p>
          <a:p>
            <a:r>
              <a:rPr lang="en-US" sz="2800" dirty="0"/>
              <a:t>State changes must be explicit and controlled</a:t>
            </a:r>
          </a:p>
          <a:p>
            <a:r>
              <a:rPr lang="en-US" sz="2800" dirty="0"/>
              <a:t>Hidden states can lead to bugs</a:t>
            </a:r>
          </a:p>
          <a:p>
            <a:r>
              <a:rPr lang="en-US" sz="2800" dirty="0"/>
              <a:t>Example: Button press</a:t>
            </a:r>
          </a:p>
          <a:p>
            <a:pPr lvl="1"/>
            <a:r>
              <a:rPr lang="en-US" sz="2400" dirty="0"/>
              <a:t>Idle state </a:t>
            </a:r>
            <a:r>
              <a:rPr lang="en-US" sz="2400" dirty="0">
                <a:sym typeface="Wingdings" panose="05000000000000000000" pitchFamily="2" charset="2"/>
              </a:rPr>
              <a:t> start operation</a:t>
            </a:r>
          </a:p>
          <a:p>
            <a:pPr lvl="1"/>
            <a:r>
              <a:rPr lang="en-US" sz="2400" dirty="0">
                <a:sym typeface="Wingdings" panose="05000000000000000000" pitchFamily="2" charset="2"/>
              </a:rPr>
              <a:t>Running state  stop operation</a:t>
            </a:r>
          </a:p>
          <a:p>
            <a:pPr lvl="1"/>
            <a:r>
              <a:rPr lang="en-US" sz="2400" dirty="0">
                <a:sym typeface="Wingdings" panose="05000000000000000000" pitchFamily="2" charset="2"/>
              </a:rPr>
              <a:t>Fault state  ignore / raise alarm</a:t>
            </a:r>
          </a:p>
          <a:p>
            <a:pPr lvl="1"/>
            <a:endParaRPr lang="en-US" sz="1400" dirty="0">
              <a:sym typeface="Wingdings" panose="05000000000000000000" pitchFamily="2" charset="2"/>
            </a:endParaRPr>
          </a:p>
          <a:p>
            <a:r>
              <a:rPr lang="en-US" sz="2800" dirty="0">
                <a:sym typeface="Wingdings" panose="05000000000000000000" pitchFamily="2" charset="2"/>
              </a:rPr>
              <a:t>Behavioral modeling to cover all possibilities systematically</a:t>
            </a:r>
            <a:endParaRPr lang="en-US" sz="2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C65A4C-8706-414B-9237-A82AF7C0B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8A9C8E-D6CA-45A7-A147-8B47D1D05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670393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E8C5-71DC-4833-9A46-B13A3B78C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Emphasis of safety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008B63-8CF6-4D34-BD7A-C3AE739240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Cannot afford software crashes (or ensure safety in spite of crashes)</a:t>
            </a:r>
          </a:p>
          <a:p>
            <a:r>
              <a:rPr lang="en-US" sz="2800" dirty="0"/>
              <a:t>Software running fine does not ensure safety</a:t>
            </a:r>
          </a:p>
          <a:p>
            <a:pPr lvl="1"/>
            <a:r>
              <a:rPr lang="en-US" sz="2400" dirty="0"/>
              <a:t>For example, an elevator controller software might not crash, but could ignore a sensor and crush a hand!</a:t>
            </a:r>
          </a:p>
          <a:p>
            <a:r>
              <a:rPr lang="en-US" sz="2800" dirty="0"/>
              <a:t>Identify potential hazardous conditions during design</a:t>
            </a:r>
          </a:p>
          <a:p>
            <a:r>
              <a:rPr lang="en-US" sz="2800" dirty="0"/>
              <a:t>Must be designed to handle external faults (sensors failing, unexpected inputs etc.)</a:t>
            </a:r>
          </a:p>
          <a:p>
            <a:r>
              <a:rPr lang="en-US" sz="2800" dirty="0"/>
              <a:t>Prepare the system for the unexpected (safe states)!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323C82-772D-4599-9E9B-A9E836D2B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7C1E1B-DEB4-4D29-9C41-4D6A42696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1143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FDAB9-B03B-4E6F-B224-B0E52C818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Disciplined system design and 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1942E4-4E92-41C6-9A42-7A6845F57A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Ad hoc code </a:t>
            </a:r>
            <a:r>
              <a:rPr lang="en-US" sz="2800" dirty="0">
                <a:sym typeface="Wingdings" panose="05000000000000000000" pitchFamily="2" charset="2"/>
              </a:rPr>
              <a:t> implicit assumptions  late discovery of faults</a:t>
            </a:r>
          </a:p>
          <a:p>
            <a:r>
              <a:rPr lang="en-US" sz="2800" dirty="0">
                <a:sym typeface="Wingdings" panose="05000000000000000000" pitchFamily="2" charset="2"/>
              </a:rPr>
              <a:t>With discipline: predictable behavior, early detection of errors, verifiable safety</a:t>
            </a:r>
          </a:p>
          <a:p>
            <a:r>
              <a:rPr lang="en-US" sz="2800" dirty="0">
                <a:sym typeface="Wingdings" panose="05000000000000000000" pitchFamily="2" charset="2"/>
              </a:rPr>
              <a:t>In this course</a:t>
            </a:r>
          </a:p>
          <a:p>
            <a:pPr lvl="1"/>
            <a:r>
              <a:rPr lang="en-US" sz="2400" dirty="0"/>
              <a:t>Requirements engineering → clarity</a:t>
            </a:r>
          </a:p>
          <a:p>
            <a:pPr lvl="1"/>
            <a:r>
              <a:rPr lang="en-US" sz="2400" dirty="0"/>
              <a:t>Modeling (UML) → behavioral reasoning</a:t>
            </a:r>
          </a:p>
          <a:p>
            <a:pPr lvl="1"/>
            <a:r>
              <a:rPr lang="en-US" sz="2400" dirty="0"/>
              <a:t>Architecture → structure and separation</a:t>
            </a:r>
          </a:p>
          <a:p>
            <a:pPr lvl="1"/>
            <a:r>
              <a:rPr lang="en-US" sz="2400" dirty="0"/>
              <a:t>RTOS &amp; scheduling → timing guarantees</a:t>
            </a:r>
          </a:p>
          <a:p>
            <a:pPr lvl="1"/>
            <a:r>
              <a:rPr lang="en-US" sz="2400" dirty="0"/>
              <a:t>Verification &amp; testing → confidence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575ECC-39C3-4E75-9352-EA93AE76B0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71C6B5-0A4E-4B0A-880D-09CBC8109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61237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BA08F-9821-4D80-A108-D80373837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responsibilities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24C14-C931-4DC4-8542-63929069F4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Needed to make the system work</a:t>
            </a:r>
          </a:p>
          <a:p>
            <a:r>
              <a:rPr lang="en-US" dirty="0"/>
              <a:t>Control logic</a:t>
            </a:r>
          </a:p>
          <a:p>
            <a:r>
              <a:rPr lang="en-US" dirty="0"/>
              <a:t>Data acquisition and processing</a:t>
            </a:r>
          </a:p>
          <a:p>
            <a:r>
              <a:rPr lang="en-US" dirty="0"/>
              <a:t>State-based behavior</a:t>
            </a:r>
          </a:p>
          <a:p>
            <a:r>
              <a:rPr lang="en-US" dirty="0"/>
              <a:t>Coordination between subsystems</a:t>
            </a:r>
          </a:p>
          <a:p>
            <a:endParaRPr lang="en-US" dirty="0"/>
          </a:p>
          <a:p>
            <a:r>
              <a:rPr lang="en-US" dirty="0"/>
              <a:t>What are the functional responsibilities of an elevator controller?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691024-1FD3-4DAE-8731-0D94F21F3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39780E-5850-49F3-9E24-60528ABF7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28032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23004-BE65-4D50-8D46-7E2D72739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Non-functional responsibilities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990EF9-A827-41CE-96B4-16AEC6039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Needed to make the system work </a:t>
            </a:r>
            <a:r>
              <a:rPr lang="en-US" i="1" dirty="0"/>
              <a:t>well</a:t>
            </a:r>
          </a:p>
          <a:p>
            <a:r>
              <a:rPr lang="en-US" dirty="0"/>
              <a:t>Timing correctness</a:t>
            </a:r>
          </a:p>
          <a:p>
            <a:r>
              <a:rPr lang="en-US" dirty="0"/>
              <a:t>Safety, security and fault handling</a:t>
            </a:r>
          </a:p>
          <a:p>
            <a:r>
              <a:rPr lang="en-US" dirty="0"/>
              <a:t>Resource usage (CPU, memory, power)</a:t>
            </a:r>
          </a:p>
          <a:p>
            <a:r>
              <a:rPr lang="en-US" dirty="0"/>
              <a:t>Reliability over long lifetimes</a:t>
            </a:r>
          </a:p>
          <a:p>
            <a:endParaRPr lang="en-US" dirty="0"/>
          </a:p>
          <a:p>
            <a:r>
              <a:rPr lang="en-US" dirty="0"/>
              <a:t>What can be non-functional responsibilities of an elevator controller?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045D41-AB28-4FC5-B1AB-8E9370D98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101CED-5829-44BA-B556-3A8F6B85F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0741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5A339-EFE9-4829-89D1-E1172E682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Important to understand and distinguish the two responsibilities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FA31A0-A595-4EC2-931A-643CD3539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B7BE3A-77C5-41E2-AEBA-655058D2B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22</a:t>
            </a:fld>
            <a:endParaRPr lang="en-US" altLang="en-US"/>
          </a:p>
        </p:txBody>
      </p:sp>
      <p:pic>
        <p:nvPicPr>
          <p:cNvPr id="3074" name="Picture 2" descr="Functional vs Nonfunctional Requirements: what is the difference [with  Examples] | DDI Development">
            <a:extLst>
              <a:ext uri="{FF2B5EF4-FFF2-40B4-BE49-F238E27FC236}">
                <a16:creationId xmlns:a16="http://schemas.microsoft.com/office/drawing/2014/main" id="{65AF73D9-985D-4484-BB08-93C8A2A245F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225" b="5762"/>
          <a:stretch/>
        </p:blipFill>
        <p:spPr bwMode="auto">
          <a:xfrm>
            <a:off x="1143000" y="1371600"/>
            <a:ext cx="6858000" cy="5095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97554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10884</TotalTime>
  <Words>857</Words>
  <Application>Microsoft Office PowerPoint</Application>
  <PresentationFormat>On-screen Show (4:3)</PresentationFormat>
  <Paragraphs>209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Software for Embedded Systems</vt:lpstr>
      <vt:lpstr>Introduction to Embedded Systems</vt:lpstr>
      <vt:lpstr>Administratrivia</vt:lpstr>
      <vt:lpstr>What is an embedded system?</vt:lpstr>
      <vt:lpstr>Embedded systems vs general purpose computers</vt:lpstr>
      <vt:lpstr>Software development for embedded systems – challenges</vt:lpstr>
      <vt:lpstr>Projects</vt:lpstr>
      <vt:lpstr>The role of software in embedded systems</vt:lpstr>
      <vt:lpstr>Embedded system responsibilities</vt:lpstr>
      <vt:lpstr>Embedded systems moving from hardware- to software-centric</vt:lpstr>
      <vt:lpstr>Embedded systems moving from hardware- to software-centric</vt:lpstr>
      <vt:lpstr>Embedded systems moving from hardware- to software-centric</vt:lpstr>
      <vt:lpstr>Embedded vs general-purpose software</vt:lpstr>
      <vt:lpstr>Embedded vs general-purpose software: example</vt:lpstr>
      <vt:lpstr>What this means</vt:lpstr>
      <vt:lpstr>Software – hardware interaction</vt:lpstr>
      <vt:lpstr>State-dependent behavior in embedded software</vt:lpstr>
      <vt:lpstr>Emphasis of safety</vt:lpstr>
      <vt:lpstr>Disciplined system design and coding</vt:lpstr>
      <vt:lpstr>Functional responsibilities</vt:lpstr>
      <vt:lpstr>Non-functional responsibilities</vt:lpstr>
      <vt:lpstr>Important to understand and distinguish the two responsibilities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582</cp:revision>
  <dcterms:created xsi:type="dcterms:W3CDTF">2010-01-15T20:22:21Z</dcterms:created>
  <dcterms:modified xsi:type="dcterms:W3CDTF">2026-01-08T06:21:46Z</dcterms:modified>
</cp:coreProperties>
</file>