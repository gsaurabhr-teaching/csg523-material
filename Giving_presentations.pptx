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2"/>
  </p:notesMasterIdLst>
  <p:sldIdLst>
    <p:sldId id="261" r:id="rId2"/>
    <p:sldId id="260" r:id="rId3"/>
    <p:sldId id="262" r:id="rId4"/>
    <p:sldId id="268" r:id="rId5"/>
    <p:sldId id="257" r:id="rId6"/>
    <p:sldId id="266" r:id="rId7"/>
    <p:sldId id="263" r:id="rId8"/>
    <p:sldId id="264" r:id="rId9"/>
    <p:sldId id="267" r:id="rId10"/>
    <p:sldId id="269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browse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89347" autoAdjust="0"/>
  </p:normalViewPr>
  <p:slideViewPr>
    <p:cSldViewPr snapToGrid="0">
      <p:cViewPr varScale="1">
        <p:scale>
          <a:sx n="92" d="100"/>
          <a:sy n="92" d="100"/>
        </p:scale>
        <p:origin x="51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9997402-70A7-42D4-9D29-59DA96DF7E88}" type="datetimeFigureOut">
              <a:rPr lang="en-US" smtClean="0"/>
              <a:t>5/19/2024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644DDBC-031B-4DC2-9606-EE4251E2AD6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326709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dirty="0"/>
              <a:t>30,000 attendees</a:t>
            </a:r>
          </a:p>
          <a:p>
            <a:r>
              <a:rPr lang="en-IN" dirty="0"/>
              <a:t>14,000 talks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644DDBC-031B-4DC2-9606-EE4251E2AD6C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641264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dirty="0"/>
              <a:t>Context – depends on audience, but in any situation, it is good to spend time building it in depth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644DDBC-031B-4DC2-9606-EE4251E2AD6C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176169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61E508-93F4-4378-BCEE-226E27DDCE2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2037E50-0E3F-4507-A67D-F70E41018F9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2CC73A9-A122-416F-BCAD-5C4093D1E7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DB9D15-641A-4CEA-85DF-A08473370744}" type="datetimeFigureOut">
              <a:rPr lang="en-US" smtClean="0"/>
              <a:t>5/19/2024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3437D21-37EB-422B-813E-F2C6874B2D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7E0AE82-CCC5-40CB-8328-B1EF9D0697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E0E19F-213E-449A-BA0A-080B93A6A8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601993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30AD46-9B14-427A-ABFA-18FA7A70F4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8008" y="136526"/>
            <a:ext cx="11971492" cy="544512"/>
          </a:xfrm>
        </p:spPr>
        <p:txBody>
          <a:bodyPr>
            <a:normAutofit/>
          </a:bodyPr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59C178-D8CC-4C04-9165-F805F0D11D1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8007" y="903133"/>
            <a:ext cx="11971493" cy="5384380"/>
          </a:xfrm>
        </p:spPr>
        <p:txBody>
          <a:bodyPr/>
          <a:lstStyle>
            <a:lvl1pPr>
              <a:defRPr sz="2600"/>
            </a:lvl1pPr>
            <a:lvl2pPr>
              <a:defRPr sz="2300"/>
            </a:lvl2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EBD1AAF-9DBB-4837-A8AE-C1FF1E4280E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18007" y="6401894"/>
            <a:ext cx="2743200" cy="365125"/>
          </a:xfrm>
        </p:spPr>
        <p:txBody>
          <a:bodyPr/>
          <a:lstStyle/>
          <a:p>
            <a:fld id="{BADB9D15-641A-4CEA-85DF-A08473370744}" type="datetimeFigureOut">
              <a:rPr lang="en-US" smtClean="0"/>
              <a:t>5/19/2024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15B87C1-7728-4698-857B-3D4E491268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401894"/>
            <a:ext cx="4114800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9E57C2F-A86E-4C36-B4BA-0EB5E7EEB3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46300" y="6401894"/>
            <a:ext cx="2743200" cy="365125"/>
          </a:xfrm>
        </p:spPr>
        <p:txBody>
          <a:bodyPr/>
          <a:lstStyle/>
          <a:p>
            <a:fld id="{EAE0E19F-213E-449A-BA0A-080B93A6A8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920138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6032B2-D2A4-4DD0-9914-DD4C055928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CD2245C-04FB-45D4-9E4D-66EEF965D1E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E94C662-ED06-4259-8CD3-D4EFA3B7E8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DB9D15-641A-4CEA-85DF-A08473370744}" type="datetimeFigureOut">
              <a:rPr lang="en-US" smtClean="0"/>
              <a:t>5/19/2024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4BC2846-8410-4F70-A5A7-F86F17FB84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CDA3D71-C09C-4E8D-89E8-83088412D3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E0E19F-213E-449A-BA0A-080B93A6A8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61551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8AC85C-AD84-419A-9605-312B24AFBD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C5AD35-354E-4A38-8C4A-3ED2B2F21F6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538EFD2-657E-487A-9DDA-B072845F891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AE5BAEB-50DE-4CC6-B8B9-8225CAE597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DB9D15-641A-4CEA-85DF-A08473370744}" type="datetimeFigureOut">
              <a:rPr lang="en-US" smtClean="0"/>
              <a:t>5/19/2024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0D9754D-AF83-42F9-8D95-16E38A346D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1BFD3CE-A263-4332-987C-FCDA2411E5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E0E19F-213E-449A-BA0A-080B93A6A8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700950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5492C3-5BD4-4122-A537-C154F13CE1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2D3FBD6-6EB0-471C-AC63-794950AE40E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CC5ACAC-52C6-468C-A16E-36009089FAA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066CEA7-0C51-4A21-80E0-C16C4AB01CA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DE9FBA0-03EA-4603-8369-C0F53D73F21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293956D-9668-46DE-BE8D-B2D3967EEE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DB9D15-641A-4CEA-85DF-A08473370744}" type="datetimeFigureOut">
              <a:rPr lang="en-US" smtClean="0"/>
              <a:t>5/19/2024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9637819-CC8A-4648-BF2E-74DEC143E6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E2A283A-60AC-4D47-AC4D-C433E9D50F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E0E19F-213E-449A-BA0A-080B93A6A8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133640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CA8CCF-D47A-41D0-890B-26557BF41B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A6929B4-7F58-4117-8BDC-4B67BA8F70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DB9D15-641A-4CEA-85DF-A08473370744}" type="datetimeFigureOut">
              <a:rPr lang="en-US" smtClean="0"/>
              <a:t>5/19/2024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6875C69-98B5-41B2-AF10-3613B39B1E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39E6584-F0C7-4756-B09C-9C3BC9ACBD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E0E19F-213E-449A-BA0A-080B93A6A8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628411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E166256-04A5-4279-B077-EDA3131CC9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DB9D15-641A-4CEA-85DF-A08473370744}" type="datetimeFigureOut">
              <a:rPr lang="en-US" smtClean="0"/>
              <a:t>5/19/2024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C3B0946-DF7E-4CA8-8F99-073527FAE3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8767CBC-BEBD-44C4-BEA0-08A0B26831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E0E19F-213E-449A-BA0A-080B93A6A8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27611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D6F4E6-2BA9-4476-968B-9AE03134AE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10A917-60DD-48AF-A16B-DA79EA08F53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6B7F3DC-5D86-4235-B83F-66BAE2361B1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E63D312-ACEC-4D0C-83E4-D55779DF90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DB9D15-641A-4CEA-85DF-A08473370744}" type="datetimeFigureOut">
              <a:rPr lang="en-US" smtClean="0"/>
              <a:t>5/19/2024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3138BDF-F098-41E1-A447-50EEC1AC72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ABB0794-61E4-40BD-A1C4-BA04EF69CC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E0E19F-213E-449A-BA0A-080B93A6A8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60317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4ED387-8F23-4BB9-AAED-1FD7A085D9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90F57F6-F42B-400F-90FC-696A1DB1697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7B2DB4D-9615-433E-AFFE-B0F6B420E3D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29184A5-C3A9-405D-B40E-27A90AE856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DB9D15-641A-4CEA-85DF-A08473370744}" type="datetimeFigureOut">
              <a:rPr lang="en-US" smtClean="0"/>
              <a:t>5/19/2024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F2738B6-C7E7-44BE-9686-3FEAB94B9A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29A52BA-A3D6-4588-B280-FD86E98666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E0E19F-213E-449A-BA0A-080B93A6A8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121000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1CDAC3-005A-4348-89B9-ADB4EFFC63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83E5B68-9409-4B0E-BE39-05D1FA337F0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5BFAD3B-578D-46D2-A3BF-6A078BE784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DB9D15-641A-4CEA-85DF-A08473370744}" type="datetimeFigureOut">
              <a:rPr lang="en-US" smtClean="0"/>
              <a:t>5/19/2024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7E784DC-BBF0-4958-86FB-D8DC48F204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B6245FC-97B1-456C-8F9F-0B58519C3F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E0E19F-213E-449A-BA0A-080B93A6A8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096855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554FF4B-0782-40C1-A830-7AD73C24D40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B202563-676A-45B6-A774-136735E35EB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9D93251-E1B3-401A-8E54-58573F9C94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DB9D15-641A-4CEA-85DF-A08473370744}" type="datetimeFigureOut">
              <a:rPr lang="en-US" smtClean="0"/>
              <a:t>5/19/2024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A5D5FDD-F031-44E0-89EE-AF4DA4ECCB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8E543B2-D559-4395-8C0E-C4501D74E6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E0E19F-213E-449A-BA0A-080B93A6A8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408071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F03BBAC-FA91-45D1-99A9-E21B5C5597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917" y="136525"/>
            <a:ext cx="12003860" cy="76169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706DE75-F671-4C8C-8A19-00D3C5C626E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9917" y="1063933"/>
            <a:ext cx="12003860" cy="518311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5AFA81A-593D-434B-AD01-9DE02EE4171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09917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ADB9D15-641A-4CEA-85DF-A08473370744}" type="datetimeFigureOut">
              <a:rPr lang="en-US" smtClean="0"/>
              <a:t>5/19/2024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7AB781-33CD-4CA8-823A-D92352DF5DD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2DBFF92-A911-43FA-A6EC-B2CBD9F6C8B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370577" y="6356349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AE0E19F-213E-449A-BA0A-080B93A6A8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92736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3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CD67C5-3C2D-4CEC-B776-2BC96209F02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IN" sz="4000" dirty="0">
                <a:solidFill>
                  <a:srgbClr val="FF0000"/>
                </a:solidFill>
                <a:latin typeface="+mn-lt"/>
              </a:rPr>
              <a:t>Giving a seminar talk – how to present?</a:t>
            </a:r>
            <a:endParaRPr lang="en-US" sz="4000" dirty="0">
              <a:solidFill>
                <a:srgbClr val="FF0000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51156069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Our members&amp;#39; posters at SFN 2019 - Neuroservices-Alliance">
            <a:extLst>
              <a:ext uri="{FF2B5EF4-FFF2-40B4-BE49-F238E27FC236}">
                <a16:creationId xmlns:a16="http://schemas.microsoft.com/office/drawing/2014/main" id="{BC620046-B048-4598-B7CB-4694A8E5BA3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1220" y="1975758"/>
            <a:ext cx="4733923" cy="31559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itle 1">
            <a:extLst>
              <a:ext uri="{FF2B5EF4-FFF2-40B4-BE49-F238E27FC236}">
                <a16:creationId xmlns:a16="http://schemas.microsoft.com/office/drawing/2014/main" id="{2FDB1C11-D8DC-4CD5-8EDE-DCC576ADF962}"/>
              </a:ext>
            </a:extLst>
          </p:cNvPr>
          <p:cNvSpPr txBox="1">
            <a:spLocks/>
          </p:cNvSpPr>
          <p:nvPr/>
        </p:nvSpPr>
        <p:spPr>
          <a:xfrm>
            <a:off x="330279" y="358621"/>
            <a:ext cx="11507935" cy="544512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62500" lnSpcReduction="2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IN" dirty="0">
                <a:solidFill>
                  <a:srgbClr val="FF0000"/>
                </a:solidFill>
                <a:latin typeface="+mn-lt"/>
              </a:rPr>
              <a:t>Understand the context</a:t>
            </a:r>
            <a:endParaRPr lang="en-US" dirty="0">
              <a:solidFill>
                <a:srgbClr val="FF0000"/>
              </a:solidFill>
              <a:latin typeface="+mn-lt"/>
            </a:endParaRP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E11E13D0-BD30-44A5-851A-7249889421FB}"/>
              </a:ext>
            </a:extLst>
          </p:cNvPr>
          <p:cNvSpPr txBox="1">
            <a:spLocks/>
          </p:cNvSpPr>
          <p:nvPr/>
        </p:nvSpPr>
        <p:spPr>
          <a:xfrm>
            <a:off x="5437414" y="1975758"/>
            <a:ext cx="6400800" cy="3155950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/>
              <a:t>Society for Neuroscience conference every year</a:t>
            </a:r>
          </a:p>
          <a:p>
            <a:pPr marL="342900" indent="-34290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/>
              <a:t>5 days, sessions from 8 am to 9 pm</a:t>
            </a:r>
          </a:p>
          <a:p>
            <a:pPr marL="342900" indent="-34290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/>
              <a:t>How many people do you think attended?</a:t>
            </a:r>
          </a:p>
          <a:p>
            <a:pPr marL="342900" indent="-34290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/>
              <a:t>How many talks?</a:t>
            </a:r>
          </a:p>
          <a:p>
            <a:pPr marL="342900" indent="-34290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/>
              <a:t>How many posters?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348909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Our members&amp;#39; posters at SFN 2019 - Neuroservices-Alliance">
            <a:extLst>
              <a:ext uri="{FF2B5EF4-FFF2-40B4-BE49-F238E27FC236}">
                <a16:creationId xmlns:a16="http://schemas.microsoft.com/office/drawing/2014/main" id="{BC620046-B048-4598-B7CB-4694A8E5BA3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1220" y="1975758"/>
            <a:ext cx="4733923" cy="31559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itle 1">
            <a:extLst>
              <a:ext uri="{FF2B5EF4-FFF2-40B4-BE49-F238E27FC236}">
                <a16:creationId xmlns:a16="http://schemas.microsoft.com/office/drawing/2014/main" id="{2FDB1C11-D8DC-4CD5-8EDE-DCC576ADF962}"/>
              </a:ext>
            </a:extLst>
          </p:cNvPr>
          <p:cNvSpPr txBox="1">
            <a:spLocks/>
          </p:cNvSpPr>
          <p:nvPr/>
        </p:nvSpPr>
        <p:spPr>
          <a:xfrm>
            <a:off x="330279" y="358621"/>
            <a:ext cx="11507935" cy="544512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62500" lnSpcReduction="2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IN" dirty="0">
                <a:solidFill>
                  <a:srgbClr val="FF0000"/>
                </a:solidFill>
                <a:latin typeface="+mn-lt"/>
              </a:rPr>
              <a:t>Understand the context</a:t>
            </a:r>
            <a:endParaRPr lang="en-US" dirty="0">
              <a:solidFill>
                <a:srgbClr val="FF0000"/>
              </a:solidFill>
              <a:latin typeface="+mn-lt"/>
            </a:endParaRPr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1E08C618-DCF9-453E-8F25-C3B63B0061A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82343" y="841730"/>
            <a:ext cx="6018437" cy="54369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1" name="Group 10">
            <a:extLst>
              <a:ext uri="{FF2B5EF4-FFF2-40B4-BE49-F238E27FC236}">
                <a16:creationId xmlns:a16="http://schemas.microsoft.com/office/drawing/2014/main" id="{0F188F7F-883F-42F5-8BA8-1E99F7730517}"/>
              </a:ext>
            </a:extLst>
          </p:cNvPr>
          <p:cNvGrpSpPr/>
          <p:nvPr/>
        </p:nvGrpSpPr>
        <p:grpSpPr>
          <a:xfrm>
            <a:off x="1689685" y="2050473"/>
            <a:ext cx="5976497" cy="4668982"/>
            <a:chOff x="1689685" y="2050473"/>
            <a:chExt cx="5976497" cy="4668982"/>
          </a:xfrm>
        </p:grpSpPr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DF8252DB-12E5-4545-92EA-E2BF47CDF2BF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689685" y="2798619"/>
              <a:ext cx="3095075" cy="3920836"/>
            </a:xfrm>
            <a:prstGeom prst="rect">
              <a:avLst/>
            </a:prstGeom>
          </p:spPr>
        </p:pic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3654F9A9-4669-4688-91EE-B40D7D273CC1}"/>
                </a:ext>
              </a:extLst>
            </p:cNvPr>
            <p:cNvCxnSpPr/>
            <p:nvPr/>
          </p:nvCxnSpPr>
          <p:spPr>
            <a:xfrm flipV="1">
              <a:off x="4276436" y="2050473"/>
              <a:ext cx="3362037" cy="831272"/>
            </a:xfrm>
            <a:prstGeom prst="line">
              <a:avLst/>
            </a:prstGeom>
            <a:ln w="76200"/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A4176234-0C06-4F62-B559-D174B5B5FAC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571107" y="2050473"/>
              <a:ext cx="3095075" cy="4364182"/>
            </a:xfrm>
            <a:prstGeom prst="line">
              <a:avLst/>
            </a:prstGeom>
            <a:ln w="76200"/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3536336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0232D2-F57E-FEE7-5F06-933C4B1028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FF0000"/>
                </a:solidFill>
              </a:rPr>
              <a:t>Understand the goal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1B5254-C254-1EE4-2714-9A4B893AC27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8008" y="1007308"/>
            <a:ext cx="6664758" cy="5384380"/>
          </a:xfrm>
        </p:spPr>
        <p:txBody>
          <a:bodyPr/>
          <a:lstStyle/>
          <a:p>
            <a:r>
              <a:rPr lang="en-US" dirty="0"/>
              <a:t>Impress the professor</a:t>
            </a:r>
          </a:p>
          <a:p>
            <a:endParaRPr lang="en-US" dirty="0"/>
          </a:p>
          <a:p>
            <a:r>
              <a:rPr lang="en-US" dirty="0"/>
              <a:t>Impress the audience</a:t>
            </a:r>
          </a:p>
          <a:p>
            <a:endParaRPr lang="en-US" dirty="0"/>
          </a:p>
          <a:p>
            <a:r>
              <a:rPr lang="en-US" dirty="0"/>
              <a:t>Help the audience understand your work</a:t>
            </a:r>
          </a:p>
          <a:p>
            <a:endParaRPr lang="en-US" dirty="0"/>
          </a:p>
          <a:p>
            <a:r>
              <a:rPr lang="en-US" dirty="0"/>
              <a:t>Help the audience understand why it is cool</a:t>
            </a:r>
          </a:p>
          <a:p>
            <a:endParaRPr lang="en-US" dirty="0"/>
          </a:p>
          <a:p>
            <a:r>
              <a:rPr lang="en-US" dirty="0"/>
              <a:t>Get feedback / create discussion / find collaborations / extend your work further</a:t>
            </a:r>
          </a:p>
          <a:p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4AAEAB1-A95F-47C3-D819-0B5E5B1FBE3A}"/>
              </a:ext>
            </a:extLst>
          </p:cNvPr>
          <p:cNvSpPr txBox="1"/>
          <p:nvPr/>
        </p:nvSpPr>
        <p:spPr>
          <a:xfrm>
            <a:off x="3450387" y="2008735"/>
            <a:ext cx="611143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Better than trying to impress the professor :P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9B61B257-3629-B546-0DEE-5383123BA16A}"/>
              </a:ext>
            </a:extLst>
          </p:cNvPr>
          <p:cNvCxnSpPr/>
          <p:nvPr/>
        </p:nvCxnSpPr>
        <p:spPr>
          <a:xfrm>
            <a:off x="393539" y="1215342"/>
            <a:ext cx="3056848" cy="0"/>
          </a:xfrm>
          <a:prstGeom prst="line">
            <a:avLst/>
          </a:prstGeom>
          <a:ln w="381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6491155-5502-2F84-EE99-BB61C9B1BDBC}"/>
              </a:ext>
            </a:extLst>
          </p:cNvPr>
          <p:cNvCxnSpPr/>
          <p:nvPr/>
        </p:nvCxnSpPr>
        <p:spPr>
          <a:xfrm>
            <a:off x="393539" y="2193401"/>
            <a:ext cx="3056848" cy="0"/>
          </a:xfrm>
          <a:prstGeom prst="line">
            <a:avLst/>
          </a:prstGeom>
          <a:ln w="381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187248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5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05C80F-2D57-46E9-968D-CC7DB6D8D2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0279" y="358621"/>
            <a:ext cx="11507935" cy="544512"/>
          </a:xfrm>
        </p:spPr>
        <p:txBody>
          <a:bodyPr>
            <a:normAutofit/>
          </a:bodyPr>
          <a:lstStyle/>
          <a:p>
            <a:r>
              <a:rPr lang="en-IN" dirty="0">
                <a:solidFill>
                  <a:srgbClr val="FF0000"/>
                </a:solidFill>
                <a:latin typeface="+mn-lt"/>
              </a:rPr>
              <a:t>Have a precise purpose for the overall presentation</a:t>
            </a:r>
            <a:endParaRPr lang="en-US" dirty="0">
              <a:solidFill>
                <a:srgbClr val="FF0000"/>
              </a:solidFill>
              <a:latin typeface="+mn-lt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6A89A1-DBF3-4C20-998B-6E25898C9B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30279" y="1625599"/>
            <a:ext cx="11507935" cy="4747491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IN" sz="2400" dirty="0">
                <a:solidFill>
                  <a:srgbClr val="FF0000"/>
                </a:solidFill>
              </a:rPr>
              <a:t>What do you want your audience to understand?</a:t>
            </a:r>
          </a:p>
          <a:p>
            <a:pPr>
              <a:lnSpc>
                <a:spcPct val="150000"/>
              </a:lnSpc>
            </a:pPr>
            <a:r>
              <a:rPr lang="en-IN" sz="2400" dirty="0"/>
              <a:t>You should know exactly what you want to convey</a:t>
            </a:r>
          </a:p>
          <a:p>
            <a:pPr>
              <a:lnSpc>
                <a:spcPct val="150000"/>
              </a:lnSpc>
            </a:pPr>
            <a:r>
              <a:rPr lang="en-US" sz="2400" dirty="0"/>
              <a:t>Very few points will be remembered</a:t>
            </a:r>
          </a:p>
          <a:p>
            <a:pPr>
              <a:lnSpc>
                <a:spcPct val="150000"/>
              </a:lnSpc>
            </a:pPr>
            <a:r>
              <a:rPr lang="en-US" sz="2400" dirty="0"/>
              <a:t>What are the 3 most important points you want them to </a:t>
            </a:r>
            <a:r>
              <a:rPr lang="en-US" sz="2400" b="1" dirty="0"/>
              <a:t>take home</a:t>
            </a:r>
            <a:r>
              <a:rPr lang="en-US" sz="2400" dirty="0"/>
              <a:t>?</a:t>
            </a:r>
          </a:p>
          <a:p>
            <a:pPr>
              <a:lnSpc>
                <a:spcPct val="150000"/>
              </a:lnSpc>
            </a:pPr>
            <a:r>
              <a:rPr lang="en-US" sz="2400" dirty="0">
                <a:solidFill>
                  <a:srgbClr val="FF0000"/>
                </a:solidFill>
              </a:rPr>
              <a:t>What is your audience?</a:t>
            </a:r>
            <a:r>
              <a:rPr lang="en-US" sz="2400" dirty="0"/>
              <a:t> Put yourself in the place of the audience</a:t>
            </a:r>
          </a:p>
          <a:p>
            <a:pPr>
              <a:lnSpc>
                <a:spcPct val="150000"/>
              </a:lnSpc>
            </a:pPr>
            <a:r>
              <a:rPr lang="en-US" sz="2400" dirty="0">
                <a:solidFill>
                  <a:srgbClr val="FF0000"/>
                </a:solidFill>
              </a:rPr>
              <a:t>How long do you have? </a:t>
            </a:r>
            <a:r>
              <a:rPr lang="en-US" sz="2400" dirty="0"/>
              <a:t>1, 3, 5, 10, 20, 30, 60 minutes to present the same work</a:t>
            </a:r>
          </a:p>
          <a:p>
            <a:pPr>
              <a:lnSpc>
                <a:spcPct val="150000"/>
              </a:lnSpc>
            </a:pPr>
            <a:r>
              <a:rPr lang="en-US" sz="2400" dirty="0"/>
              <a:t>Typically give 2 mins for each slide (in practice 1-3 mins per slide works well)</a:t>
            </a:r>
          </a:p>
        </p:txBody>
      </p:sp>
    </p:spTree>
    <p:extLst>
      <p:ext uri="{BB962C8B-B14F-4D97-AF65-F5344CB8AC3E}">
        <p14:creationId xmlns:p14="http://schemas.microsoft.com/office/powerpoint/2010/main" val="36447219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05C80F-2D57-46E9-968D-CC7DB6D8D2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0279" y="358621"/>
            <a:ext cx="11507935" cy="544512"/>
          </a:xfrm>
        </p:spPr>
        <p:txBody>
          <a:bodyPr>
            <a:normAutofit/>
          </a:bodyPr>
          <a:lstStyle/>
          <a:p>
            <a:r>
              <a:rPr lang="en-IN" dirty="0">
                <a:solidFill>
                  <a:srgbClr val="FF0000"/>
                </a:solidFill>
                <a:latin typeface="+mn-lt"/>
              </a:rPr>
              <a:t>Structuring the flow of your presentation</a:t>
            </a:r>
            <a:endParaRPr lang="en-US" b="1" dirty="0">
              <a:solidFill>
                <a:srgbClr val="FF0000"/>
              </a:solidFill>
              <a:latin typeface="+mn-lt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6A89A1-DBF3-4C20-998B-6E25898C9B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30278" y="1133763"/>
            <a:ext cx="11507935" cy="5451763"/>
          </a:xfrm>
        </p:spPr>
        <p:txBody>
          <a:bodyPr>
            <a:normAutofit fontScale="92500" lnSpcReduction="10000"/>
          </a:bodyPr>
          <a:lstStyle/>
          <a:p>
            <a:pPr>
              <a:lnSpc>
                <a:spcPct val="150000"/>
              </a:lnSpc>
            </a:pPr>
            <a:r>
              <a:rPr lang="en-IN" sz="2400" b="1" dirty="0"/>
              <a:t>Build expectation</a:t>
            </a:r>
            <a:r>
              <a:rPr lang="en-IN" sz="2400" dirty="0"/>
              <a:t> – give the core point up front (title of presentation)</a:t>
            </a:r>
          </a:p>
          <a:p>
            <a:pPr>
              <a:lnSpc>
                <a:spcPct val="150000"/>
              </a:lnSpc>
            </a:pPr>
            <a:r>
              <a:rPr lang="en-IN" sz="2400" dirty="0"/>
              <a:t>Spend time building the context – what is the status quo?</a:t>
            </a:r>
          </a:p>
          <a:p>
            <a:pPr>
              <a:lnSpc>
                <a:spcPct val="150000"/>
              </a:lnSpc>
            </a:pPr>
            <a:r>
              <a:rPr lang="en-IN" sz="2400" dirty="0"/>
              <a:t>When the audience understand the problem, they will be eager to hear your solution</a:t>
            </a:r>
          </a:p>
          <a:p>
            <a:pPr>
              <a:lnSpc>
                <a:spcPct val="150000"/>
              </a:lnSpc>
            </a:pPr>
            <a:r>
              <a:rPr lang="en-US" sz="2400" dirty="0">
                <a:solidFill>
                  <a:srgbClr val="FF0000"/>
                </a:solidFill>
              </a:rPr>
              <a:t>Always tell the audience what they should expect before showing it</a:t>
            </a:r>
          </a:p>
          <a:p>
            <a:pPr>
              <a:lnSpc>
                <a:spcPct val="150000"/>
              </a:lnSpc>
            </a:pPr>
            <a:r>
              <a:rPr lang="en-US" sz="2400" dirty="0"/>
              <a:t>Show </a:t>
            </a:r>
            <a:r>
              <a:rPr lang="en-US" sz="2400" dirty="0">
                <a:solidFill>
                  <a:srgbClr val="FF0000"/>
                </a:solidFill>
              </a:rPr>
              <a:t>minimum possible information </a:t>
            </a:r>
            <a:r>
              <a:rPr lang="en-US" sz="2400" dirty="0"/>
              <a:t>required for reaching the </a:t>
            </a:r>
            <a:r>
              <a:rPr lang="en-US" sz="2400" b="1" dirty="0"/>
              <a:t>take home</a:t>
            </a:r>
            <a:r>
              <a:rPr lang="en-US" sz="2400" dirty="0"/>
              <a:t> points</a:t>
            </a:r>
          </a:p>
          <a:p>
            <a:pPr>
              <a:lnSpc>
                <a:spcPct val="150000"/>
              </a:lnSpc>
            </a:pPr>
            <a:r>
              <a:rPr lang="en-IN" sz="2400" dirty="0"/>
              <a:t>We are great fans of our own work, but others needn’t be</a:t>
            </a:r>
          </a:p>
          <a:p>
            <a:pPr>
              <a:lnSpc>
                <a:spcPct val="150000"/>
              </a:lnSpc>
            </a:pPr>
            <a:r>
              <a:rPr lang="en-IN" sz="2400" dirty="0"/>
              <a:t>History does not matter: </a:t>
            </a:r>
            <a:r>
              <a:rPr lang="en-IN" sz="2400" strike="sngStrike" dirty="0"/>
              <a:t>‘I did x, it did not work, so I did y and we found out z’</a:t>
            </a:r>
          </a:p>
          <a:p>
            <a:pPr>
              <a:lnSpc>
                <a:spcPct val="150000"/>
              </a:lnSpc>
            </a:pPr>
            <a:r>
              <a:rPr lang="en-US" sz="2400" dirty="0"/>
              <a:t>Work back through the final point: </a:t>
            </a:r>
            <a:r>
              <a:rPr lang="en-US" sz="2000" dirty="0"/>
              <a:t>do I need this for the final point? If not, remove it</a:t>
            </a:r>
          </a:p>
          <a:p>
            <a:pPr>
              <a:lnSpc>
                <a:spcPct val="150000"/>
              </a:lnSpc>
            </a:pPr>
            <a:r>
              <a:rPr lang="en-US" sz="2400" dirty="0"/>
              <a:t>In the conclusion, summarize the </a:t>
            </a:r>
            <a:r>
              <a:rPr lang="en-US" sz="2400" b="1" dirty="0"/>
              <a:t>take home points</a:t>
            </a:r>
            <a:r>
              <a:rPr lang="en-US" sz="2400" dirty="0"/>
              <a:t> with </a:t>
            </a:r>
            <a:r>
              <a:rPr lang="en-US" sz="2400" b="1" dirty="0"/>
              <a:t>take home plots or pictures</a:t>
            </a:r>
            <a:endParaRPr lang="en-US" sz="2400" dirty="0"/>
          </a:p>
          <a:p>
            <a:pPr>
              <a:lnSpc>
                <a:spcPct val="150000"/>
              </a:lnSpc>
            </a:pP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33157051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05C80F-2D57-46E9-968D-CC7DB6D8D2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0279" y="358621"/>
            <a:ext cx="11507935" cy="544512"/>
          </a:xfrm>
        </p:spPr>
        <p:txBody>
          <a:bodyPr>
            <a:normAutofit/>
          </a:bodyPr>
          <a:lstStyle/>
          <a:p>
            <a:r>
              <a:rPr lang="en-IN" dirty="0">
                <a:solidFill>
                  <a:srgbClr val="FF0000"/>
                </a:solidFill>
                <a:latin typeface="+mn-lt"/>
              </a:rPr>
              <a:t>Have a precise purpose for </a:t>
            </a:r>
            <a:r>
              <a:rPr lang="en-IN" b="1" dirty="0">
                <a:solidFill>
                  <a:srgbClr val="FF0000"/>
                </a:solidFill>
                <a:latin typeface="+mn-lt"/>
              </a:rPr>
              <a:t>each slide</a:t>
            </a:r>
            <a:endParaRPr lang="en-US" b="1" dirty="0">
              <a:solidFill>
                <a:srgbClr val="FF0000"/>
              </a:solidFill>
              <a:latin typeface="+mn-lt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6A89A1-DBF3-4C20-998B-6E25898C9B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30279" y="1114999"/>
            <a:ext cx="11507935" cy="5525946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IN" sz="2400" dirty="0"/>
              <a:t>One slide = one point</a:t>
            </a:r>
          </a:p>
          <a:p>
            <a:pPr>
              <a:lnSpc>
                <a:spcPct val="150000"/>
              </a:lnSpc>
            </a:pPr>
            <a:r>
              <a:rPr lang="en-US" sz="2400" dirty="0"/>
              <a:t>Title of the slide should convey the point of the slide in few words</a:t>
            </a:r>
          </a:p>
          <a:p>
            <a:pPr lvl="1">
              <a:lnSpc>
                <a:spcPct val="150000"/>
              </a:lnSpc>
            </a:pPr>
            <a:r>
              <a:rPr lang="en-US" sz="2100" dirty="0"/>
              <a:t>Avoid generic or vague titles: ‘experiment’, ‘results’, ‘literature review’</a:t>
            </a:r>
          </a:p>
          <a:p>
            <a:pPr lvl="1">
              <a:lnSpc>
                <a:spcPct val="150000"/>
              </a:lnSpc>
            </a:pPr>
            <a:r>
              <a:rPr lang="en-US" sz="2100" dirty="0" err="1"/>
              <a:t>Eg</a:t>
            </a:r>
            <a:r>
              <a:rPr lang="en-US" sz="2100" dirty="0"/>
              <a:t>: </a:t>
            </a:r>
            <a:r>
              <a:rPr lang="en-US" sz="2100" strike="sngStrike" dirty="0"/>
              <a:t>‘two resistors in series’</a:t>
            </a:r>
            <a:r>
              <a:rPr lang="en-US" sz="2100" dirty="0"/>
              <a:t>   ‘two resistors in series add up’</a:t>
            </a:r>
            <a:endParaRPr lang="en-US" sz="2100" strike="sngStrike" dirty="0"/>
          </a:p>
          <a:p>
            <a:pPr>
              <a:lnSpc>
                <a:spcPct val="150000"/>
              </a:lnSpc>
            </a:pPr>
            <a:r>
              <a:rPr lang="en-US" sz="2400" dirty="0"/>
              <a:t>Try to minimize text. Eliminate equations.</a:t>
            </a:r>
            <a:endParaRPr lang="en-US" sz="2100" dirty="0"/>
          </a:p>
          <a:p>
            <a:pPr>
              <a:lnSpc>
                <a:spcPct val="150000"/>
              </a:lnSpc>
            </a:pPr>
            <a:r>
              <a:rPr lang="en-US" sz="2100" dirty="0"/>
              <a:t>Graphs and pictures are easier to understand and remember</a:t>
            </a:r>
          </a:p>
          <a:p>
            <a:pPr>
              <a:lnSpc>
                <a:spcPct val="150000"/>
              </a:lnSpc>
            </a:pPr>
            <a:r>
              <a:rPr lang="en-US" sz="2100" dirty="0"/>
              <a:t>Use graphical ways to explain the math when possible</a:t>
            </a:r>
          </a:p>
          <a:p>
            <a:pPr>
              <a:lnSpc>
                <a:spcPct val="150000"/>
              </a:lnSpc>
            </a:pPr>
            <a:r>
              <a:rPr lang="en-US" sz="2100" dirty="0"/>
              <a:t>Equations make it very easy to lose audience (except in very specific cases)</a:t>
            </a:r>
          </a:p>
          <a:p>
            <a:pPr>
              <a:lnSpc>
                <a:spcPct val="150000"/>
              </a:lnSpc>
            </a:pPr>
            <a:r>
              <a:rPr lang="en-US" sz="2400" dirty="0"/>
              <a:t>Use animation to avoid information overload</a:t>
            </a:r>
          </a:p>
        </p:txBody>
      </p:sp>
    </p:spTree>
    <p:extLst>
      <p:ext uri="{BB962C8B-B14F-4D97-AF65-F5344CB8AC3E}">
        <p14:creationId xmlns:p14="http://schemas.microsoft.com/office/powerpoint/2010/main" val="6876892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05C80F-2D57-46E9-968D-CC7DB6D8D2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0279" y="358621"/>
            <a:ext cx="11507935" cy="544512"/>
          </a:xfrm>
        </p:spPr>
        <p:txBody>
          <a:bodyPr>
            <a:normAutofit/>
          </a:bodyPr>
          <a:lstStyle/>
          <a:p>
            <a:r>
              <a:rPr lang="en-IN" dirty="0">
                <a:solidFill>
                  <a:srgbClr val="FF0000"/>
                </a:solidFill>
                <a:latin typeface="+mn-lt"/>
              </a:rPr>
              <a:t>Information on slides should be minimal and digestible</a:t>
            </a:r>
            <a:endParaRPr lang="en-US" b="1" dirty="0">
              <a:solidFill>
                <a:srgbClr val="FF0000"/>
              </a:solidFill>
              <a:latin typeface="+mn-lt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6A89A1-DBF3-4C20-998B-6E25898C9B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30279" y="1114999"/>
            <a:ext cx="11507935" cy="5384380"/>
          </a:xfrm>
        </p:spPr>
        <p:txBody>
          <a:bodyPr>
            <a:normAutofit fontScale="92500" lnSpcReduction="10000"/>
          </a:bodyPr>
          <a:lstStyle/>
          <a:p>
            <a:pPr>
              <a:lnSpc>
                <a:spcPct val="150000"/>
              </a:lnSpc>
            </a:pPr>
            <a:r>
              <a:rPr lang="en-US" sz="2400" dirty="0"/>
              <a:t>Make tiny bits of information appear on the screen at a time and explain it all</a:t>
            </a:r>
          </a:p>
          <a:p>
            <a:pPr>
              <a:lnSpc>
                <a:spcPct val="150000"/>
              </a:lnSpc>
            </a:pPr>
            <a:r>
              <a:rPr lang="en-US" sz="2400" dirty="0"/>
              <a:t>Every dot on the slide should be explained (or removed) – no hanging information</a:t>
            </a:r>
          </a:p>
          <a:p>
            <a:pPr>
              <a:lnSpc>
                <a:spcPct val="150000"/>
              </a:lnSpc>
            </a:pPr>
            <a:r>
              <a:rPr lang="en-US" sz="2400" dirty="0"/>
              <a:t>You must understand every word / picture you put in the slides</a:t>
            </a:r>
          </a:p>
          <a:p>
            <a:pPr>
              <a:lnSpc>
                <a:spcPct val="150000"/>
              </a:lnSpc>
            </a:pPr>
            <a:r>
              <a:rPr lang="en-US" sz="2400" dirty="0"/>
              <a:t>Axes should be labeled and carry units</a:t>
            </a:r>
          </a:p>
          <a:p>
            <a:pPr>
              <a:lnSpc>
                <a:spcPct val="150000"/>
              </a:lnSpc>
            </a:pPr>
            <a:r>
              <a:rPr lang="en-US" sz="2400" dirty="0"/>
              <a:t>No word or acronym should be left unexplained</a:t>
            </a:r>
          </a:p>
          <a:p>
            <a:pPr>
              <a:lnSpc>
                <a:spcPct val="150000"/>
              </a:lnSpc>
            </a:pPr>
            <a:r>
              <a:rPr lang="en-US" sz="2400" dirty="0"/>
              <a:t>Proper acknowledgements for each slide ON THE SLIDE ITSELF and overall presentation</a:t>
            </a:r>
          </a:p>
          <a:p>
            <a:pPr>
              <a:lnSpc>
                <a:spcPct val="150000"/>
              </a:lnSpc>
            </a:pPr>
            <a:r>
              <a:rPr lang="en-US" sz="2400" dirty="0"/>
              <a:t>Include slide numbers</a:t>
            </a:r>
          </a:p>
          <a:p>
            <a:pPr>
              <a:lnSpc>
                <a:spcPct val="150000"/>
              </a:lnSpc>
            </a:pPr>
            <a:r>
              <a:rPr lang="en-US" sz="2400" b="1" dirty="0"/>
              <a:t>Never go back!</a:t>
            </a:r>
            <a:r>
              <a:rPr lang="en-US" sz="2400" dirty="0"/>
              <a:t> Think from audience perspective what information they need to understand the slide. All of it should be available on the slide. You should not have to go back and forth. </a:t>
            </a:r>
            <a:r>
              <a:rPr lang="en-US" sz="2400" b="1" dirty="0"/>
              <a:t>EVER.</a:t>
            </a:r>
          </a:p>
        </p:txBody>
      </p:sp>
    </p:spTree>
    <p:extLst>
      <p:ext uri="{BB962C8B-B14F-4D97-AF65-F5344CB8AC3E}">
        <p14:creationId xmlns:p14="http://schemas.microsoft.com/office/powerpoint/2010/main" val="28607165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05C80F-2D57-46E9-968D-CC7DB6D8D2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0279" y="358621"/>
            <a:ext cx="11507935" cy="544512"/>
          </a:xfrm>
        </p:spPr>
        <p:txBody>
          <a:bodyPr>
            <a:normAutofit/>
          </a:bodyPr>
          <a:lstStyle/>
          <a:p>
            <a:r>
              <a:rPr lang="en-IN" dirty="0">
                <a:latin typeface="+mn-lt"/>
              </a:rPr>
              <a:t>Taking questions</a:t>
            </a:r>
            <a:endParaRPr lang="en-US" b="1" dirty="0">
              <a:latin typeface="+mn-lt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6A89A1-DBF3-4C20-998B-6E25898C9B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30279" y="1114999"/>
            <a:ext cx="11507935" cy="5384380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IN" sz="2400" dirty="0"/>
              <a:t>Listen carefully and respond (not react)</a:t>
            </a:r>
          </a:p>
          <a:p>
            <a:pPr>
              <a:lnSpc>
                <a:spcPct val="150000"/>
              </a:lnSpc>
            </a:pPr>
            <a:r>
              <a:rPr lang="en-IN" sz="2400" dirty="0"/>
              <a:t>Repeat the question</a:t>
            </a:r>
          </a:p>
          <a:p>
            <a:pPr lvl="1">
              <a:lnSpc>
                <a:spcPct val="150000"/>
              </a:lnSpc>
            </a:pPr>
            <a:r>
              <a:rPr lang="en-IN" sz="2100" dirty="0"/>
              <a:t>Ensures everyone hears it</a:t>
            </a:r>
          </a:p>
          <a:p>
            <a:pPr lvl="1">
              <a:lnSpc>
                <a:spcPct val="150000"/>
              </a:lnSpc>
            </a:pPr>
            <a:r>
              <a:rPr lang="en-IN" sz="2100" dirty="0"/>
              <a:t>Ensures that you understand it</a:t>
            </a:r>
          </a:p>
          <a:p>
            <a:pPr lvl="1">
              <a:lnSpc>
                <a:spcPct val="150000"/>
              </a:lnSpc>
            </a:pPr>
            <a:r>
              <a:rPr lang="en-IN" sz="2100" dirty="0"/>
              <a:t>Gives you time to come up with a good response</a:t>
            </a:r>
          </a:p>
          <a:p>
            <a:pPr>
              <a:lnSpc>
                <a:spcPct val="150000"/>
              </a:lnSpc>
            </a:pPr>
            <a:r>
              <a:rPr lang="en-IN" sz="2400" dirty="0"/>
              <a:t>Be frank about not knowing something</a:t>
            </a:r>
          </a:p>
          <a:p>
            <a:pPr>
              <a:lnSpc>
                <a:spcPct val="150000"/>
              </a:lnSpc>
            </a:pPr>
            <a:r>
              <a:rPr lang="en-IN" sz="2400" dirty="0"/>
              <a:t>Be willing to think aloud through the unknown</a:t>
            </a:r>
          </a:p>
          <a:p>
            <a:pPr>
              <a:lnSpc>
                <a:spcPct val="150000"/>
              </a:lnSpc>
            </a:pPr>
            <a:r>
              <a:rPr lang="en-IN" sz="2400" dirty="0"/>
              <a:t>Maintain composure</a:t>
            </a:r>
          </a:p>
          <a:p>
            <a:pPr>
              <a:lnSpc>
                <a:spcPct val="150000"/>
              </a:lnSpc>
            </a:pP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22055647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EBAE6795-6150-E0C9-EC7C-099E604A78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Practice. Practice. Practice.</a:t>
            </a:r>
            <a:endParaRPr lang="en-IN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D89DB7E-2422-03AA-AA9D-A3644AE74FA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4187111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482</TotalTime>
  <Words>643</Words>
  <Application>Microsoft Office PowerPoint</Application>
  <PresentationFormat>Widescreen</PresentationFormat>
  <Paragraphs>71</Paragraphs>
  <Slides>10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Calibri</vt:lpstr>
      <vt:lpstr>Calibri Light</vt:lpstr>
      <vt:lpstr>Office Theme</vt:lpstr>
      <vt:lpstr>Giving a seminar talk – how to present?</vt:lpstr>
      <vt:lpstr>PowerPoint Presentation</vt:lpstr>
      <vt:lpstr>PowerPoint Presentation</vt:lpstr>
      <vt:lpstr>Understand the goal</vt:lpstr>
      <vt:lpstr>Have a precise purpose for the overall presentation</vt:lpstr>
      <vt:lpstr>Structuring the flow of your presentation</vt:lpstr>
      <vt:lpstr>Have a precise purpose for each slide</vt:lpstr>
      <vt:lpstr>Information on slides should be minimal and digestible</vt:lpstr>
      <vt:lpstr>Taking questions</vt:lpstr>
      <vt:lpstr>Practice. Practice. Practice.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Saurabh Gandhi</dc:creator>
  <cp:lastModifiedBy>Saurabh Gandhi</cp:lastModifiedBy>
  <cp:revision>9</cp:revision>
  <dcterms:created xsi:type="dcterms:W3CDTF">2022-01-21T06:13:21Z</dcterms:created>
  <dcterms:modified xsi:type="dcterms:W3CDTF">2024-05-19T07:46:06Z</dcterms:modified>
</cp:coreProperties>
</file>