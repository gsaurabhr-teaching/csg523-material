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sldIdLst>
    <p:sldId id="337" r:id="rId2"/>
    <p:sldId id="385" r:id="rId3"/>
    <p:sldId id="386" r:id="rId4"/>
    <p:sldId id="387" r:id="rId5"/>
    <p:sldId id="388" r:id="rId6"/>
    <p:sldId id="389" r:id="rId7"/>
    <p:sldId id="390" r:id="rId8"/>
    <p:sldId id="391" r:id="rId9"/>
    <p:sldId id="392" r:id="rId10"/>
    <p:sldId id="393" r:id="rId11"/>
    <p:sldId id="394" r:id="rId12"/>
    <p:sldId id="396" r:id="rId13"/>
    <p:sldId id="397" r:id="rId14"/>
    <p:sldId id="398" r:id="rId15"/>
    <p:sldId id="399" r:id="rId16"/>
    <p:sldId id="400" r:id="rId17"/>
    <p:sldId id="401" r:id="rId18"/>
    <p:sldId id="402" r:id="rId19"/>
    <p:sldId id="403" r:id="rId20"/>
    <p:sldId id="404" r:id="rId21"/>
    <p:sldId id="405" r:id="rId22"/>
    <p:sldId id="407" r:id="rId23"/>
    <p:sldId id="406" r:id="rId24"/>
    <p:sldId id="408" r:id="rId25"/>
    <p:sldId id="409" r:id="rId26"/>
    <p:sldId id="410" r:id="rId27"/>
    <p:sldId id="411" r:id="rId28"/>
    <p:sldId id="412" r:id="rId29"/>
    <p:sldId id="413" r:id="rId30"/>
    <p:sldId id="414" r:id="rId3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C3E8"/>
    <a:srgbClr val="EA3F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2730" autoAdjust="0"/>
  </p:normalViewPr>
  <p:slideViewPr>
    <p:cSldViewPr>
      <p:cViewPr varScale="1">
        <p:scale>
          <a:sx n="95" d="100"/>
          <a:sy n="95" d="100"/>
        </p:scale>
        <p:origin x="324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2/26/2026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44638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D4032-0DCD-4B56-8C1A-A046DCFB4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048000"/>
            <a:ext cx="7772400" cy="312420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52400" y="53975"/>
            <a:ext cx="6324600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52400" y="1446211"/>
            <a:ext cx="8839200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9238"/>
            <a:ext cx="1828800" cy="25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599238"/>
            <a:ext cx="28956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,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6599238"/>
            <a:ext cx="4572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B1A82462-8175-42D8-B46C-67766E05E74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8">
            <a:extLst>
              <a:ext uri="{FF2B5EF4-FFF2-40B4-BE49-F238E27FC236}">
                <a16:creationId xmlns:a16="http://schemas.microsoft.com/office/drawing/2014/main" id="{F71B9737-4DA8-4B8F-9335-5F2A7C906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2335E3-1C88-4FEB-B3EA-2686D6520BD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7711E8-77A4-4937-A983-1A5FDBFC08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71875C-BA0F-4B96-BF59-4025A49FA02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C2B4447A-9437-4C8F-B654-838CD5BB86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377527-4981-49F2-8F12-B5DB6F06612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B94671-9EEF-4175-9164-57B69291B8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2EC7A3-548A-4998-81D6-DC9D9CECAAD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C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Software for Embedded Systems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A6C6C-26BA-4589-B379-D2F196B56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are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AFE50A-2F41-42E0-AF97-7F23144A5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4546173" cy="5014912"/>
          </a:xfrm>
        </p:spPr>
        <p:txBody>
          <a:bodyPr/>
          <a:lstStyle/>
          <a:p>
            <a:r>
              <a:rPr lang="en-US" sz="2400" dirty="0"/>
              <a:t>Modeling </a:t>
            </a:r>
            <a:r>
              <a:rPr lang="en-US" sz="2400" dirty="0">
                <a:sym typeface="Wingdings" panose="05000000000000000000" pitchFamily="2" charset="2"/>
              </a:rPr>
              <a:t> correct behavior by ensuring we have ‘</a:t>
            </a:r>
            <a:r>
              <a:rPr lang="en-US" sz="2400" dirty="0">
                <a:solidFill>
                  <a:srgbClr val="72C3E8"/>
                </a:solidFill>
                <a:sym typeface="Wingdings" panose="05000000000000000000" pitchFamily="2" charset="2"/>
              </a:rPr>
              <a:t>thought</a:t>
            </a:r>
            <a:r>
              <a:rPr lang="en-US" sz="2400" dirty="0">
                <a:sym typeface="Wingdings" panose="05000000000000000000" pitchFamily="2" charset="2"/>
              </a:rPr>
              <a:t>’ of all possibilities</a:t>
            </a:r>
          </a:p>
          <a:p>
            <a:r>
              <a:rPr lang="en-US" sz="2400" dirty="0">
                <a:sym typeface="Wingdings" panose="05000000000000000000" pitchFamily="2" charset="2"/>
              </a:rPr>
              <a:t>but </a:t>
            </a:r>
            <a:r>
              <a:rPr lang="en-US" sz="2400" dirty="0">
                <a:solidFill>
                  <a:srgbClr val="72C3E8"/>
                </a:solidFill>
                <a:sym typeface="Wingdings" panose="05000000000000000000" pitchFamily="2" charset="2"/>
              </a:rPr>
              <a:t>not yet implemented</a:t>
            </a:r>
            <a:r>
              <a:rPr lang="en-US" sz="2400" dirty="0">
                <a:sym typeface="Wingdings" panose="05000000000000000000" pitchFamily="2" charset="2"/>
              </a:rPr>
              <a:t>!</a:t>
            </a:r>
          </a:p>
          <a:p>
            <a:r>
              <a:rPr lang="en-US" sz="2400" dirty="0">
                <a:sym typeface="Wingdings" panose="05000000000000000000" pitchFamily="2" charset="2"/>
              </a:rPr>
              <a:t>Firmware architecture (so far) </a:t>
            </a:r>
          </a:p>
          <a:p>
            <a:pPr lvl="1"/>
            <a:r>
              <a:rPr lang="en-US" sz="2000" dirty="0">
                <a:solidFill>
                  <a:srgbClr val="EA3F26"/>
                </a:solidFill>
                <a:sym typeface="Wingdings" panose="05000000000000000000" pitchFamily="2" charset="2"/>
              </a:rPr>
              <a:t>what</a:t>
            </a:r>
            <a:r>
              <a:rPr lang="en-US" sz="2000" dirty="0">
                <a:sym typeface="Wingdings" panose="05000000000000000000" pitchFamily="2" charset="2"/>
              </a:rPr>
              <a:t> pieces of code (loosely coupled, modules) do we need</a:t>
            </a:r>
          </a:p>
          <a:p>
            <a:pPr lvl="1"/>
            <a:r>
              <a:rPr lang="en-US" sz="2000" dirty="0">
                <a:solidFill>
                  <a:srgbClr val="EA3F26"/>
                </a:solidFill>
                <a:sym typeface="Wingdings" panose="05000000000000000000" pitchFamily="2" charset="2"/>
              </a:rPr>
              <a:t>how</a:t>
            </a:r>
            <a:r>
              <a:rPr lang="en-US" sz="2000" dirty="0">
                <a:sym typeface="Wingdings" panose="05000000000000000000" pitchFamily="2" charset="2"/>
              </a:rPr>
              <a:t> these pieces control each other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0D959-B3FA-4F8D-8684-9AA768BF2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35DAB-48D3-4143-83FD-FB11C25BE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79CD4A-3BAE-436E-B06C-2E7B3A9042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98573" y="1446211"/>
            <a:ext cx="4293027" cy="3073151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A5EFE70-BA98-490F-88B2-2C03F1670F81}"/>
              </a:ext>
            </a:extLst>
          </p:cNvPr>
          <p:cNvSpPr txBox="1">
            <a:spLocks/>
          </p:cNvSpPr>
          <p:nvPr/>
        </p:nvSpPr>
        <p:spPr bwMode="auto">
          <a:xfrm>
            <a:off x="152400" y="4876799"/>
            <a:ext cx="8839200" cy="1736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ym typeface="Wingdings" panose="05000000000000000000" pitchFamily="2" charset="2"/>
              </a:rPr>
              <a:t>What have we still not decided?</a:t>
            </a:r>
          </a:p>
          <a:p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Application layer organization – how is the main logic implemented</a:t>
            </a:r>
          </a:p>
          <a:p>
            <a:r>
              <a:rPr lang="en-US" sz="2400" dirty="0">
                <a:solidFill>
                  <a:srgbClr val="EA3F26"/>
                </a:solidFill>
                <a:sym typeface="Wingdings" panose="05000000000000000000" pitchFamily="2" charset="2"/>
              </a:rPr>
              <a:t>When </a:t>
            </a:r>
            <a:r>
              <a:rPr lang="en-US" sz="2400" dirty="0">
                <a:sym typeface="Wingdings" panose="05000000000000000000" pitchFamily="2" charset="2"/>
              </a:rPr>
              <a:t>do these pieces of code run?</a:t>
            </a:r>
          </a:p>
        </p:txBody>
      </p:sp>
    </p:spTree>
    <p:extLst>
      <p:ext uri="{BB962C8B-B14F-4D97-AF65-F5344CB8AC3E}">
        <p14:creationId xmlns:p14="http://schemas.microsoft.com/office/powerpoint/2010/main" val="233316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EDBBD-7815-4F90-8740-2769965C9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 of the application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0FDBF-39F5-41B9-94E9-87F94477E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Application layer is the main (gooey) logic of your system; but within the app layer:</a:t>
            </a:r>
          </a:p>
          <a:p>
            <a:r>
              <a:rPr lang="en-US" dirty="0"/>
              <a:t>Is there a single controller that decides what to do next?</a:t>
            </a:r>
          </a:p>
          <a:p>
            <a:r>
              <a:rPr lang="en-US" dirty="0"/>
              <a:t>Are there multiple controllers?</a:t>
            </a:r>
          </a:p>
          <a:p>
            <a:r>
              <a:rPr lang="en-US" dirty="0"/>
              <a:t>Who receives events from the lower layers?</a:t>
            </a:r>
          </a:p>
          <a:p>
            <a:r>
              <a:rPr lang="en-US" dirty="0"/>
              <a:t>Who decides the mode or ‘state’?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DA3D6-CF4F-44B5-A015-FA8A179CF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0C85B-39D3-4CAC-AFCE-04BB6E168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143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1468F-25C2-4CAC-9987-DE189BF8B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I: Monolithic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5141B-042C-4406-B6ED-8E5B5D77A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One central state machine that handles all state transitions and events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5ED3C-AF8F-4D05-A6DE-44E40EA1B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132ACE-58A5-4406-862B-7A0A696B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D03711-127B-4157-AF46-371842D84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90800"/>
            <a:ext cx="1752600" cy="35279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BEC9AE-0B61-49C7-8A77-1F4405109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2438400"/>
            <a:ext cx="4038600" cy="2860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51DD68-A85B-4172-883C-D391CE573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2818475"/>
            <a:ext cx="4038600" cy="35830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B26B9D-B287-4400-AA50-DD27858284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3923" y="3429000"/>
            <a:ext cx="2798157" cy="15301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522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32BC5-ED82-45AF-98D8-BD4D91FC5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II: Coordinated controllers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AD11B-EEBD-4F2C-B90B-CBA80FA8D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Separate state machines control therapy, alarm and UI</a:t>
            </a:r>
          </a:p>
          <a:p>
            <a:r>
              <a:rPr lang="en-US" sz="2400" dirty="0"/>
              <a:t>Coordination via defined interfaces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22A42-6844-4CCF-BBA1-1D79F0A22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871F3-1A09-4CC2-8985-0C6E81AC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C2BBA2-6B52-471D-947D-C659A7897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362200"/>
            <a:ext cx="3459193" cy="320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BA3B1D-0D03-47DF-B117-EAC30870A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825313"/>
            <a:ext cx="3581400" cy="20326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34F7E5-5E17-4CA3-B7C8-956E64CF7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2362200"/>
            <a:ext cx="2895600" cy="19213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E243BA-02C8-4253-A33D-E4D2E3F735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0924" y="4075461"/>
            <a:ext cx="3057952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942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85BBD-20FC-4A42-8589-EF018D7E6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III: Event dispatcher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4E822-1124-4F9F-98B4-4ED1070C7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One central dispatcher receives events</a:t>
            </a:r>
          </a:p>
          <a:p>
            <a:r>
              <a:rPr lang="en-US" sz="2400" dirty="0"/>
              <a:t>Separate controllers subscribe to events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3D13E-ACCD-43A5-9007-17B879D00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E4A240-8AA9-42B5-8214-D6ECED31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F49AEB-5DE4-44ED-B36F-F3FF69834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286000"/>
            <a:ext cx="3503449" cy="457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B9CFE5-8A71-4FD4-98E9-B1EF1CEF1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668" y="2286000"/>
            <a:ext cx="3873083" cy="42580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7F0001-114D-4571-9FCC-43D475845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099" y="3429000"/>
            <a:ext cx="4124901" cy="13527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3F157D-41B3-47AD-AE6C-24D8248825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7996" y="4865260"/>
            <a:ext cx="2896004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30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54CFDEB-D860-495E-92C1-68DF7ABF3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73" y="1368322"/>
            <a:ext cx="8985395" cy="34322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B1EA9F-374D-4869-9151-7A70469B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ownership at application level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846B5EC-541D-4406-80C2-69AA0C4314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1083941"/>
              </p:ext>
            </p:extLst>
          </p:nvPr>
        </p:nvGraphicFramePr>
        <p:xfrm>
          <a:off x="152400" y="2523680"/>
          <a:ext cx="6096000" cy="3193136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387486778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9972853"/>
                    </a:ext>
                  </a:extLst>
                </a:gridCol>
              </a:tblGrid>
              <a:tr h="63826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Event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Owned By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616004"/>
                  </a:ext>
                </a:extLst>
              </a:tr>
              <a:tr h="638264">
                <a:tc>
                  <a:txBody>
                    <a:bodyPr/>
                    <a:lstStyle/>
                    <a:p>
                      <a:r>
                        <a:rPr lang="en-US"/>
                        <a:t>Start button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Therapy Controller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623076"/>
                  </a:ext>
                </a:extLst>
              </a:tr>
              <a:tr h="638264">
                <a:tc>
                  <a:txBody>
                    <a:bodyPr/>
                    <a:lstStyle/>
                    <a:p>
                      <a:r>
                        <a:rPr lang="en-US" dirty="0"/>
                        <a:t>Occlusion detected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Alarm Manager (may notify Therapy)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9238237"/>
                  </a:ext>
                </a:extLst>
              </a:tr>
              <a:tr h="638264">
                <a:tc>
                  <a:txBody>
                    <a:bodyPr/>
                    <a:lstStyle/>
                    <a:p>
                      <a:r>
                        <a:rPr lang="en-US"/>
                        <a:t>Timer tick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Therapy Controller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226560"/>
                  </a:ext>
                </a:extLst>
              </a:tr>
              <a:tr h="638264">
                <a:tc>
                  <a:txBody>
                    <a:bodyPr/>
                    <a:lstStyle/>
                    <a:p>
                      <a:r>
                        <a:rPr lang="en-US" dirty="0"/>
                        <a:t>Low battery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Alarm Manager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533668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4B0DD-3FAE-4D3F-8E21-7EB22244A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647277-7852-4306-8684-26084DFF6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0F03B6-3B99-4E1E-89DC-AFD8834B9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422" y="4890232"/>
            <a:ext cx="2872146" cy="183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73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A2980-995A-4B11-AEDE-27165ECD6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application level patterns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A6F2883-E492-429F-8299-B27E3B5F0C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4334499"/>
              </p:ext>
            </p:extLst>
          </p:nvPr>
        </p:nvGraphicFramePr>
        <p:xfrm>
          <a:off x="-12192" y="1502366"/>
          <a:ext cx="7007352" cy="2347504"/>
        </p:xfrm>
        <a:graphic>
          <a:graphicData uri="http://schemas.openxmlformats.org/drawingml/2006/table">
            <a:tbl>
              <a:tblPr/>
              <a:tblGrid>
                <a:gridCol w="2335784">
                  <a:extLst>
                    <a:ext uri="{9D8B030D-6E8A-4147-A177-3AD203B41FA5}">
                      <a16:colId xmlns:a16="http://schemas.microsoft.com/office/drawing/2014/main" val="2058590319"/>
                    </a:ext>
                  </a:extLst>
                </a:gridCol>
                <a:gridCol w="2335784">
                  <a:extLst>
                    <a:ext uri="{9D8B030D-6E8A-4147-A177-3AD203B41FA5}">
                      <a16:colId xmlns:a16="http://schemas.microsoft.com/office/drawing/2014/main" val="440336953"/>
                    </a:ext>
                  </a:extLst>
                </a:gridCol>
                <a:gridCol w="2335784">
                  <a:extLst>
                    <a:ext uri="{9D8B030D-6E8A-4147-A177-3AD203B41FA5}">
                      <a16:colId xmlns:a16="http://schemas.microsoft.com/office/drawing/2014/main" val="781431631"/>
                    </a:ext>
                  </a:extLst>
                </a:gridCol>
              </a:tblGrid>
              <a:tr h="31568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Pattern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Strength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Weakness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88423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/>
                        <a:t>Monolithic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Becomes large, mixed concerns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9688604"/>
                  </a:ext>
                </a:extLst>
              </a:tr>
              <a:tr h="789214">
                <a:tc>
                  <a:txBody>
                    <a:bodyPr/>
                    <a:lstStyle/>
                    <a:p>
                      <a:r>
                        <a:rPr lang="en-US"/>
                        <a:t>Coordinated Controllers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Clear separation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Ordering &amp; coupling must be managed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994306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/>
                        <a:t>Dispatcher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Modular &amp; scalable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Indirect control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431363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09600-D0A9-40B1-A3BC-3D8C4B988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F38C47-A017-470F-8557-75F5CE8CD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0C7765-B1CD-46AA-ACDA-3F1DD1F89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98355"/>
              </p:ext>
            </p:extLst>
          </p:nvPr>
        </p:nvGraphicFramePr>
        <p:xfrm>
          <a:off x="1524000" y="3977094"/>
          <a:ext cx="7620000" cy="2579320"/>
        </p:xfrm>
        <a:graphic>
          <a:graphicData uri="http://schemas.openxmlformats.org/drawingml/2006/table">
            <a:tbl>
              <a:tblPr/>
              <a:tblGrid>
                <a:gridCol w="2540000">
                  <a:extLst>
                    <a:ext uri="{9D8B030D-6E8A-4147-A177-3AD203B41FA5}">
                      <a16:colId xmlns:a16="http://schemas.microsoft.com/office/drawing/2014/main" val="685407204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997460324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674184330"/>
                    </a:ext>
                  </a:extLst>
                </a:gridCol>
              </a:tblGrid>
              <a:tr h="40826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Coordinated Controllers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Dispatcher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783854"/>
                  </a:ext>
                </a:extLst>
              </a:tr>
              <a:tr h="714457">
                <a:tc>
                  <a:txBody>
                    <a:bodyPr/>
                    <a:lstStyle/>
                    <a:p>
                      <a:r>
                        <a:rPr lang="en-US"/>
                        <a:t>Who knows whom?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Controllers know each other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Controllers know only dispatcher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7242618"/>
                  </a:ext>
                </a:extLst>
              </a:tr>
              <a:tr h="408261">
                <a:tc>
                  <a:txBody>
                    <a:bodyPr/>
                    <a:lstStyle/>
                    <a:p>
                      <a:r>
                        <a:rPr lang="en-US"/>
                        <a:t>Direct function calls?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499702"/>
                  </a:ext>
                </a:extLst>
              </a:tr>
              <a:tr h="408261">
                <a:tc>
                  <a:txBody>
                    <a:bodyPr/>
                    <a:lstStyle/>
                    <a:p>
                      <a:r>
                        <a:rPr lang="en-US"/>
                        <a:t>Coupling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Explicit, directional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Indirect, via event bus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5322514"/>
                  </a:ext>
                </a:extLst>
              </a:tr>
              <a:tr h="408261">
                <a:tc>
                  <a:txBody>
                    <a:bodyPr/>
                    <a:lstStyle/>
                    <a:p>
                      <a:r>
                        <a:rPr lang="en-US"/>
                        <a:t>Compile-time dependency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Weaker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8746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9414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8C114-0AFB-4C38-B91B-5C479ECA7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visibility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F108C-556F-4BAA-98CF-9759F8F746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Coordinated Controllers</a:t>
            </a:r>
          </a:p>
          <a:p>
            <a:r>
              <a:rPr lang="en-US" dirty="0"/>
              <a:t>Control flow is explicit.</a:t>
            </a:r>
          </a:p>
          <a:p>
            <a:r>
              <a:rPr lang="en-US" dirty="0"/>
              <a:t>You can trace calls statically.</a:t>
            </a:r>
          </a:p>
          <a:p>
            <a:r>
              <a:rPr lang="en-US" dirty="0"/>
              <a:t>Easier to reason locally.</a:t>
            </a:r>
          </a:p>
          <a:p>
            <a:r>
              <a:rPr lang="en-US" dirty="0"/>
              <a:t>Harder to scale globally.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231A8E-401B-436A-9646-7D2BCD0154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Dispatcher</a:t>
            </a:r>
          </a:p>
          <a:p>
            <a:r>
              <a:rPr lang="en-US" dirty="0"/>
              <a:t>Control flow is indirect.</a:t>
            </a:r>
          </a:p>
          <a:p>
            <a:r>
              <a:rPr lang="en-US" dirty="0"/>
              <a:t>Requires mental model of event routing.</a:t>
            </a:r>
          </a:p>
          <a:p>
            <a:r>
              <a:rPr lang="en-US" dirty="0"/>
              <a:t>Scales better.</a:t>
            </a:r>
          </a:p>
          <a:p>
            <a:r>
              <a:rPr lang="en-US" dirty="0"/>
              <a:t>Harder to trace.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9CF816-06E1-423F-B4EE-7B204CBB8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562CD-3B9F-4118-A993-418E27DFC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77344-E1C7-49F4-9630-5A0F623202D9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8005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3194B-BBFC-4FF4-86FC-526CBA61C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Ease of adding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863E8-8424-468B-BFBB-6736D502F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51037"/>
            <a:ext cx="4038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Coordinated Controllers</a:t>
            </a:r>
          </a:p>
          <a:p>
            <a:r>
              <a:rPr lang="en-US" dirty="0"/>
              <a:t>Every new controller may require:</a:t>
            </a:r>
          </a:p>
          <a:p>
            <a:pPr lvl="1"/>
            <a:r>
              <a:rPr lang="en-US" dirty="0"/>
              <a:t>new direct calls</a:t>
            </a:r>
          </a:p>
          <a:p>
            <a:pPr lvl="1"/>
            <a:r>
              <a:rPr lang="en-US" dirty="0"/>
              <a:t>updated dependencies</a:t>
            </a:r>
          </a:p>
          <a:p>
            <a:pPr lvl="1"/>
            <a:r>
              <a:rPr lang="en-US" dirty="0"/>
              <a:t>careful ordering</a:t>
            </a:r>
          </a:p>
          <a:p>
            <a:r>
              <a:rPr lang="en-US" dirty="0"/>
              <a:t>The dependency graph grows quadratically.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4004B-EC70-4BC3-94DB-92C7D7A59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51037"/>
            <a:ext cx="4038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Dispatcher Pattern</a:t>
            </a:r>
          </a:p>
          <a:p>
            <a:r>
              <a:rPr lang="en-US" dirty="0"/>
              <a:t>New module:</a:t>
            </a:r>
          </a:p>
          <a:p>
            <a:pPr lvl="1"/>
            <a:r>
              <a:rPr lang="en-US" dirty="0"/>
              <a:t>subscribes to events</a:t>
            </a:r>
          </a:p>
          <a:p>
            <a:pPr lvl="1"/>
            <a:r>
              <a:rPr lang="en-US" dirty="0"/>
              <a:t>no other controller modified</a:t>
            </a:r>
          </a:p>
          <a:p>
            <a:r>
              <a:rPr lang="en-US" dirty="0"/>
              <a:t>The dependency graph remains star-shaped.</a:t>
            </a:r>
          </a:p>
          <a:p>
            <a:r>
              <a:rPr lang="en-US" dirty="0"/>
              <a:t>That’s the scaling advantage.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B022C-3FA9-469B-A3E5-A1199FEE0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8E159-FAD3-4F92-913F-C745DD2C9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77344-E1C7-49F4-9630-5A0F623202D9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DBFF589-E76D-45F2-979E-C8E3DBAF51C5}"/>
              </a:ext>
            </a:extLst>
          </p:cNvPr>
          <p:cNvSpPr txBox="1">
            <a:spLocks/>
          </p:cNvSpPr>
          <p:nvPr/>
        </p:nvSpPr>
        <p:spPr bwMode="auto">
          <a:xfrm>
            <a:off x="24384" y="1371601"/>
            <a:ext cx="904341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We want to add logging, safety monitor, UI refresh</a:t>
            </a:r>
          </a:p>
        </p:txBody>
      </p:sp>
    </p:spTree>
    <p:extLst>
      <p:ext uri="{BB962C8B-B14F-4D97-AF65-F5344CB8AC3E}">
        <p14:creationId xmlns:p14="http://schemas.microsoft.com/office/powerpoint/2010/main" val="194543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30A05-5EAE-4E3E-8B73-B9672727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distinctions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4B083-2277-4497-A306-E6A6C7CB2F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895600"/>
            <a:ext cx="4038600" cy="3581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Coordinated Controllers</a:t>
            </a:r>
          </a:p>
          <a:p>
            <a:r>
              <a:rPr lang="en-US" dirty="0"/>
              <a:t>Small system</a:t>
            </a:r>
          </a:p>
          <a:p>
            <a:r>
              <a:rPr lang="en-US" dirty="0"/>
              <a:t>Safety-critical clarity needed</a:t>
            </a:r>
          </a:p>
          <a:p>
            <a:r>
              <a:rPr lang="en-US" dirty="0"/>
              <a:t>Explicit authority required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CA36D-D7A8-4E40-9573-EF920E1B2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2895600"/>
            <a:ext cx="4038600" cy="3581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Dispatcher</a:t>
            </a:r>
          </a:p>
          <a:p>
            <a:r>
              <a:rPr lang="en-US" dirty="0"/>
              <a:t>Large system</a:t>
            </a:r>
          </a:p>
          <a:p>
            <a:r>
              <a:rPr lang="en-US" dirty="0"/>
              <a:t>Many loosely coupled modules</a:t>
            </a:r>
          </a:p>
          <a:p>
            <a:r>
              <a:rPr lang="en-US" dirty="0"/>
              <a:t>Plugin-style extensibility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B747A-994D-4B46-9502-18713504A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F840B-D707-4CD8-9786-AE347F38C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77344-E1C7-49F4-9630-5A0F623202D9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graphicFrame>
        <p:nvGraphicFramePr>
          <p:cNvPr id="10" name="Content Placeholder 6">
            <a:extLst>
              <a:ext uri="{FF2B5EF4-FFF2-40B4-BE49-F238E27FC236}">
                <a16:creationId xmlns:a16="http://schemas.microsoft.com/office/drawing/2014/main" id="{272A0F41-7E64-4EB4-A027-C7E84E0322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8667698"/>
              </p:ext>
            </p:extLst>
          </p:nvPr>
        </p:nvGraphicFramePr>
        <p:xfrm>
          <a:off x="228600" y="1388208"/>
          <a:ext cx="8610600" cy="1264392"/>
        </p:xfrm>
        <a:graphic>
          <a:graphicData uri="http://schemas.openxmlformats.org/drawingml/2006/table">
            <a:tbl>
              <a:tblPr/>
              <a:tblGrid>
                <a:gridCol w="2870200">
                  <a:extLst>
                    <a:ext uri="{9D8B030D-6E8A-4147-A177-3AD203B41FA5}">
                      <a16:colId xmlns:a16="http://schemas.microsoft.com/office/drawing/2014/main" val="1370720198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1402076987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26127971"/>
                    </a:ext>
                  </a:extLst>
                </a:gridCol>
              </a:tblGrid>
              <a:tr h="26254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Question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Coordinated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Dispatcher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002841"/>
                  </a:ext>
                </a:extLst>
              </a:tr>
              <a:tr h="262548">
                <a:tc>
                  <a:txBody>
                    <a:bodyPr/>
                    <a:lstStyle/>
                    <a:p>
                      <a:r>
                        <a:rPr lang="en-US" sz="1800"/>
                        <a:t>Who stops infusion?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Alarm calls Therapy directly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Alarm emits STOP event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032997"/>
                  </a:ext>
                </a:extLst>
              </a:tr>
              <a:tr h="262548">
                <a:tc>
                  <a:txBody>
                    <a:bodyPr/>
                    <a:lstStyle/>
                    <a:p>
                      <a:r>
                        <a:rPr lang="en-US" sz="1800" dirty="0"/>
                        <a:t>Who routes events?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Caller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Dispatcher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3196688"/>
                  </a:ext>
                </a:extLst>
              </a:tr>
              <a:tr h="262548">
                <a:tc>
                  <a:txBody>
                    <a:bodyPr/>
                    <a:lstStyle/>
                    <a:p>
                      <a:r>
                        <a:rPr lang="en-US" sz="1800"/>
                        <a:t>Where is coupling expressed?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Function calls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Subscription list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038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8303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A6C6C-26BA-4589-B379-D2F196B56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are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AFE50A-2F41-42E0-AF97-7F23144A5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4546173" cy="5014912"/>
          </a:xfrm>
        </p:spPr>
        <p:txBody>
          <a:bodyPr/>
          <a:lstStyle/>
          <a:p>
            <a:r>
              <a:rPr lang="en-US" sz="2400" dirty="0"/>
              <a:t>Modeling </a:t>
            </a:r>
            <a:r>
              <a:rPr lang="en-US" sz="2400" dirty="0">
                <a:sym typeface="Wingdings" panose="05000000000000000000" pitchFamily="2" charset="2"/>
              </a:rPr>
              <a:t> correct behavior by ensuring we have ‘</a:t>
            </a:r>
            <a:r>
              <a:rPr lang="en-US" sz="2400" dirty="0">
                <a:solidFill>
                  <a:srgbClr val="72C3E8"/>
                </a:solidFill>
                <a:sym typeface="Wingdings" panose="05000000000000000000" pitchFamily="2" charset="2"/>
              </a:rPr>
              <a:t>thought</a:t>
            </a:r>
            <a:r>
              <a:rPr lang="en-US" sz="2400" dirty="0">
                <a:sym typeface="Wingdings" panose="05000000000000000000" pitchFamily="2" charset="2"/>
              </a:rPr>
              <a:t>’ of all possibilities</a:t>
            </a:r>
          </a:p>
          <a:p>
            <a:r>
              <a:rPr lang="en-US" sz="2400" dirty="0">
                <a:sym typeface="Wingdings" panose="05000000000000000000" pitchFamily="2" charset="2"/>
              </a:rPr>
              <a:t>but </a:t>
            </a:r>
            <a:r>
              <a:rPr lang="en-US" sz="2400" dirty="0">
                <a:solidFill>
                  <a:srgbClr val="72C3E8"/>
                </a:solidFill>
                <a:sym typeface="Wingdings" panose="05000000000000000000" pitchFamily="2" charset="2"/>
              </a:rPr>
              <a:t>not yet implemented</a:t>
            </a:r>
            <a:r>
              <a:rPr lang="en-US" sz="2400" dirty="0">
                <a:sym typeface="Wingdings" panose="05000000000000000000" pitchFamily="2" charset="2"/>
              </a:rPr>
              <a:t>!</a:t>
            </a:r>
          </a:p>
          <a:p>
            <a:r>
              <a:rPr lang="en-US" sz="2400" dirty="0">
                <a:sym typeface="Wingdings" panose="05000000000000000000" pitchFamily="2" charset="2"/>
              </a:rPr>
              <a:t>Firmware architecture (so far) </a:t>
            </a:r>
          </a:p>
          <a:p>
            <a:pPr lvl="1"/>
            <a:r>
              <a:rPr lang="en-US" sz="2000" dirty="0">
                <a:solidFill>
                  <a:srgbClr val="EA3F26"/>
                </a:solidFill>
                <a:sym typeface="Wingdings" panose="05000000000000000000" pitchFamily="2" charset="2"/>
              </a:rPr>
              <a:t>what</a:t>
            </a:r>
            <a:r>
              <a:rPr lang="en-US" sz="2000" dirty="0">
                <a:sym typeface="Wingdings" panose="05000000000000000000" pitchFamily="2" charset="2"/>
              </a:rPr>
              <a:t> pieces of code (loosely coupled, modules) do we need</a:t>
            </a:r>
          </a:p>
          <a:p>
            <a:pPr lvl="1"/>
            <a:r>
              <a:rPr lang="en-US" sz="2000" dirty="0">
                <a:solidFill>
                  <a:srgbClr val="EA3F26"/>
                </a:solidFill>
                <a:sym typeface="Wingdings" panose="05000000000000000000" pitchFamily="2" charset="2"/>
              </a:rPr>
              <a:t>how</a:t>
            </a:r>
            <a:r>
              <a:rPr lang="en-US" sz="2000" dirty="0">
                <a:sym typeface="Wingdings" panose="05000000000000000000" pitchFamily="2" charset="2"/>
              </a:rPr>
              <a:t> these pieces control each other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0D959-B3FA-4F8D-8684-9AA768BF2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35DAB-48D3-4143-83FD-FB11C25BE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79CD4A-3BAE-436E-B06C-2E7B3A9042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98573" y="1446211"/>
            <a:ext cx="4293027" cy="3073151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A5EFE70-BA98-490F-88B2-2C03F1670F81}"/>
              </a:ext>
            </a:extLst>
          </p:cNvPr>
          <p:cNvSpPr txBox="1">
            <a:spLocks/>
          </p:cNvSpPr>
          <p:nvPr/>
        </p:nvSpPr>
        <p:spPr bwMode="auto">
          <a:xfrm>
            <a:off x="152400" y="4876799"/>
            <a:ext cx="8839200" cy="1736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ym typeface="Wingdings" panose="05000000000000000000" pitchFamily="2" charset="2"/>
              </a:rPr>
              <a:t>What have we still not decided?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Application layer organization – how is the main logic implemented</a:t>
            </a:r>
          </a:p>
          <a:p>
            <a:r>
              <a:rPr lang="en-US" sz="2400" dirty="0">
                <a:solidFill>
                  <a:srgbClr val="EA3F26"/>
                </a:solidFill>
                <a:sym typeface="Wingdings" panose="05000000000000000000" pitchFamily="2" charset="2"/>
              </a:rPr>
              <a:t>When </a:t>
            </a:r>
            <a:r>
              <a:rPr lang="en-US" sz="2400" dirty="0">
                <a:sym typeface="Wingdings" panose="05000000000000000000" pitchFamily="2" charset="2"/>
              </a:rPr>
              <a:t>do these pieces of code run?</a:t>
            </a:r>
          </a:p>
        </p:txBody>
      </p:sp>
    </p:spTree>
    <p:extLst>
      <p:ext uri="{BB962C8B-B14F-4D97-AF65-F5344CB8AC3E}">
        <p14:creationId xmlns:p14="http://schemas.microsoft.com/office/powerpoint/2010/main" val="795997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9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55A39-2E59-4324-9432-F30BDBC67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model = Rules of Running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87F85-7A32-4F31-A667-BE0A589E8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An execution model defines how control flows through the system over time.</a:t>
            </a:r>
          </a:p>
          <a:p>
            <a:r>
              <a:rPr lang="en-US" dirty="0"/>
              <a:t>Where code runs (i.e. in what context)</a:t>
            </a:r>
          </a:p>
          <a:p>
            <a:r>
              <a:rPr lang="en-US" dirty="0"/>
              <a:t>When code runs?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CPU performs one task at a time.</a:t>
            </a:r>
          </a:p>
          <a:p>
            <a:pPr>
              <a:buFontTx/>
              <a:buChar char="-"/>
            </a:pPr>
            <a:r>
              <a:rPr lang="en-US" dirty="0"/>
              <a:t>We create the illusion of multitasking by switching Contexts</a:t>
            </a:r>
          </a:p>
          <a:p>
            <a:pPr>
              <a:buFontTx/>
              <a:buChar char="-"/>
            </a:pPr>
            <a:r>
              <a:rPr lang="en-US" dirty="0"/>
              <a:t>A context is the snapshot of the CPU’s soul: its registers, its program counter, and its stack</a:t>
            </a:r>
          </a:p>
          <a:p>
            <a:pPr>
              <a:buFontTx/>
              <a:buChar char="-"/>
            </a:pPr>
            <a:r>
              <a:rPr lang="en-US" dirty="0"/>
              <a:t>When we switch tasks, we "freeze" one soul and "thaw" another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Execution modeling is the management of CPU "Contexts" and the cost of switching between them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F5C62-22F0-4636-90C7-8ACA9E30C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E47492-95DE-4C55-8B62-F7535F3F4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179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65865-7215-4589-9543-DAB6207E7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and contexts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3657E-F754-4EF7-A04D-917E0D8C8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Superloop</a:t>
            </a:r>
            <a:r>
              <a:rPr lang="en-US" dirty="0"/>
              <a:t>: everyone waits in a long line to run sequentially</a:t>
            </a:r>
          </a:p>
          <a:p>
            <a:r>
              <a:rPr lang="en-US" dirty="0"/>
              <a:t>Foreground/background: Loop + ISRs</a:t>
            </a:r>
          </a:p>
          <a:p>
            <a:r>
              <a:rPr lang="en-US" dirty="0"/>
              <a:t>Cooperative and preemptive multitasking</a:t>
            </a:r>
          </a:p>
          <a:p>
            <a:r>
              <a:rPr lang="en-US" dirty="0"/>
              <a:t>RTOS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Contexts:</a:t>
            </a:r>
          </a:p>
          <a:p>
            <a:r>
              <a:rPr lang="en-US" dirty="0"/>
              <a:t>Main loop</a:t>
            </a:r>
          </a:p>
          <a:p>
            <a:r>
              <a:rPr lang="en-US" dirty="0"/>
              <a:t>Interrupt</a:t>
            </a:r>
          </a:p>
          <a:p>
            <a:r>
              <a:rPr lang="en-US" dirty="0"/>
              <a:t>Task (RTOS)</a:t>
            </a:r>
          </a:p>
          <a:p>
            <a:r>
              <a:rPr lang="en-US" dirty="0"/>
              <a:t>Deferred 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B1B36-C9C1-44FE-8753-47DF89B20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B0626-305B-4699-9725-2C5E6B0D1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395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6CB7-615B-458C-A721-119388AF0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superloop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50AB8-6806-4E12-AE68-E4800B575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Deterministic, simple</a:t>
            </a:r>
          </a:p>
          <a:p>
            <a:r>
              <a:rPr lang="en-US" dirty="0"/>
              <a:t>Context shared throughout</a:t>
            </a:r>
          </a:p>
          <a:p>
            <a:endParaRPr lang="en-US" dirty="0"/>
          </a:p>
          <a:p>
            <a:r>
              <a:rPr lang="en-US" dirty="0"/>
              <a:t>Hard to scale</a:t>
            </a:r>
          </a:p>
          <a:p>
            <a:r>
              <a:rPr lang="en-US" dirty="0"/>
              <a:t>Blocking breaks all timing constraints</a:t>
            </a:r>
          </a:p>
          <a:p>
            <a:endParaRPr lang="en-US" dirty="0"/>
          </a:p>
          <a:p>
            <a:r>
              <a:rPr lang="en-US" dirty="0"/>
              <a:t>Improvement: loop + ISR</a:t>
            </a:r>
          </a:p>
          <a:p>
            <a:r>
              <a:rPr lang="en-US" dirty="0"/>
              <a:t>Still sequential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B062E-2CAB-477F-B76F-85EA5CF8B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9C9FB-F82F-4876-80C8-23094081E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052C9E-9AD1-44D6-B57A-C9FE5A50B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524000"/>
            <a:ext cx="3259667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2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54EB6-81B8-4351-9BCD-9D09EC377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Multitasking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DB0A3-41F3-49D8-8617-F9C07F11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Illusion of parallel execution</a:t>
            </a:r>
          </a:p>
          <a:p>
            <a:r>
              <a:rPr lang="en-US" dirty="0"/>
              <a:t>No need to wait for something else to finish</a:t>
            </a:r>
          </a:p>
          <a:p>
            <a:endParaRPr lang="en-US" dirty="0"/>
          </a:p>
          <a:p>
            <a:r>
              <a:rPr lang="en-US" dirty="0"/>
              <a:t>Cooperative: tasks yield voluntarily to the next task</a:t>
            </a:r>
          </a:p>
          <a:p>
            <a:r>
              <a:rPr lang="en-US" dirty="0"/>
              <a:t>Preemptive: Scheduler starts and stops tasks</a:t>
            </a:r>
          </a:p>
          <a:p>
            <a:r>
              <a:rPr lang="en-US" dirty="0"/>
              <a:t>Idea of priority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955BF-6403-4EFB-9086-54095161F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8A32AE-E16E-4ABB-8149-57167CC25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41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18AEC-AB48-26DE-04BB-691E6A134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cyclic executive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1295E-4BB9-4740-FCD9-6C0C7BCC5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Advantages</a:t>
            </a:r>
          </a:p>
          <a:p>
            <a:pPr>
              <a:buFontTx/>
              <a:buChar char="-"/>
            </a:pPr>
            <a:r>
              <a:rPr lang="en-US" sz="2000" dirty="0"/>
              <a:t>Simple implementation</a:t>
            </a:r>
          </a:p>
          <a:p>
            <a:pPr lvl="1">
              <a:buFontTx/>
              <a:buChar char="-"/>
            </a:pPr>
            <a:r>
              <a:rPr lang="en-US" sz="1800" dirty="0"/>
              <a:t>How would you implement?</a:t>
            </a:r>
          </a:p>
          <a:p>
            <a:pPr>
              <a:buFontTx/>
              <a:buChar char="-"/>
            </a:pPr>
            <a:r>
              <a:rPr lang="en-US" sz="2000" dirty="0"/>
              <a:t>Low overhead</a:t>
            </a:r>
          </a:p>
          <a:p>
            <a:pPr>
              <a:buFontTx/>
              <a:buChar char="-"/>
            </a:pPr>
            <a:r>
              <a:rPr lang="en-US" sz="2000" dirty="0"/>
              <a:t>Very predictable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Disadvantages</a:t>
            </a:r>
          </a:p>
          <a:p>
            <a:pPr>
              <a:buFontTx/>
              <a:buChar char="-"/>
            </a:pPr>
            <a:r>
              <a:rPr lang="en-US" sz="2000" dirty="0"/>
              <a:t>Cannot handle sporadic events</a:t>
            </a:r>
          </a:p>
          <a:p>
            <a:pPr>
              <a:buFontTx/>
              <a:buChar char="-"/>
            </a:pPr>
            <a:r>
              <a:rPr lang="en-US" sz="2000" dirty="0"/>
              <a:t>Everything must operate in lockstep</a:t>
            </a:r>
          </a:p>
          <a:p>
            <a:pPr>
              <a:buFontTx/>
              <a:buChar char="-"/>
            </a:pPr>
            <a:r>
              <a:rPr lang="en-US" sz="2000" dirty="0"/>
              <a:t>Code is scheduled manually</a:t>
            </a:r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Solution: Cyclic executive with interrupts</a:t>
            </a:r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5E39B-7D04-D30C-D558-DE668EA16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71FB0F-F4CF-56AF-BC02-409981E12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E19BDA-1204-826A-EDE7-A6EF9D86A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828" y="914400"/>
            <a:ext cx="1740572" cy="16017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DB2211-D0E4-2548-50E7-2D46353095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9118" y="2971800"/>
            <a:ext cx="3891567" cy="16578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647E2B-153D-BF4F-80A7-DCBDA87090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9118" y="4740826"/>
            <a:ext cx="3891567" cy="163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536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3A0E5-F19B-71F2-940F-F8AA84BAE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you do inside an interrupt service routine?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CEFF8A9-CC2B-E26A-DE0E-ACC2FF11DE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403040" y="1446213"/>
            <a:ext cx="6337919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5A36F-5E92-85E0-985C-D0C625BD7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963ADF-D487-BB84-D36E-736039B11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231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72E3E-DB4D-19E5-BEE8-5AEC163B0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ISR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25E8E-9423-2BE4-591F-F50AEBE49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Copy peripheral data into a buffer</a:t>
            </a:r>
          </a:p>
          <a:p>
            <a:r>
              <a:rPr lang="en-US" dirty="0"/>
              <a:t>Indicate to other code that data has arrived</a:t>
            </a:r>
          </a:p>
          <a:p>
            <a:pPr lvl="1"/>
            <a:r>
              <a:rPr lang="en-US" dirty="0"/>
              <a:t>How?</a:t>
            </a:r>
          </a:p>
          <a:p>
            <a:pPr lvl="1"/>
            <a:r>
              <a:rPr lang="en-US" dirty="0"/>
              <a:t>Events</a:t>
            </a:r>
          </a:p>
          <a:p>
            <a:pPr lvl="1"/>
            <a:r>
              <a:rPr lang="en-US" dirty="0"/>
              <a:t>Start or stop a process</a:t>
            </a:r>
          </a:p>
          <a:p>
            <a:pPr lvl="1"/>
            <a:r>
              <a:rPr lang="en-US" dirty="0"/>
              <a:t>Change priority</a:t>
            </a:r>
          </a:p>
          <a:p>
            <a:r>
              <a:rPr lang="en-US" dirty="0"/>
              <a:t>Acknowledge the interrupt</a:t>
            </a:r>
          </a:p>
          <a:p>
            <a:pPr lvl="1"/>
            <a:r>
              <a:rPr lang="en-US" dirty="0"/>
              <a:t>Tell the hardware that generated it that it has been handled</a:t>
            </a:r>
          </a:p>
          <a:p>
            <a:endParaRPr lang="en-US" dirty="0"/>
          </a:p>
          <a:p>
            <a:r>
              <a:rPr lang="en-US" dirty="0"/>
              <a:t>ISRs run fast!</a:t>
            </a:r>
          </a:p>
          <a:p>
            <a:r>
              <a:rPr lang="en-US" dirty="0"/>
              <a:t>Placed in RAM instead of flash</a:t>
            </a:r>
          </a:p>
          <a:p>
            <a:r>
              <a:rPr lang="en-US" dirty="0"/>
              <a:t>Leave longer reaction task outside the ISR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6C11-E2AB-8942-2AD7-365DCB64B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8B7622-D1CD-4322-57A5-00F9B35A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553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26B1-D8F3-B3F7-15DB-C5ED88246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 + Interrupts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12CBF-24BE-D0F8-9615-AAD539FBB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Extremely easy to implement</a:t>
            </a:r>
          </a:p>
          <a:p>
            <a:r>
              <a:rPr lang="en-US" dirty="0"/>
              <a:t>Very cheap also! No extra overhead code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But</a:t>
            </a:r>
          </a:p>
          <a:p>
            <a:r>
              <a:rPr lang="en-US" dirty="0"/>
              <a:t>Main loop running in lockstep</a:t>
            </a:r>
          </a:p>
          <a:p>
            <a:r>
              <a:rPr lang="en-US" dirty="0"/>
              <a:t>Programmer must handle scheduling</a:t>
            </a:r>
          </a:p>
          <a:p>
            <a:r>
              <a:rPr lang="en-US" dirty="0"/>
              <a:t>Scheduling is static (cannot dynamically change order of tasks)</a:t>
            </a:r>
          </a:p>
          <a:p>
            <a:r>
              <a:rPr lang="en-US" dirty="0"/>
              <a:t>Latency of event handling still long</a:t>
            </a:r>
          </a:p>
          <a:p>
            <a:r>
              <a:rPr lang="en-US" dirty="0"/>
              <a:t>Interrupts introduce jitter in task timing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7329D-D31D-9EBD-2B69-760DA80FB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92D4F-BDD5-5F21-369B-70019862E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979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65952-9D75-4077-137A-BDEF30071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Cooperative multitasking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CAD51-4397-566E-71F4-6189D5565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Processes relinquish control to other processes</a:t>
            </a:r>
          </a:p>
          <a:p>
            <a:endParaRPr lang="en-US" dirty="0"/>
          </a:p>
          <a:p>
            <a:r>
              <a:rPr lang="en-US" dirty="0"/>
              <a:t>More control on when a process stops and goes to another</a:t>
            </a:r>
          </a:p>
          <a:p>
            <a:pPr lvl="1"/>
            <a:r>
              <a:rPr lang="en-US" dirty="0"/>
              <a:t>Better coordination between processes</a:t>
            </a:r>
          </a:p>
          <a:p>
            <a:r>
              <a:rPr lang="en-US" dirty="0"/>
              <a:t>Priority can be implemented by changing task order</a:t>
            </a:r>
          </a:p>
          <a:p>
            <a:pPr lvl="1"/>
            <a:r>
              <a:rPr lang="en-US" dirty="0"/>
              <a:t>Simple scheduler that maintains priority queues</a:t>
            </a:r>
          </a:p>
          <a:p>
            <a:endParaRPr lang="en-US" dirty="0"/>
          </a:p>
          <a:p>
            <a:r>
              <a:rPr lang="en-US" dirty="0"/>
              <a:t>Programmer has to ensure a single process does not hog all CPU time</a:t>
            </a:r>
          </a:p>
          <a:p>
            <a:r>
              <a:rPr lang="en-US" dirty="0"/>
              <a:t>Bugs in a single task jeopardize all others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2D605-D691-8371-06A1-5033C5ECC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9EC57A-E09A-FDB1-DBE5-7ABDAEB79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994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666F7-B507-7E1E-5371-81093546A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systems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AD2E7A-56D0-237A-742D-00EA7FA3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F079D-81EF-2436-4591-97C6CC82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ED8975-68E5-BE2E-8120-47155DABDC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Function and scheduling are usually orthogonal</a:t>
            </a:r>
          </a:p>
          <a:p>
            <a:r>
              <a:rPr lang="en-US" dirty="0"/>
              <a:t>Let programmer handle function</a:t>
            </a:r>
          </a:p>
          <a:p>
            <a:r>
              <a:rPr lang="en-US" dirty="0"/>
              <a:t>Operating system will handle the scheduling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11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77E4C-816E-4927-FF33-AAE782627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975"/>
            <a:ext cx="6934200" cy="1195386"/>
          </a:xfrm>
        </p:spPr>
        <p:txBody>
          <a:bodyPr/>
          <a:lstStyle/>
          <a:p>
            <a:r>
              <a:rPr lang="en-US" dirty="0"/>
              <a:t>Operating systems for</a:t>
            </a:r>
            <a:br>
              <a:rPr lang="en-US" dirty="0"/>
            </a:br>
            <a:r>
              <a:rPr lang="en-US" dirty="0"/>
              <a:t>conventional vs embedded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96DB0-6E4F-EF60-33F6-8BCF335BE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Conventional:</a:t>
            </a:r>
          </a:p>
          <a:p>
            <a:r>
              <a:rPr lang="en-US" dirty="0"/>
              <a:t>Multiple threads or processes</a:t>
            </a:r>
          </a:p>
          <a:p>
            <a:r>
              <a:rPr lang="en-US" dirty="0"/>
              <a:t>File system</a:t>
            </a:r>
          </a:p>
          <a:p>
            <a:r>
              <a:rPr lang="en-US" dirty="0"/>
              <a:t>Virtual memory and paging</a:t>
            </a:r>
          </a:p>
          <a:p>
            <a:r>
              <a:rPr lang="en-US" dirty="0"/>
              <a:t>I/O and interrupt handling</a:t>
            </a:r>
          </a:p>
          <a:p>
            <a:r>
              <a:rPr lang="en-US" dirty="0"/>
              <a:t>Resource allocation</a:t>
            </a:r>
          </a:p>
          <a:p>
            <a:r>
              <a:rPr lang="en-US" dirty="0"/>
              <a:t>Command interface for executing programs</a:t>
            </a:r>
          </a:p>
          <a:p>
            <a:pPr marL="0" indent="0">
              <a:buNone/>
            </a:pPr>
            <a:r>
              <a:rPr lang="en-US" dirty="0"/>
              <a:t>Embedded:</a:t>
            </a:r>
          </a:p>
          <a:p>
            <a:r>
              <a:rPr lang="en-US" dirty="0"/>
              <a:t>Lightweight threads</a:t>
            </a:r>
          </a:p>
          <a:p>
            <a:r>
              <a:rPr lang="en-US" dirty="0" err="1"/>
              <a:t>i</a:t>
            </a:r>
            <a:r>
              <a:rPr lang="en-US" dirty="0"/>
              <a:t>/o and interrupt handling</a:t>
            </a:r>
          </a:p>
          <a:p>
            <a:r>
              <a:rPr lang="en-US" dirty="0"/>
              <a:t>Real time guarantees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90B40-AB57-8DF9-5A8C-065F70E06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B1A095-946C-E4F9-174F-19412F886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852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BD3B6-2112-849C-7CE6-34B1DF1EB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 operating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C5AB1-6B87-40BD-A3A2-1C6F5A362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Lightweight threads</a:t>
            </a:r>
          </a:p>
          <a:p>
            <a:r>
              <a:rPr lang="en-US" dirty="0"/>
              <a:t>Basic locks</a:t>
            </a:r>
          </a:p>
          <a:p>
            <a:r>
              <a:rPr lang="en-US" dirty="0"/>
              <a:t>Fast context switches</a:t>
            </a:r>
          </a:p>
          <a:p>
            <a:pPr marL="0" indent="0">
              <a:buNone/>
            </a:pPr>
            <a:r>
              <a:rPr lang="en-US" dirty="0"/>
              <a:t>Input / output</a:t>
            </a:r>
          </a:p>
          <a:p>
            <a:r>
              <a:rPr lang="en-US" dirty="0"/>
              <a:t>API for talking to devices</a:t>
            </a:r>
          </a:p>
          <a:p>
            <a:r>
              <a:rPr lang="en-US" dirty="0"/>
              <a:t>Buffering</a:t>
            </a:r>
          </a:p>
          <a:p>
            <a:pPr marL="0" indent="0">
              <a:buNone/>
            </a:pPr>
            <a:r>
              <a:rPr lang="en-US" dirty="0"/>
              <a:t>Interrupt handling</a:t>
            </a:r>
          </a:p>
          <a:p>
            <a:r>
              <a:rPr lang="en-US" dirty="0"/>
              <a:t>Translate interrupts to events handled by user code</a:t>
            </a:r>
          </a:p>
          <a:p>
            <a:r>
              <a:rPr lang="en-US" dirty="0"/>
              <a:t>Trigger new tasks to run</a:t>
            </a:r>
          </a:p>
          <a:p>
            <a:pPr marL="0" indent="0">
              <a:buNone/>
            </a:pPr>
            <a:r>
              <a:rPr lang="en-US" dirty="0"/>
              <a:t>Real time guarantees</a:t>
            </a:r>
          </a:p>
          <a:p>
            <a:r>
              <a:rPr lang="en-US" dirty="0"/>
              <a:t>Guarantee that a task is called at a certain rate</a:t>
            </a:r>
          </a:p>
          <a:p>
            <a:r>
              <a:rPr lang="en-US" dirty="0"/>
              <a:t>Guarantee interrupt handling time</a:t>
            </a:r>
          </a:p>
          <a:p>
            <a:r>
              <a:rPr lang="en-US" dirty="0"/>
              <a:t>Priority or deadline driven scheduling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053E3-BFFC-25B1-0650-8266ACED9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08887-C55F-2E22-6B55-7BEA852C6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9341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10FCF-FF67-5B46-351B-E849A2033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real time constraints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7B1A8-228B-FE20-1A55-A2E496F62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 – miss deadline, total failure of system. Minor or major disaster (people may die?)</a:t>
            </a:r>
          </a:p>
          <a:p>
            <a:endParaRPr lang="en-US" dirty="0"/>
          </a:p>
          <a:p>
            <a:r>
              <a:rPr lang="en-US" dirty="0"/>
              <a:t>Firm – result no longer useful after deadline missed</a:t>
            </a:r>
          </a:p>
          <a:p>
            <a:endParaRPr lang="en-US" dirty="0"/>
          </a:p>
          <a:p>
            <a:r>
              <a:rPr lang="en-US" dirty="0"/>
              <a:t>Soft – results gradually less useful as deadline passes.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86BAF-88FD-29F0-D6A4-B486063F9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869499-FED6-3FF7-B218-B12E29547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769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13901-136A-8C33-7669-A78B561CE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factors make real-time hard?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AF23F-FCC8-AB40-078D-C983ABD48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Interrupts</a:t>
            </a:r>
            <a:r>
              <a:rPr lang="en-IN" dirty="0"/>
              <a:t> (timing disrupted by external event responses)</a:t>
            </a:r>
          </a:p>
          <a:p>
            <a:r>
              <a:rPr lang="en-IN" dirty="0"/>
              <a:t>Unpredictability of CPU execution</a:t>
            </a:r>
          </a:p>
          <a:p>
            <a:pPr lvl="1"/>
            <a:r>
              <a:rPr lang="en-IN" dirty="0"/>
              <a:t>Branch prediction, caches, power modes and clock frequency changes, memory management (page fault)</a:t>
            </a:r>
          </a:p>
          <a:p>
            <a:r>
              <a:rPr lang="en-IN" dirty="0"/>
              <a:t>Dynamic memory allocation and garbage collection</a:t>
            </a:r>
          </a:p>
          <a:p>
            <a:r>
              <a:rPr lang="en-IN" dirty="0"/>
              <a:t>Unpredictable hardware (e.g. network access)</a:t>
            </a:r>
          </a:p>
          <a:p>
            <a:r>
              <a:rPr lang="en-US" dirty="0"/>
              <a:t>Operating systems (scheduler, context switching)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So why do we use RTOSs?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2979D-D561-7090-025F-3D9B7683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C5EADA-DC65-F9DB-86B7-B4B1859D7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685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6DD4-4D34-537A-CF32-1593A532C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time operating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F1ED6-7A70-7AE3-3BB3-CCC9ACABA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 latency of OS calls</a:t>
            </a:r>
          </a:p>
          <a:p>
            <a:r>
              <a:rPr lang="en-US" dirty="0"/>
              <a:t>Fast context switching</a:t>
            </a:r>
          </a:p>
          <a:p>
            <a:r>
              <a:rPr lang="en-US" dirty="0"/>
              <a:t>Main goal: meeting task deadlines</a:t>
            </a:r>
          </a:p>
          <a:p>
            <a:r>
              <a:rPr lang="en-US" dirty="0"/>
              <a:t>Goal is not fairness (unlike conventional OSes)</a:t>
            </a:r>
          </a:p>
          <a:p>
            <a:endParaRPr lang="en-US" dirty="0"/>
          </a:p>
          <a:p>
            <a:r>
              <a:rPr lang="en-US" dirty="0"/>
              <a:t>If you have five homework assignments, and one is due in an hour, you will work on that one!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4086B-2530-6A6E-74D6-59C243FB5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3DC894-DB20-07D5-049E-9A2CB04C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1594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11A54-FC17-904C-9905-BC032DC59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RTOS Task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E1573-31AE-FA09-2B5D-C102D8C9A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Each task a triplet: (execution time, period, deadline)</a:t>
            </a:r>
          </a:p>
          <a:p>
            <a:r>
              <a:rPr lang="en-US" sz="2800" dirty="0"/>
              <a:t>Usually: deadline = period</a:t>
            </a:r>
          </a:p>
          <a:p>
            <a:r>
              <a:rPr lang="en-US" sz="2800" dirty="0"/>
              <a:t>Can be initiated anytime during the period</a:t>
            </a:r>
            <a:endParaRPr lang="en-IN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D37D5-C883-0F93-AD94-E8C1CA0D9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CEE3F2-6251-953D-B9B1-6B2D6658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411DEC-90C5-CDD2-75B8-CDF230B13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968" y="3429000"/>
            <a:ext cx="7078063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65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AE6F3-AB14-8828-F52E-C4732DD05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Periods can be very different for different tasks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31C2EF6-E9C8-BF8B-CB1A-A30AF48082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85356" y="1446213"/>
            <a:ext cx="7973288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39BDF-2D86-49D7-C197-72BA5EB45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4AE21-7101-04C2-39A0-7422B04CF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51215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2E17A-3F26-FBA4-16E1-5ED79A0B4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based preemptive scheduling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3784C-61C6-A4FF-77B7-4F193030D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Always run the highest priority runnable process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A0BC7-7B0B-1B5A-D5CE-B1193632E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93AAC9-68A6-453A-4214-0B5D297D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8C1182-9109-EE07-68A5-EF7FBADD6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68" y="2514600"/>
            <a:ext cx="7983064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469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15548</TotalTime>
  <Words>1307</Words>
  <Application>Microsoft Office PowerPoint</Application>
  <PresentationFormat>On-screen Show (4:3)</PresentationFormat>
  <Paragraphs>321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Wingdings</vt:lpstr>
      <vt:lpstr>Office Theme</vt:lpstr>
      <vt:lpstr>Software for Embedded Systems</vt:lpstr>
      <vt:lpstr>Where we are</vt:lpstr>
      <vt:lpstr>Organization of the application layer</vt:lpstr>
      <vt:lpstr>Pattern I: Monolithic controller</vt:lpstr>
      <vt:lpstr>Pattern II: Coordinated controllers</vt:lpstr>
      <vt:lpstr>Pattern III: Event dispatcher</vt:lpstr>
      <vt:lpstr>Event ownership at application level</vt:lpstr>
      <vt:lpstr>Comparison of application level patterns</vt:lpstr>
      <vt:lpstr>Control flow visibility</vt:lpstr>
      <vt:lpstr>Ease of adding modules</vt:lpstr>
      <vt:lpstr>Final distinctions</vt:lpstr>
      <vt:lpstr>Where we are</vt:lpstr>
      <vt:lpstr>Execution model = Rules of Running</vt:lpstr>
      <vt:lpstr>Models and contexts</vt:lpstr>
      <vt:lpstr>The superloop</vt:lpstr>
      <vt:lpstr>Multitasking</vt:lpstr>
      <vt:lpstr>The cyclic executive model</vt:lpstr>
      <vt:lpstr>What do you do inside an interrupt service routine?</vt:lpstr>
      <vt:lpstr>Typical ISR</vt:lpstr>
      <vt:lpstr>CE + Interrupts</vt:lpstr>
      <vt:lpstr>Cooperative multitasking</vt:lpstr>
      <vt:lpstr>Operating systems</vt:lpstr>
      <vt:lpstr>Operating systems for conventional vs embedded systems</vt:lpstr>
      <vt:lpstr>Embedded operating systems</vt:lpstr>
      <vt:lpstr>Types of real time constraints</vt:lpstr>
      <vt:lpstr>What factors make real-time hard?</vt:lpstr>
      <vt:lpstr>Real time operating systems</vt:lpstr>
      <vt:lpstr>RTOS Task Model</vt:lpstr>
      <vt:lpstr>Periods can be very different for different tasks</vt:lpstr>
      <vt:lpstr>Priority based preemptive scheduling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730</cp:revision>
  <dcterms:created xsi:type="dcterms:W3CDTF">2010-01-15T20:22:21Z</dcterms:created>
  <dcterms:modified xsi:type="dcterms:W3CDTF">2026-02-26T06:22:33Z</dcterms:modified>
</cp:coreProperties>
</file>