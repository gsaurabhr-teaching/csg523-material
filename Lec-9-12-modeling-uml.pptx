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337" r:id="rId2"/>
    <p:sldId id="430" r:id="rId3"/>
    <p:sldId id="431" r:id="rId4"/>
    <p:sldId id="428" r:id="rId5"/>
    <p:sldId id="433" r:id="rId6"/>
    <p:sldId id="432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7" r:id="rId20"/>
    <p:sldId id="446" r:id="rId21"/>
    <p:sldId id="449" r:id="rId22"/>
    <p:sldId id="448" r:id="rId23"/>
    <p:sldId id="451" r:id="rId24"/>
    <p:sldId id="452" r:id="rId25"/>
    <p:sldId id="453" r:id="rId26"/>
    <p:sldId id="454" r:id="rId27"/>
    <p:sldId id="450" r:id="rId28"/>
    <p:sldId id="455" r:id="rId29"/>
    <p:sldId id="456" r:id="rId30"/>
    <p:sldId id="457" r:id="rId31"/>
    <p:sldId id="458" r:id="rId32"/>
    <p:sldId id="459" r:id="rId33"/>
    <p:sldId id="460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945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EF66-B977-47D5-9EC9-E1C2E199A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5D78C-6F1E-4D89-A931-756CDFF40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Hardware events capture CPU attention</a:t>
            </a:r>
          </a:p>
          <a:p>
            <a:r>
              <a:rPr lang="en-US" dirty="0"/>
              <a:t>Normal execution is temporarily suspended</a:t>
            </a:r>
          </a:p>
          <a:p>
            <a:r>
              <a:rPr lang="en-US" dirty="0"/>
              <a:t>A function (“handler”) is called to handle the event</a:t>
            </a:r>
          </a:p>
          <a:p>
            <a:r>
              <a:rPr lang="en-US" dirty="0"/>
              <a:t>Normal execution resumes after event is handled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2C3E8"/>
                </a:solidFill>
              </a:rPr>
              <a:t>Hardware decides when the software reacts</a:t>
            </a:r>
          </a:p>
          <a:p>
            <a:pPr marL="0" indent="0">
              <a:buNone/>
            </a:pPr>
            <a:endParaRPr lang="en-US" dirty="0">
              <a:solidFill>
                <a:srgbClr val="72C3E8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2C3E8"/>
                </a:solidFill>
              </a:rPr>
              <a:t>More responsive!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D5E8-DCB5-4BB5-B6FC-DAA92D5F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8C07F-89D1-42D8-913D-93835D61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013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ABCF-3BA7-4FF6-9E29-8B61A964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‘handle an event’?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44854-F0DB-4322-85B5-C5EEA0261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A keyboard key press</a:t>
            </a:r>
          </a:p>
          <a:p>
            <a:r>
              <a:rPr lang="en-US" dirty="0"/>
              <a:t>New temperature measurement available in a weather logger</a:t>
            </a:r>
          </a:p>
          <a:p>
            <a:r>
              <a:rPr lang="en-US" dirty="0"/>
              <a:t>New temperature measurement available in the infusion pump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2C3E8"/>
                </a:solidFill>
              </a:rPr>
              <a:t>Handling interrupts correctly is critical – do the bare minimal for survival (and design survival accordingly)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EAD4D-0830-4219-B373-857BA4CA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866DA-7D76-434E-9F12-0D1B9652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31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C47C-8BB4-402F-82B1-8B1E57E2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multiple interrupt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750F3-48CD-450A-A911-4B1A2B395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ts val="1000"/>
              </a:spcBef>
            </a:pPr>
            <a:r>
              <a:rPr lang="en-US" dirty="0"/>
              <a:t>What if an interrupt comes while handling another interrupt?</a:t>
            </a:r>
          </a:p>
          <a:p>
            <a:pPr>
              <a:spcBef>
                <a:spcPts val="1000"/>
              </a:spcBef>
            </a:pPr>
            <a:r>
              <a:rPr lang="en-US" dirty="0"/>
              <a:t>Infusion pump: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temperature sensor interrupt comes while handling user input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User input interrupt comes while handling temperature sensor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Temperature sensor vs bubble sensor</a:t>
            </a:r>
          </a:p>
          <a:p>
            <a:pPr>
              <a:spcBef>
                <a:spcPts val="1000"/>
              </a:spcBef>
            </a:pPr>
            <a:r>
              <a:rPr lang="en-US" dirty="0"/>
              <a:t>Disabling interrupts</a:t>
            </a:r>
          </a:p>
          <a:p>
            <a:pPr>
              <a:spcBef>
                <a:spcPts val="1000"/>
              </a:spcBef>
            </a:pPr>
            <a:r>
              <a:rPr lang="en-US" dirty="0"/>
              <a:t>Priorities</a:t>
            </a:r>
          </a:p>
          <a:p>
            <a:pPr>
              <a:spcBef>
                <a:spcPts val="1000"/>
              </a:spcBef>
            </a:pPr>
            <a:r>
              <a:rPr lang="en-US" dirty="0"/>
              <a:t>Hybrid model: poll slowly changing signals, and use interrupts for critical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1BA9A-9A8C-4F45-9D66-4B2847D7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EDC8-D45D-4E2D-851A-47B80AAE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65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CB81-58BE-4258-BDB8-7984E836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embedded systems – UML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B8964-25B2-4177-A739-0A74DC65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C1766-6BA7-4783-8899-9EB65499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2ED3F4-5C84-4CA9-95C1-139775BC24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do we mean by ‘modeling’ an ES?</a:t>
            </a:r>
          </a:p>
          <a:p>
            <a:r>
              <a:rPr lang="en-US" dirty="0"/>
              <a:t>What is UML (Unified Modeling Language)?</a:t>
            </a:r>
          </a:p>
          <a:p>
            <a:r>
              <a:rPr lang="en-US" dirty="0"/>
              <a:t>Why UML for embedded systems?</a:t>
            </a:r>
          </a:p>
          <a:p>
            <a:r>
              <a:rPr lang="en-US" dirty="0"/>
              <a:t>System context, boundaries and use cases</a:t>
            </a:r>
          </a:p>
        </p:txBody>
      </p:sp>
    </p:spTree>
    <p:extLst>
      <p:ext uri="{BB962C8B-B14F-4D97-AF65-F5344CB8AC3E}">
        <p14:creationId xmlns:p14="http://schemas.microsoft.com/office/powerpoint/2010/main" val="212828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D367-BA69-448D-A576-2A9F0151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‘model’ a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22A1-A33B-4788-BA95-8E0954D2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72C3E8"/>
                </a:solidFill>
              </a:rPr>
              <a:t>Models are an abstraction of reality</a:t>
            </a:r>
          </a:p>
          <a:p>
            <a:r>
              <a:rPr lang="en-US" sz="2400" dirty="0"/>
              <a:t>Partial, imperfect descriptions</a:t>
            </a:r>
          </a:p>
          <a:p>
            <a:r>
              <a:rPr lang="en-US" sz="2400" dirty="0"/>
              <a:t>What is the use of partial and</a:t>
            </a:r>
            <a:br>
              <a:rPr lang="en-US" sz="2400" dirty="0"/>
            </a:br>
            <a:r>
              <a:rPr lang="en-US" sz="2400" dirty="0"/>
              <a:t>imperfect descriptions?</a:t>
            </a:r>
          </a:p>
          <a:p>
            <a:endParaRPr lang="en-US" sz="2400" dirty="0"/>
          </a:p>
          <a:p>
            <a:r>
              <a:rPr lang="en-US" sz="2400" dirty="0"/>
              <a:t>Model of the Delhi metro</a:t>
            </a:r>
          </a:p>
          <a:p>
            <a:r>
              <a:rPr lang="en-US" sz="2400" dirty="0"/>
              <a:t>Which is most accurate?</a:t>
            </a:r>
          </a:p>
          <a:p>
            <a:r>
              <a:rPr lang="en-US" sz="2400" dirty="0"/>
              <a:t>Which of these is most useful?</a:t>
            </a:r>
          </a:p>
          <a:p>
            <a:r>
              <a:rPr lang="en-US" sz="2400" dirty="0">
                <a:solidFill>
                  <a:srgbClr val="EA3F26"/>
                </a:solidFill>
              </a:rPr>
              <a:t>Use dependent utility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6D0E5-23C5-4654-97EE-16874058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7BEAD-2508-4804-9493-0D06D975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1917E-D986-4705-976F-4A78004E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450" y="1387225"/>
            <a:ext cx="3961150" cy="1892304"/>
          </a:xfrm>
          <a:prstGeom prst="rect">
            <a:avLst/>
          </a:prstGeom>
        </p:spPr>
      </p:pic>
      <p:pic>
        <p:nvPicPr>
          <p:cNvPr id="7" name="Picture 2" descr="CITY MAP OF DELHI (HINDI) SIZE 45 X 57 CMS">
            <a:extLst>
              <a:ext uri="{FF2B5EF4-FFF2-40B4-BE49-F238E27FC236}">
                <a16:creationId xmlns:a16="http://schemas.microsoft.com/office/drawing/2014/main" id="{D681A0F8-1D91-4309-9AEE-28738E3B8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478" y="3607820"/>
            <a:ext cx="1976587" cy="197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igh resolution Satellite image of New Delhi, India (Isolated imagery of  India. Elements of this image furnished by NASA) Stock Photo | Adobe Stock">
            <a:extLst>
              <a:ext uri="{FF2B5EF4-FFF2-40B4-BE49-F238E27FC236}">
                <a16:creationId xmlns:a16="http://schemas.microsoft.com/office/drawing/2014/main" id="{D5936E56-22A4-424F-921A-D0292449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11087" y="5292961"/>
            <a:ext cx="1882282" cy="11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Maps of Delhi ::">
            <a:extLst>
              <a:ext uri="{FF2B5EF4-FFF2-40B4-BE49-F238E27FC236}">
                <a16:creationId xmlns:a16="http://schemas.microsoft.com/office/drawing/2014/main" id="{7BA22BFA-85A4-46CA-A580-A307DC7B0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713" y="4879314"/>
            <a:ext cx="1656289" cy="165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2EB72604-CC9A-4E29-91DD-1D8B32E5E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057" y="4734229"/>
            <a:ext cx="2274943" cy="172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0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A8BF-18B9-4DFB-8665-596B6DE5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798F1-DB77-40C9-8364-205BB569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72C3E8"/>
                </a:solidFill>
              </a:rPr>
              <a:t>A model is an </a:t>
            </a:r>
            <a:r>
              <a:rPr lang="en-US" sz="2400" b="1" dirty="0">
                <a:solidFill>
                  <a:srgbClr val="72C3E8"/>
                </a:solidFill>
              </a:rPr>
              <a:t>abstraction</a:t>
            </a:r>
            <a:r>
              <a:rPr lang="en-US" sz="2400" dirty="0">
                <a:solidFill>
                  <a:srgbClr val="72C3E8"/>
                </a:solidFill>
              </a:rPr>
              <a:t> of a physical system. It highlights the essential characteristics while hiding unnecessary implementation details.</a:t>
            </a:r>
          </a:p>
          <a:p>
            <a:r>
              <a:rPr lang="en-US" sz="2400" dirty="0"/>
              <a:t>The "Blueprint" Analogy:</a:t>
            </a:r>
          </a:p>
          <a:p>
            <a:pPr lvl="1"/>
            <a:r>
              <a:rPr lang="en-US" sz="2000" dirty="0"/>
              <a:t>You wouldn't build a skyscraper without a structural model</a:t>
            </a:r>
          </a:p>
          <a:p>
            <a:pPr lvl="1"/>
            <a:r>
              <a:rPr lang="en-US" sz="2000" dirty="0"/>
              <a:t>You shouldn't build a safety-critical embedded system without a behavioral model</a:t>
            </a:r>
          </a:p>
          <a:p>
            <a:pPr marL="0" indent="0">
              <a:buNone/>
            </a:pPr>
            <a:r>
              <a:rPr lang="en-US" sz="2400" dirty="0"/>
              <a:t>Multiple views of a model</a:t>
            </a:r>
          </a:p>
          <a:p>
            <a:r>
              <a:rPr lang="en-US" sz="2400" dirty="0"/>
              <a:t>Structural: what the system is made of</a:t>
            </a:r>
          </a:p>
          <a:p>
            <a:r>
              <a:rPr lang="en-US" sz="2400" dirty="0"/>
              <a:t>Behavioral: How the system reacts to stimuli</a:t>
            </a:r>
          </a:p>
          <a:p>
            <a:r>
              <a:rPr lang="en-US" sz="2400" dirty="0"/>
              <a:t>Environmental: How the system sits in the real world (what it senses, what it affects, who uses it etc.)</a:t>
            </a:r>
          </a:p>
          <a:p>
            <a:pPr marL="0" indent="0">
              <a:buNone/>
            </a:pPr>
            <a:r>
              <a:rPr lang="en-US" sz="2400" dirty="0"/>
              <a:t>Models help capture assumptions early 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7FF24-597E-41D4-B6F8-6E2F5436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8043C-D855-4ED6-A500-AB032CA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97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A7BC-18A8-4E1C-972F-6619AE46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 embedded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F7A8-749B-49AE-A3F4-AF9E01F7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</a:pPr>
            <a:r>
              <a:rPr lang="en-US" dirty="0">
                <a:solidFill>
                  <a:srgbClr val="72C3E8"/>
                </a:solidFill>
              </a:rPr>
              <a:t>Complexity management: </a:t>
            </a:r>
            <a:r>
              <a:rPr lang="en-US" dirty="0"/>
              <a:t>Modern embedded systems (e.g., an Autonomous Driving module) have millions of lines of code. Humans cannot hold the entire logic in their heads at once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72C3E8"/>
                </a:solidFill>
              </a:rPr>
              <a:t>Early error detection: </a:t>
            </a:r>
            <a:r>
              <a:rPr lang="en-US" dirty="0"/>
              <a:t>Finding a logic flaw in a UML diagram costs cents; finding it during "Hardware-in-the-Loop" testing costs thousands; finding it after a product recall costs millions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72C3E8"/>
                </a:solidFill>
              </a:rPr>
              <a:t>Communication bridge </a:t>
            </a:r>
            <a:r>
              <a:rPr lang="en-US" dirty="0"/>
              <a:t>between H/W and S/W engineers; designers and stakeholders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72C3E8"/>
                </a:solidFill>
              </a:rPr>
              <a:t>Basis for simulation: </a:t>
            </a:r>
            <a:r>
              <a:rPr lang="en-US" dirty="0"/>
              <a:t>Models can be mathematically verified or simulated to prove certain claims (for example, related to safety)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40C0B-4AF1-475B-9FF8-1F82E3F4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D2070-C8F2-4B01-9850-D635A548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93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D485-8F81-4C5B-87FA-3A6A5F5F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12B3A-2D20-4DCA-B4E5-AAC678B2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1000"/>
              </a:spcBef>
            </a:pPr>
            <a:r>
              <a:rPr lang="en-US" dirty="0"/>
              <a:t>System boundaries drift (who handles a sensor fault? Not defined, and no one does it…)</a:t>
            </a:r>
          </a:p>
          <a:p>
            <a:pPr>
              <a:spcBef>
                <a:spcPts val="1000"/>
              </a:spcBef>
            </a:pPr>
            <a:r>
              <a:rPr lang="en-US" dirty="0"/>
              <a:t>Responsibilities are unclear (both the control task and interrupt try to stop a motor, causing race conditions)</a:t>
            </a:r>
          </a:p>
          <a:p>
            <a:pPr>
              <a:spcBef>
                <a:spcPts val="1000"/>
              </a:spcBef>
            </a:pPr>
            <a:r>
              <a:rPr lang="en-US" dirty="0"/>
              <a:t>Assumptions remain implicit (Siemens PLC example)</a:t>
            </a:r>
          </a:p>
          <a:p>
            <a:pPr>
              <a:spcBef>
                <a:spcPts val="1000"/>
              </a:spcBef>
            </a:pPr>
            <a:r>
              <a:rPr lang="en-US" dirty="0"/>
              <a:t>Interfaces are poorly defined (sensor driver reports raw values and control module assumes another unit)</a:t>
            </a:r>
          </a:p>
          <a:p>
            <a:pPr>
              <a:spcBef>
                <a:spcPts val="1000"/>
              </a:spcBef>
            </a:pPr>
            <a:r>
              <a:rPr lang="en-US" dirty="0"/>
              <a:t>Event handling is incomplete (over-temperature event is handled, but recovery is undefined)</a:t>
            </a:r>
          </a:p>
          <a:p>
            <a:pPr>
              <a:spcBef>
                <a:spcPts val="1000"/>
              </a:spcBef>
            </a:pPr>
            <a:r>
              <a:rPr lang="en-US" dirty="0"/>
              <a:t>Fault cases are forgotten (normal infusion works perfectly, but behavior after watchdog timer reset is never defined)</a:t>
            </a:r>
          </a:p>
          <a:p>
            <a:pPr>
              <a:spcBef>
                <a:spcPts val="1000"/>
              </a:spcBef>
            </a:pPr>
            <a:r>
              <a:rPr lang="en-US" dirty="0"/>
              <a:t>Verification becomes ad hoc</a:t>
            </a:r>
          </a:p>
          <a:p>
            <a:pPr>
              <a:spcBef>
                <a:spcPts val="1000"/>
              </a:spcBef>
            </a:pPr>
            <a:r>
              <a:rPr lang="en-US" dirty="0"/>
              <a:t>Changes break unrelated behavior (adding a new power mode disables alarms because wake-up assumptions were not modeled)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63390-1D1D-4C1D-B29F-BA5AA7FC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FFED4-8210-4DE1-ADFB-73279CD0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36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E4A1-351E-470B-A306-3AFEDDF8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Unified Modeling Language (UML)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5511-8628-4211-889E-1793EFE6D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standardized, graphical language for visualizing system architecture (structure, behavior and environment)</a:t>
            </a:r>
          </a:p>
          <a:p>
            <a:r>
              <a:rPr lang="en-US" dirty="0"/>
              <a:t>Specifically for embedded systems: </a:t>
            </a:r>
            <a:r>
              <a:rPr lang="en-US" dirty="0" err="1"/>
              <a:t>SysML</a:t>
            </a:r>
            <a:r>
              <a:rPr lang="en-US" dirty="0"/>
              <a:t> (a subset of UML that focuses on real-time constraints and hardware interfaces)</a:t>
            </a:r>
          </a:p>
          <a:p>
            <a:r>
              <a:rPr lang="en-US" dirty="0"/>
              <a:t>The three pillars of UML:</a:t>
            </a:r>
          </a:p>
          <a:p>
            <a:pPr lvl="1"/>
            <a:r>
              <a:rPr lang="en-US" dirty="0"/>
              <a:t>Things (players involved in the system)</a:t>
            </a:r>
          </a:p>
          <a:p>
            <a:pPr lvl="1"/>
            <a:r>
              <a:rPr lang="en-US" dirty="0"/>
              <a:t>Relationships (associations / dependencies between them)</a:t>
            </a:r>
          </a:p>
          <a:p>
            <a:pPr lvl="1"/>
            <a:r>
              <a:rPr lang="en-US" dirty="0"/>
              <a:t>Diagrams (snapshots of the model from different angles)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1B5D-168A-4619-BCAF-2A0037A9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E3DF5-E331-4E30-A7B7-34EBDB59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7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DE75-B864-429B-AE82-D5C79B2D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context: The first modeling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34EA-2761-4D6A-834B-467980A0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system, and what is not the system?</a:t>
            </a:r>
          </a:p>
          <a:p>
            <a:r>
              <a:rPr lang="en-US" dirty="0"/>
              <a:t>System boundary defines what is inside and what is outside your system</a:t>
            </a:r>
          </a:p>
          <a:p>
            <a:r>
              <a:rPr lang="en-US" dirty="0"/>
              <a:t>Whatever falls outside the boundary is an assumption</a:t>
            </a:r>
          </a:p>
          <a:p>
            <a:r>
              <a:rPr lang="en-US" dirty="0"/>
              <a:t>Whatever falls inside is a specification to be designed and verified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076C-F4F2-482C-9D56-9D0B871C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54BA9-ADAC-4C93-AA65-0D7BF3CE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11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40C-D9A6-4015-9A91-B3D138CD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boundary: Infusion pump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A31C-716A-430A-A747-995C5EA55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Nurse? Motor driver?</a:t>
            </a:r>
          </a:p>
          <a:p>
            <a:r>
              <a:rPr lang="en-US" dirty="0"/>
              <a:t>Stepper motor?</a:t>
            </a:r>
          </a:p>
          <a:p>
            <a:pPr lvl="1"/>
            <a:r>
              <a:rPr lang="en-US" dirty="0"/>
              <a:t>Why outside: software responsibility is to send pulses. If motor jams, not software responsibility</a:t>
            </a:r>
          </a:p>
          <a:p>
            <a:pPr lvl="1"/>
            <a:r>
              <a:rPr lang="en-US" dirty="0"/>
              <a:t>Why inside: They system’s purpose is not to calculate motor angle and send it; purpose is to deliver right amount of drug</a:t>
            </a:r>
          </a:p>
          <a:p>
            <a:r>
              <a:rPr lang="en-US" dirty="0"/>
              <a:t>No correct answer, but important to agree on an answer! Otherwise…</a:t>
            </a:r>
          </a:p>
          <a:p>
            <a:pPr lvl="1"/>
            <a:r>
              <a:rPr lang="en-US" dirty="0"/>
              <a:t>Control logic will assume motor is behaving as expected</a:t>
            </a:r>
          </a:p>
          <a:p>
            <a:pPr lvl="1"/>
            <a:r>
              <a:rPr lang="en-US" dirty="0"/>
              <a:t>Motor jams are not detected as faults</a:t>
            </a:r>
          </a:p>
          <a:p>
            <a:pPr lvl="1"/>
            <a:r>
              <a:rPr lang="en-US" dirty="0"/>
              <a:t>Software not designed to handle motor faults</a:t>
            </a:r>
          </a:p>
          <a:p>
            <a:r>
              <a:rPr lang="en-US" dirty="0"/>
              <a:t>What about the temperature sensor?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A175A-8FD2-4E58-A356-ED38110C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67E6E-A6F1-42AC-8675-5E6481AC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23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E43F-4899-446B-B96F-19059A76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Actors – who or what interacts with the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36E59-7607-4159-B2DB-5F784EED2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external that interacts with the system</a:t>
            </a:r>
          </a:p>
          <a:p>
            <a:pPr lvl="1"/>
            <a:r>
              <a:rPr lang="en-US" dirty="0"/>
              <a:t>Human users</a:t>
            </a:r>
          </a:p>
          <a:p>
            <a:pPr lvl="1"/>
            <a:r>
              <a:rPr lang="en-US" dirty="0"/>
              <a:t>External ‘hardware’ (sensors, objects etc.)</a:t>
            </a:r>
          </a:p>
          <a:p>
            <a:pPr lvl="2"/>
            <a:r>
              <a:rPr lang="en-US" dirty="0"/>
              <a:t>…air bubble?</a:t>
            </a:r>
          </a:p>
          <a:p>
            <a:pPr lvl="1"/>
            <a:r>
              <a:rPr lang="en-US" dirty="0"/>
              <a:t>External systems (cloud server)</a:t>
            </a:r>
          </a:p>
          <a:p>
            <a:r>
              <a:rPr lang="en-US" dirty="0"/>
              <a:t>Actors are determined by the system boundary (for example if sensors are inside the system, they are not actors)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E4645-E4C3-445E-A097-DB3ECCAC4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43EAB-C672-4FBB-AD78-1E6DB3D7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31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2E56-C61C-4238-81E5-B70EC71E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9A82-DEBF-4222-8D02-A08C5041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204817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How actors influence the system</a:t>
            </a:r>
          </a:p>
          <a:p>
            <a:r>
              <a:rPr lang="en-US" sz="2800" dirty="0"/>
              <a:t>Physical interfaces: GPIO pins, communication protocols (SPI, I2C, UART etc.)</a:t>
            </a:r>
          </a:p>
          <a:p>
            <a:r>
              <a:rPr lang="en-US" sz="2800" dirty="0"/>
              <a:t>Logical interfaces: APIs, protocols (MQTT, HTTP)</a:t>
            </a:r>
          </a:p>
          <a:p>
            <a:r>
              <a:rPr lang="en-US" sz="2800" dirty="0"/>
              <a:t>The context diagram: high level view showing the system at the center and all actors connected via interfaces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F91D-BBE7-43E2-88C2-69DBF9C9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05D24-B24D-4D1B-90E7-D8D6CDB6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459CC-A455-4005-955F-9C41B637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352800"/>
            <a:ext cx="5715000" cy="311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3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5694-7C92-4B0C-B7CD-ADB871F5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Use Cases: meaningful interactions between actors and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DF1C4-AB10-45C5-9032-07D9A7EF6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Use case describes a goal-oriented interaction between an actor and the system</a:t>
            </a:r>
          </a:p>
          <a:p>
            <a:r>
              <a:rPr lang="en-US" sz="2400" dirty="0"/>
              <a:t>Describe behavior, not interface design!</a:t>
            </a:r>
          </a:p>
          <a:p>
            <a:r>
              <a:rPr lang="en-US" sz="2400" dirty="0"/>
              <a:t>Behavioral contract: what the system must do in response to a stimulus (not about how it does it)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000" dirty="0"/>
              <a:t>User clicks ‘stop’ and screen turns red (WRONG)</a:t>
            </a:r>
          </a:p>
          <a:p>
            <a:pPr lvl="1"/>
            <a:r>
              <a:rPr lang="en-US" sz="2000" dirty="0"/>
              <a:t>System shall transition to a safe state within 10 </a:t>
            </a:r>
            <a:r>
              <a:rPr lang="en-US" sz="2000" dirty="0" err="1"/>
              <a:t>ms</a:t>
            </a:r>
            <a:r>
              <a:rPr lang="en-US" sz="2000" dirty="0"/>
              <a:t> of receiving the ‘stop’ signal from user (CORRECT)</a:t>
            </a:r>
          </a:p>
          <a:p>
            <a:r>
              <a:rPr lang="en-US" sz="2400" dirty="0"/>
              <a:t>Use case defines</a:t>
            </a:r>
          </a:p>
          <a:p>
            <a:pPr lvl="1"/>
            <a:r>
              <a:rPr lang="en-US" sz="2000" dirty="0"/>
              <a:t>Actor</a:t>
            </a:r>
          </a:p>
          <a:p>
            <a:pPr lvl="1"/>
            <a:r>
              <a:rPr lang="en-US" sz="2000" dirty="0"/>
              <a:t>Trigger</a:t>
            </a:r>
          </a:p>
          <a:p>
            <a:pPr lvl="1"/>
            <a:r>
              <a:rPr lang="en-US" sz="2000" dirty="0"/>
              <a:t>Main success scenario</a:t>
            </a:r>
          </a:p>
          <a:p>
            <a:pPr lvl="1"/>
            <a:r>
              <a:rPr lang="en-US" sz="2000" dirty="0"/>
              <a:t>Alternatives / exception scenarios (fault recovery behavior)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AF753-48F2-4506-8653-A559108E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15F4D-F730-417A-ABE9-16B0D4E4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96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D817-D0DA-4241-AAA8-6FBD8BF9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– infusion pump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6E7A9-6AB2-4FE6-9527-A8A944386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 use case: deliver drug at programmed infusion rate safely</a:t>
            </a:r>
          </a:p>
          <a:p>
            <a:r>
              <a:rPr lang="en-US" dirty="0"/>
              <a:t>Who are the actors for this use case?</a:t>
            </a:r>
          </a:p>
          <a:p>
            <a:pPr lvl="1"/>
            <a:r>
              <a:rPr lang="en-US" dirty="0"/>
              <a:t>Nurse (primary), power source, sensors, motor…</a:t>
            </a:r>
          </a:p>
          <a:p>
            <a:r>
              <a:rPr lang="en-US" dirty="0"/>
              <a:t>What is the trigger?</a:t>
            </a:r>
          </a:p>
          <a:p>
            <a:pPr lvl="1"/>
            <a:r>
              <a:rPr lang="en-US" dirty="0"/>
              <a:t>Nurse programs an infusion rate and starts infusion</a:t>
            </a:r>
          </a:p>
          <a:p>
            <a:r>
              <a:rPr lang="en-US" dirty="0"/>
              <a:t>Main success scenario:</a:t>
            </a:r>
          </a:p>
          <a:p>
            <a:pPr lvl="1"/>
            <a:r>
              <a:rPr lang="en-US" dirty="0"/>
              <a:t>System accepts programmed infusion rate</a:t>
            </a:r>
          </a:p>
          <a:p>
            <a:pPr lvl="1"/>
            <a:r>
              <a:rPr lang="en-US" dirty="0"/>
              <a:t>System starts pump motor</a:t>
            </a:r>
          </a:p>
          <a:p>
            <a:pPr lvl="1"/>
            <a:r>
              <a:rPr lang="en-US" dirty="0"/>
              <a:t>System continuously regulates flow</a:t>
            </a:r>
          </a:p>
          <a:p>
            <a:pPr lvl="1"/>
            <a:r>
              <a:rPr lang="en-US" dirty="0"/>
              <a:t>System monitors safety during infusion (detects occlusions or over-temperature)</a:t>
            </a:r>
          </a:p>
          <a:p>
            <a:pPr lvl="1"/>
            <a:r>
              <a:rPr lang="en-US" dirty="0"/>
              <a:t>System completes infusion and stops motor</a:t>
            </a:r>
          </a:p>
          <a:p>
            <a:r>
              <a:rPr lang="en-US" dirty="0"/>
              <a:t>Alternate scenarios:</a:t>
            </a:r>
          </a:p>
          <a:p>
            <a:pPr lvl="1"/>
            <a:r>
              <a:rPr lang="en-US" dirty="0"/>
              <a:t>Over temperature detected: system stops motor and raises alarm</a:t>
            </a:r>
          </a:p>
          <a:p>
            <a:pPr lvl="1"/>
            <a:r>
              <a:rPr lang="en-US" dirty="0"/>
              <a:t>Occlusion detected…</a:t>
            </a:r>
          </a:p>
          <a:p>
            <a:pPr lvl="1"/>
            <a:r>
              <a:rPr lang="en-US" dirty="0"/>
              <a:t>Sensor failure detected…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9695B-6EC6-44E6-8990-94D49D9F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C2874-9B60-44A9-9968-AB0A3041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83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443-9954-471D-90E5-747A3307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and requirements in the V-Model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A0491-4912-4BE9-B172-543E8A496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use case </a:t>
            </a:r>
            <a:r>
              <a:rPr lang="en-US" dirty="0">
                <a:sym typeface="Wingdings" panose="05000000000000000000" pitchFamily="2" charset="2"/>
              </a:rPr>
              <a:t> many requirements</a:t>
            </a:r>
          </a:p>
          <a:p>
            <a:r>
              <a:rPr lang="en-US" dirty="0">
                <a:sym typeface="Wingdings" panose="05000000000000000000" pitchFamily="2" charset="2"/>
              </a:rPr>
              <a:t>One requirement  supports multiple use cases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Sit near top-left of V-Model</a:t>
            </a:r>
          </a:p>
          <a:p>
            <a:r>
              <a:rPr lang="en-US" dirty="0">
                <a:sym typeface="Wingdings" panose="05000000000000000000" pitchFamily="2" charset="2"/>
              </a:rPr>
              <a:t>Help define system tests and acceptance criteria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C494-1B81-42B6-9FD7-3CA30FCFA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4C8A1-9AEF-40D7-8983-75FDC8B9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14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1C61-943E-4D13-9906-A7E392BE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B8491-8A2A-485B-A9D9-70923EFDD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UML is a reasoning language</a:t>
            </a:r>
          </a:p>
          <a:p>
            <a:r>
              <a:rPr lang="en-US" dirty="0"/>
              <a:t>System boundaries define responsibility</a:t>
            </a:r>
          </a:p>
          <a:p>
            <a:r>
              <a:rPr lang="en-US" dirty="0"/>
              <a:t>Actors are external to the system</a:t>
            </a:r>
          </a:p>
          <a:p>
            <a:r>
              <a:rPr lang="en-US" dirty="0"/>
              <a:t>Use cases describe behavioral contracts, not UI flows</a:t>
            </a:r>
          </a:p>
          <a:p>
            <a:r>
              <a:rPr lang="en-US" dirty="0"/>
              <a:t>Correct context modeling prevents downstream errors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8A52-ACEB-4226-9A52-DD86E809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80EB1-A74B-43ED-A72B-7E1113FC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60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3510-A148-4283-9A26-FB0B9DDB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modeling with UML </a:t>
            </a:r>
            <a:r>
              <a:rPr lang="en-US" dirty="0" err="1"/>
              <a:t>statecharts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D9F81-F949-4416-AD5B-C4D58640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C9ED3-E4AF-48F1-BBFE-2B0B63CF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E8CAE-F21B-4A82-A923-E8588DA38B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Embedded systems are event-driven</a:t>
            </a:r>
          </a:p>
          <a:p>
            <a:r>
              <a:rPr lang="en-US" dirty="0" err="1"/>
              <a:t>Statecharts</a:t>
            </a:r>
            <a:r>
              <a:rPr lang="en-US" dirty="0"/>
              <a:t> allow reasoning about system behavior as a whole</a:t>
            </a:r>
          </a:p>
          <a:p>
            <a:r>
              <a:rPr lang="en-US" dirty="0"/>
              <a:t>Ensures for every state and input there is a unique, well-defined outcome</a:t>
            </a:r>
          </a:p>
          <a:p>
            <a:r>
              <a:rPr lang="en-US" dirty="0"/>
              <a:t>Prove system cannot enter into a deadly / undefined state</a:t>
            </a:r>
          </a:p>
        </p:txBody>
      </p:sp>
    </p:spTree>
    <p:extLst>
      <p:ext uri="{BB962C8B-B14F-4D97-AF65-F5344CB8AC3E}">
        <p14:creationId xmlns:p14="http://schemas.microsoft.com/office/powerpoint/2010/main" val="58902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0ED7-FF24-4320-B754-D49FD9C8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States, events and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9CCDD-DD5D-4F81-BD6A-32F392F90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State: represents a specific, finite condition or mode in an object's lifecycle, where it exhibits consistent behavior in response to events</a:t>
            </a:r>
          </a:p>
          <a:p>
            <a:r>
              <a:rPr lang="en-US" dirty="0"/>
              <a:t>Event: a significant occurrence, stimulus, or message that triggers a transition from one state to another</a:t>
            </a:r>
          </a:p>
          <a:p>
            <a:pPr lvl="1"/>
            <a:r>
              <a:rPr lang="en-US" dirty="0"/>
              <a:t>Interrupt driven (triggered by external actors)</a:t>
            </a:r>
          </a:p>
          <a:p>
            <a:pPr lvl="1"/>
            <a:r>
              <a:rPr lang="en-US" dirty="0"/>
              <a:t>Time-triggered</a:t>
            </a:r>
          </a:p>
          <a:p>
            <a:r>
              <a:rPr lang="en-US" dirty="0"/>
              <a:t>Transition: change from one state to another driven by an event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8178E-3EC3-4181-91E8-43196A02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441C0-2628-4A0E-B94F-8CEF807F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719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D4BA-E8D1-4886-9C81-B338BF8E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 and events in the infusion pump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CC97-F6F3-495D-86B3-AAEFB18B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</a:t>
            </a:r>
          </a:p>
          <a:p>
            <a:pPr lvl="1"/>
            <a:r>
              <a:rPr lang="en-US" dirty="0"/>
              <a:t>Idle</a:t>
            </a:r>
          </a:p>
          <a:p>
            <a:pPr lvl="1"/>
            <a:r>
              <a:rPr lang="en-US" dirty="0"/>
              <a:t>Infusing</a:t>
            </a:r>
          </a:p>
          <a:p>
            <a:pPr lvl="1"/>
            <a:r>
              <a:rPr lang="en-US" dirty="0"/>
              <a:t>Fault</a:t>
            </a:r>
          </a:p>
          <a:p>
            <a:r>
              <a:rPr lang="en-US" dirty="0"/>
              <a:t>Events</a:t>
            </a:r>
          </a:p>
          <a:p>
            <a:pPr lvl="1"/>
            <a:r>
              <a:rPr lang="en-US" dirty="0"/>
              <a:t>Sensor threshold crossed</a:t>
            </a:r>
          </a:p>
          <a:p>
            <a:pPr lvl="1"/>
            <a:r>
              <a:rPr lang="en-US" dirty="0"/>
              <a:t>Button pressed</a:t>
            </a:r>
          </a:p>
          <a:p>
            <a:pPr lvl="1"/>
            <a:r>
              <a:rPr lang="en-US" dirty="0"/>
              <a:t>Control loop timer expired</a:t>
            </a:r>
          </a:p>
          <a:p>
            <a:pPr lvl="1"/>
            <a:r>
              <a:rPr lang="en-US" dirty="0"/>
              <a:t>Watchdog timed 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B7BBC-A3CD-410A-A085-61E3C246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BE45E-BEBE-49EF-BA68-10F761BC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664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3568-E900-4C13-8FD5-77F919DB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– Entry, Exit and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D7A75-FB6D-4711-85E0-D570BFB19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Entry action: executed immediately upon entering a state</a:t>
            </a:r>
          </a:p>
          <a:p>
            <a:r>
              <a:rPr lang="en-US" dirty="0"/>
              <a:t>Exit action: executed just before leaving a state</a:t>
            </a:r>
          </a:p>
          <a:p>
            <a:r>
              <a:rPr lang="en-US" dirty="0"/>
              <a:t>Do activity: ongoing activity during the state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>
              <a:buFontTx/>
              <a:buChar char="-"/>
            </a:pPr>
            <a:r>
              <a:rPr lang="en-US" dirty="0"/>
              <a:t>Enter ‘infusing’ state: start motor</a:t>
            </a:r>
          </a:p>
          <a:p>
            <a:pPr>
              <a:buFontTx/>
              <a:buChar char="-"/>
            </a:pPr>
            <a:r>
              <a:rPr lang="en-US" dirty="0"/>
              <a:t>Exit ‘infusing’ state: stop motor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Promotes </a:t>
            </a:r>
            <a:r>
              <a:rPr lang="en-US" dirty="0">
                <a:solidFill>
                  <a:srgbClr val="72C3E8"/>
                </a:solidFill>
              </a:rPr>
              <a:t>encapsulation</a:t>
            </a:r>
            <a:r>
              <a:rPr lang="en-US" dirty="0"/>
              <a:t>: initialization, main logic and clean-up bundled together so easy to understand / debug / maintain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Prevents subtle bugs caused by repeated or missed actions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89F91-988A-49AD-8518-65E41336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B526D-A726-4979-9B11-A825187F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357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9B78-5D5B-4AD0-945A-BB8983B7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state chart for the infusion pump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A2583D-D5F0-4534-AE8F-13DBA8B63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76" y="1441227"/>
            <a:ext cx="3867672" cy="50149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D791E-077F-4FF1-AF7E-99D7AE1E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77446-444C-41E0-AE58-D508A620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D1CA80-AFCF-4DAE-9E27-7206239E02E8}"/>
              </a:ext>
            </a:extLst>
          </p:cNvPr>
          <p:cNvSpPr txBox="1">
            <a:spLocks/>
          </p:cNvSpPr>
          <p:nvPr/>
        </p:nvSpPr>
        <p:spPr bwMode="auto">
          <a:xfrm>
            <a:off x="3904248" y="1446211"/>
            <a:ext cx="5087352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Making </a:t>
            </a:r>
            <a:r>
              <a:rPr lang="en-US" sz="2000" dirty="0" err="1"/>
              <a:t>statecharts</a:t>
            </a:r>
            <a:r>
              <a:rPr lang="en-US" sz="2000" dirty="0"/>
              <a:t> with Mermaid</a:t>
            </a:r>
          </a:p>
          <a:p>
            <a:r>
              <a:rPr lang="en-US" sz="2000" dirty="0"/>
              <a:t>Text-based way to create diagrams</a:t>
            </a:r>
          </a:p>
          <a:p>
            <a:r>
              <a:rPr lang="en-US" sz="2000" dirty="0"/>
              <a:t>Easy version control</a:t>
            </a:r>
          </a:p>
          <a:p>
            <a:r>
              <a:rPr lang="en-US" sz="2000" dirty="0"/>
              <a:t>Works directly in markdown files (on GitHub, </a:t>
            </a:r>
            <a:r>
              <a:rPr lang="en-US" sz="2000" dirty="0" err="1"/>
              <a:t>VSCode</a:t>
            </a:r>
            <a:r>
              <a:rPr lang="en-US" sz="2000" dirty="0"/>
              <a:t> with the ‘mermaid preview’ extension)</a:t>
            </a:r>
          </a:p>
          <a:p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BB5DC3-103D-4B61-AD7A-8038F011D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657600"/>
            <a:ext cx="3477110" cy="1581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1F8D8-1B32-4B72-8589-D8C6673FC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736" y="5268941"/>
            <a:ext cx="1914792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3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AEDE-5551-4A8F-98C6-92759EC7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 and the bad state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8D91C6-FB41-4793-8594-93449E97E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0080" y="1416843"/>
            <a:ext cx="5109271" cy="406955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BBA6-6525-4C9D-B8F4-1738A9BD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607D2-411D-4615-93E9-CE1C534E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F341AA1-5CD1-47C9-AA63-C56CDDF4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576" y="1441227"/>
            <a:ext cx="3867672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654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AEDE-5551-4A8F-98C6-92759EC7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 and the bad state 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BBA6-6525-4C9D-B8F4-1738A9BD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607D2-411D-4615-93E9-CE1C534E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984367-716B-4388-9260-1B0B6AFC8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6947" y="2133601"/>
            <a:ext cx="9430947" cy="4379482"/>
          </a:xfr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F341AA1-5CD1-47C9-AA63-C56CDDF4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64367" y="0"/>
            <a:ext cx="2879634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05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3EC53026-709D-4099-A4EC-32A10DA58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10466" y="0"/>
            <a:ext cx="443048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8F51CD-1C5F-4BA1-8159-7BB2B321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5257800" cy="1195386"/>
          </a:xfrm>
        </p:spPr>
        <p:txBody>
          <a:bodyPr/>
          <a:lstStyle/>
          <a:p>
            <a:r>
              <a:rPr lang="en-US" dirty="0"/>
              <a:t>What is wrong with the second example?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20F36-6ADE-4116-8859-9A857FA1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Do we need the extra states?</a:t>
            </a:r>
          </a:p>
          <a:p>
            <a:r>
              <a:rPr lang="en-US" dirty="0"/>
              <a:t>Every event is repeat for the ‘infusing’ and ‘paused’ state</a:t>
            </a:r>
          </a:p>
          <a:p>
            <a:r>
              <a:rPr lang="en-US" dirty="0"/>
              <a:t>Every new operational state multiplies transitions</a:t>
            </a:r>
          </a:p>
          <a:p>
            <a:r>
              <a:rPr lang="en-US" dirty="0"/>
              <a:t>Conceptual duplication: infusing / paused </a:t>
            </a:r>
            <a:r>
              <a:rPr lang="en-US" dirty="0">
                <a:sym typeface="Wingdings" panose="05000000000000000000" pitchFamily="2" charset="2"/>
              </a:rPr>
              <a:t> alarm (over temperature) is conceptually the same thing, but not captured by the diagram</a:t>
            </a:r>
          </a:p>
          <a:p>
            <a:r>
              <a:rPr lang="en-US" dirty="0"/>
              <a:t>Safety is scattered (no single place that says “while infusing, safety monitoring is always active”)</a:t>
            </a:r>
          </a:p>
          <a:p>
            <a:r>
              <a:rPr lang="en-US" dirty="0"/>
              <a:t>Too complex looking</a:t>
            </a:r>
          </a:p>
          <a:p>
            <a:r>
              <a:rPr lang="en-US" dirty="0"/>
              <a:t>Is ‘paused’ a fundamentally different state, or a refinement of ‘infusing’?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ED4D7-4F5D-4F33-9EC1-F92ABD08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2DB9A-BAE9-40C8-9042-7F407FB7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327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47EB-3560-47DE-8558-D75F0F77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1644-9F2D-47F6-BF10-1F5E83605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Explosion: A complex system can easily have 50+ states, making the diagram unreadable.</a:t>
            </a:r>
          </a:p>
          <a:p>
            <a:r>
              <a:rPr lang="en-US" dirty="0"/>
              <a:t>Solution: super-states and sub-states</a:t>
            </a:r>
          </a:p>
          <a:p>
            <a:pPr lvl="1"/>
            <a:r>
              <a:rPr lang="en-US" dirty="0"/>
              <a:t>A system can be in an OPERATIONAL super-state, which contains sub-states like SENSING and PROCESSING</a:t>
            </a:r>
          </a:p>
          <a:p>
            <a:r>
              <a:rPr lang="en-US" dirty="0">
                <a:solidFill>
                  <a:srgbClr val="72C3E8"/>
                </a:solidFill>
              </a:rPr>
              <a:t>Inheritance</a:t>
            </a:r>
            <a:r>
              <a:rPr lang="en-US" dirty="0"/>
              <a:t>: events attached to super-state automatically apply to all sub-states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FC639-1037-4C10-8B00-36EEA0D5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FE1BB-D299-4B1D-B7C5-6C0A50E7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4487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CCB6-4EDE-4640-8247-78D2B435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hierarchical infusion pump </a:t>
            </a:r>
            <a:r>
              <a:rPr lang="en-US" dirty="0" err="1"/>
              <a:t>statechart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E6BEF6-3291-43EA-8499-3BD3EC42E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1785" y="1600200"/>
            <a:ext cx="5445639" cy="419051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C3B69-1AA7-47EB-AC07-B58778DB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6C134-FFAC-4091-A242-757D0862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FECB5BFA-AC4F-436C-9E3E-10A27B4C4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576" y="1441227"/>
            <a:ext cx="3867672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1750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ABB9-ACFF-4DD4-98A8-750770F2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/ parallel / orthogonal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434F1-D296-4EC2-AE41-09B19AE1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embedded system might be doing multiple functions in parallel (multiple subsystems)</a:t>
            </a:r>
          </a:p>
          <a:p>
            <a:pPr lvl="1"/>
            <a:r>
              <a:rPr lang="en-US" dirty="0"/>
              <a:t>Infusion control</a:t>
            </a:r>
          </a:p>
          <a:p>
            <a:pPr lvl="1"/>
            <a:r>
              <a:rPr lang="en-US" dirty="0"/>
              <a:t>Alarm monitoring</a:t>
            </a:r>
          </a:p>
          <a:p>
            <a:pPr lvl="1"/>
            <a:r>
              <a:rPr lang="en-US" dirty="0"/>
              <a:t>Communication</a:t>
            </a:r>
          </a:p>
          <a:p>
            <a:r>
              <a:rPr lang="en-US" dirty="0" err="1"/>
              <a:t>Statecharts</a:t>
            </a:r>
            <a:r>
              <a:rPr lang="en-US" dirty="0"/>
              <a:t> allow concurrent regions</a:t>
            </a:r>
          </a:p>
          <a:p>
            <a:r>
              <a:rPr lang="en-US" dirty="0"/>
              <a:t>How to show synchronized behavior (for example via shared variables or internal events)?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6ACE9-8297-4F65-97EA-98AA73CB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CA62B-8EFD-4CE1-B2E9-D6575807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48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8D9E-7390-4354-9B92-AA8066E9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Infusing and logging in the infusion pump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D1BCE6-7654-479F-B650-758393167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39" y="1416843"/>
            <a:ext cx="6228321" cy="50149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A9B2-AE5E-4069-BBB9-E8C62D2D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CE52F-CFB6-45A2-A768-06D87EDE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12CFAE-DB9B-4F75-B4C3-7654172A49FC}"/>
              </a:ext>
            </a:extLst>
          </p:cNvPr>
          <p:cNvSpPr txBox="1">
            <a:spLocks/>
          </p:cNvSpPr>
          <p:nvPr/>
        </p:nvSpPr>
        <p:spPr bwMode="auto">
          <a:xfrm>
            <a:off x="6019800" y="1446211"/>
            <a:ext cx="29718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Should logging be a concurrent state </a:t>
            </a:r>
            <a:r>
              <a:rPr lang="en-US" sz="2000" i="1" dirty="0"/>
              <a:t>inside</a:t>
            </a:r>
            <a:r>
              <a:rPr lang="en-US" sz="2000" dirty="0"/>
              <a:t> infusion, or separate altogether?</a:t>
            </a:r>
          </a:p>
          <a:p>
            <a:r>
              <a:rPr lang="en-US" sz="2000" dirty="0"/>
              <a:t>Might want logging to change behavior in </a:t>
            </a:r>
            <a:r>
              <a:rPr lang="en-US" sz="2000" dirty="0" err="1"/>
              <a:t>safestate</a:t>
            </a:r>
            <a:r>
              <a:rPr lang="en-US" sz="2000" dirty="0"/>
              <a:t>, so use a different logging substate there</a:t>
            </a:r>
          </a:p>
          <a:p>
            <a:r>
              <a:rPr lang="en-US" sz="2000" dirty="0"/>
              <a:t>Are we implementing two tasks / parallel code?</a:t>
            </a:r>
          </a:p>
          <a:p>
            <a:r>
              <a:rPr lang="en-US" sz="2000" dirty="0"/>
              <a:t>Only behavioral independence, not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1251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2BBD-970C-433C-B80F-B9C0AFE5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and fault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44EA-4B35-4DCE-A74A-5F8CF69FB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Error: recoverable abnormal condition; fault: unrecoverable / safety-critical condition</a:t>
            </a:r>
          </a:p>
          <a:p>
            <a:r>
              <a:rPr lang="en-US" dirty="0"/>
              <a:t>Happy path modeling is only 20% of the work, rest is </a:t>
            </a:r>
            <a:r>
              <a:rPr lang="en-US" b="1" dirty="0"/>
              <a:t>fault management</a:t>
            </a:r>
            <a:r>
              <a:rPr lang="en-US" dirty="0"/>
              <a:t>; explicitly model error detection and transition to safe states</a:t>
            </a:r>
          </a:p>
          <a:p>
            <a:r>
              <a:rPr lang="en-US" dirty="0"/>
              <a:t>Safe state: predefined state that minimizes risk</a:t>
            </a:r>
          </a:p>
          <a:p>
            <a:r>
              <a:rPr lang="en-US" dirty="0"/>
              <a:t>Fault states: explicit states used to handle specific failures (ex, sensor disconnected)</a:t>
            </a:r>
          </a:p>
          <a:p>
            <a:r>
              <a:rPr lang="en-US" dirty="0"/>
              <a:t>Recovery path: Logic required to move from a fault state to an operational state; </a:t>
            </a:r>
            <a:r>
              <a:rPr lang="en-US" b="1" dirty="0"/>
              <a:t>must be explicitly modeled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BE66-4A42-4280-A95A-127B2D77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B4FA4-996E-4956-814C-06ED89B3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74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7A10-E38E-4ED5-98F9-2BE5E97B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Infusion pump safe state, fault state and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8B65-C753-4211-8AD7-16C1749B2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Safe state</a:t>
            </a:r>
          </a:p>
          <a:p>
            <a:pPr lvl="1"/>
            <a:r>
              <a:rPr lang="en-US" dirty="0"/>
              <a:t>Motor stopped</a:t>
            </a:r>
          </a:p>
          <a:p>
            <a:pPr lvl="1"/>
            <a:r>
              <a:rPr lang="en-US" dirty="0"/>
              <a:t>Alarms active</a:t>
            </a:r>
          </a:p>
          <a:p>
            <a:pPr lvl="1"/>
            <a:r>
              <a:rPr lang="en-US" dirty="0"/>
              <a:t>No infusion delivered</a:t>
            </a:r>
          </a:p>
          <a:p>
            <a:r>
              <a:rPr lang="en-US" dirty="0"/>
              <a:t>Fault state example</a:t>
            </a:r>
          </a:p>
          <a:p>
            <a:pPr lvl="1"/>
            <a:r>
              <a:rPr lang="en-US" dirty="0"/>
              <a:t>Event: temperature crosses threshold</a:t>
            </a:r>
          </a:p>
          <a:p>
            <a:pPr lvl="1"/>
            <a:r>
              <a:rPr lang="en-US" dirty="0"/>
              <a:t>Transition: over-temperature state</a:t>
            </a:r>
          </a:p>
          <a:p>
            <a:pPr lvl="1"/>
            <a:r>
              <a:rPr lang="en-US" dirty="0"/>
              <a:t>Entry action: stop pump, sound buzzer</a:t>
            </a:r>
          </a:p>
          <a:p>
            <a:pPr lvl="1"/>
            <a:r>
              <a:rPr lang="en-US" dirty="0"/>
              <a:t>Recovery: transition back to ‘infusing’ or ‘idle’ (design choice) when temperature back to normal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9ABEB-AF92-4D0E-BDEB-E73C69CC0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A1845-FCB8-453C-9041-194E9269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12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6BED-B7F3-45D4-B281-5BC2983C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Infusion pump </a:t>
            </a:r>
            <a:r>
              <a:rPr lang="en-US" dirty="0" err="1"/>
              <a:t>statechart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A269F-4284-4ED4-85D9-9DA8073B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1F20D-6AB6-4B00-B3CD-42250D23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718996-CA58-4AFF-A9D2-ADCA370F8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074" y="1446213"/>
            <a:ext cx="6855852" cy="5014912"/>
          </a:xfrm>
        </p:spPr>
      </p:pic>
    </p:spTree>
    <p:extLst>
      <p:ext uri="{BB962C8B-B14F-4D97-AF65-F5344CB8AC3E}">
        <p14:creationId xmlns:p14="http://schemas.microsoft.com/office/powerpoint/2010/main" val="44949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12991</TotalTime>
  <Words>1914</Words>
  <Application>Microsoft Office PowerPoint</Application>
  <PresentationFormat>On-screen Show (4:3)</PresentationFormat>
  <Paragraphs>288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Software for Embedded Systems</vt:lpstr>
      <vt:lpstr>Interrupts</vt:lpstr>
      <vt:lpstr>What does it mean to ‘handle an event’?</vt:lpstr>
      <vt:lpstr>Handling multiple interrupt sources</vt:lpstr>
      <vt:lpstr>Modeling embedded systems – UML</vt:lpstr>
      <vt:lpstr>What does it mean to ‘model’ a system?</vt:lpstr>
      <vt:lpstr>What is a model?</vt:lpstr>
      <vt:lpstr>Why model embedded systems?</vt:lpstr>
      <vt:lpstr>Without models</vt:lpstr>
      <vt:lpstr>The Unified Modeling Language (UML)</vt:lpstr>
      <vt:lpstr>System context: The first modeling question</vt:lpstr>
      <vt:lpstr>System boundary: Infusion pump example</vt:lpstr>
      <vt:lpstr>Actors – who or what interacts with the system?</vt:lpstr>
      <vt:lpstr>External interfaces</vt:lpstr>
      <vt:lpstr>Use Cases: meaningful interactions between actors and system</vt:lpstr>
      <vt:lpstr>Use cases – infusion pump example</vt:lpstr>
      <vt:lpstr>Use cases and requirements in the V-Model</vt:lpstr>
      <vt:lpstr>Summary</vt:lpstr>
      <vt:lpstr>Behavioral modeling with UML statecharts</vt:lpstr>
      <vt:lpstr>States, events and transitions</vt:lpstr>
      <vt:lpstr>States and events in the infusion pump</vt:lpstr>
      <vt:lpstr>Actions – Entry, Exit and Do</vt:lpstr>
      <vt:lpstr>Example state chart for the infusion pump</vt:lpstr>
      <vt:lpstr>The good and the bad state chart</vt:lpstr>
      <vt:lpstr>The good and the bad state chart</vt:lpstr>
      <vt:lpstr>What is wrong with the second example?</vt:lpstr>
      <vt:lpstr>Hierarchical states</vt:lpstr>
      <vt:lpstr>The hierarchical infusion pump statechart</vt:lpstr>
      <vt:lpstr>Concurrent / parallel / orthogonal states</vt:lpstr>
      <vt:lpstr>Infusing and logging in the infusion pump</vt:lpstr>
      <vt:lpstr>Errors and fault states</vt:lpstr>
      <vt:lpstr>Infusion pump safe state, fault state and recovery</vt:lpstr>
      <vt:lpstr>Infusion pump statechart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657</cp:revision>
  <dcterms:created xsi:type="dcterms:W3CDTF">2010-01-15T20:22:21Z</dcterms:created>
  <dcterms:modified xsi:type="dcterms:W3CDTF">2026-01-27T06:31:40Z</dcterms:modified>
</cp:coreProperties>
</file>