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6"/>
  </p:notesMasterIdLst>
  <p:sldIdLst>
    <p:sldId id="337" r:id="rId2"/>
    <p:sldId id="433" r:id="rId3"/>
    <p:sldId id="432" r:id="rId4"/>
    <p:sldId id="434" r:id="rId5"/>
    <p:sldId id="435" r:id="rId6"/>
    <p:sldId id="436" r:id="rId7"/>
    <p:sldId id="437" r:id="rId8"/>
    <p:sldId id="438" r:id="rId9"/>
    <p:sldId id="439" r:id="rId10"/>
    <p:sldId id="440" r:id="rId11"/>
    <p:sldId id="441" r:id="rId12"/>
    <p:sldId id="442" r:id="rId13"/>
    <p:sldId id="443" r:id="rId14"/>
    <p:sldId id="444" r:id="rId15"/>
    <p:sldId id="445" r:id="rId16"/>
    <p:sldId id="447" r:id="rId17"/>
    <p:sldId id="446" r:id="rId18"/>
    <p:sldId id="449" r:id="rId19"/>
    <p:sldId id="448" r:id="rId20"/>
    <p:sldId id="451" r:id="rId21"/>
    <p:sldId id="452" r:id="rId22"/>
    <p:sldId id="453" r:id="rId23"/>
    <p:sldId id="454" r:id="rId24"/>
    <p:sldId id="450" r:id="rId25"/>
    <p:sldId id="455" r:id="rId26"/>
    <p:sldId id="456" r:id="rId27"/>
    <p:sldId id="457" r:id="rId28"/>
    <p:sldId id="458" r:id="rId29"/>
    <p:sldId id="459" r:id="rId30"/>
    <p:sldId id="460" r:id="rId31"/>
    <p:sldId id="461" r:id="rId32"/>
    <p:sldId id="462" r:id="rId33"/>
    <p:sldId id="463" r:id="rId34"/>
    <p:sldId id="464" r:id="rId35"/>
    <p:sldId id="465" r:id="rId36"/>
    <p:sldId id="466" r:id="rId37"/>
    <p:sldId id="467" r:id="rId38"/>
    <p:sldId id="468" r:id="rId39"/>
    <p:sldId id="469" r:id="rId40"/>
    <p:sldId id="470" r:id="rId41"/>
    <p:sldId id="471" r:id="rId42"/>
    <p:sldId id="472" r:id="rId43"/>
    <p:sldId id="473" r:id="rId44"/>
    <p:sldId id="474" r:id="rId45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C3E8"/>
    <a:srgbClr val="EA3F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92730" autoAdjust="0"/>
  </p:normalViewPr>
  <p:slideViewPr>
    <p:cSldViewPr>
      <p:cViewPr varScale="1">
        <p:scale>
          <a:sx n="84" d="100"/>
          <a:sy n="84" d="100"/>
        </p:scale>
        <p:origin x="816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1/29/2026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82BB320-F13B-41AF-BB84-306DCE92248C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309450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FFC000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Software for Embedded Systems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FCB81-58BE-4258-BDB8-7984E836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embedded systems – UML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AB8964-25B2-4177-A739-0A74DC656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BC1766-6BA7-4783-8899-9EB65499D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2ED3F4-5C84-4CA9-95C1-139775BC240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What do we mean by ‘modeling’ an ES?</a:t>
            </a:r>
          </a:p>
          <a:p>
            <a:r>
              <a:rPr lang="en-US" dirty="0"/>
              <a:t>What is UML (Unified Modeling Language)?</a:t>
            </a:r>
          </a:p>
          <a:p>
            <a:r>
              <a:rPr lang="en-US" dirty="0"/>
              <a:t>Why UML for embedded systems?</a:t>
            </a:r>
          </a:p>
          <a:p>
            <a:r>
              <a:rPr lang="en-US" dirty="0"/>
              <a:t>System context, boundaries and use cases</a:t>
            </a:r>
          </a:p>
        </p:txBody>
      </p:sp>
    </p:spTree>
    <p:extLst>
      <p:ext uri="{BB962C8B-B14F-4D97-AF65-F5344CB8AC3E}">
        <p14:creationId xmlns:p14="http://schemas.microsoft.com/office/powerpoint/2010/main" val="21282804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AD367-BA69-448D-A576-2A9F0151D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it mean to ‘model’ a system?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622A1-A33B-4788-BA95-8E0954D2D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solidFill>
                  <a:srgbClr val="72C3E8"/>
                </a:solidFill>
              </a:rPr>
              <a:t>Models are an abstraction of reality</a:t>
            </a:r>
          </a:p>
          <a:p>
            <a:r>
              <a:rPr lang="en-US" sz="2400" dirty="0"/>
              <a:t>Partial, imperfect descriptions</a:t>
            </a:r>
          </a:p>
          <a:p>
            <a:r>
              <a:rPr lang="en-US" sz="2400" dirty="0"/>
              <a:t>What is the use of partial and</a:t>
            </a:r>
            <a:br>
              <a:rPr lang="en-US" sz="2400" dirty="0"/>
            </a:br>
            <a:r>
              <a:rPr lang="en-US" sz="2400" dirty="0"/>
              <a:t>imperfect descriptions?</a:t>
            </a:r>
          </a:p>
          <a:p>
            <a:endParaRPr lang="en-US" sz="2400" dirty="0"/>
          </a:p>
          <a:p>
            <a:r>
              <a:rPr lang="en-US" sz="2400" dirty="0"/>
              <a:t>Model of the Delhi metro</a:t>
            </a:r>
          </a:p>
          <a:p>
            <a:r>
              <a:rPr lang="en-US" sz="2400" dirty="0"/>
              <a:t>Which is most accurate?</a:t>
            </a:r>
          </a:p>
          <a:p>
            <a:r>
              <a:rPr lang="en-US" sz="2400" dirty="0"/>
              <a:t>Which of these is most useful?</a:t>
            </a:r>
          </a:p>
          <a:p>
            <a:r>
              <a:rPr lang="en-US" sz="2400" dirty="0">
                <a:solidFill>
                  <a:srgbClr val="EA3F26"/>
                </a:solidFill>
              </a:rPr>
              <a:t>Use dependent utility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C6D0E5-23C5-4654-97EE-168740587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C7BEAD-2508-4804-9493-0D06D9753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E1917E-D986-4705-976F-4A78004EF6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0450" y="1387225"/>
            <a:ext cx="3961150" cy="1892304"/>
          </a:xfrm>
          <a:prstGeom prst="rect">
            <a:avLst/>
          </a:prstGeom>
        </p:spPr>
      </p:pic>
      <p:pic>
        <p:nvPicPr>
          <p:cNvPr id="7" name="Picture 2" descr="CITY MAP OF DELHI (HINDI) SIZE 45 X 57 CMS">
            <a:extLst>
              <a:ext uri="{FF2B5EF4-FFF2-40B4-BE49-F238E27FC236}">
                <a16:creationId xmlns:a16="http://schemas.microsoft.com/office/drawing/2014/main" id="{D681A0F8-1D91-4309-9AEE-28738E3B8B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3478" y="3607820"/>
            <a:ext cx="1976587" cy="1976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igh resolution Satellite image of New Delhi, India (Isolated imagery of  India. Elements of this image furnished by NASA) Stock Photo | Adobe Stock">
            <a:extLst>
              <a:ext uri="{FF2B5EF4-FFF2-40B4-BE49-F238E27FC236}">
                <a16:creationId xmlns:a16="http://schemas.microsoft.com/office/drawing/2014/main" id="{D5936E56-22A4-424F-921A-D0292449A7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711087" y="5292961"/>
            <a:ext cx="1882282" cy="11557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Maps of Delhi ::">
            <a:extLst>
              <a:ext uri="{FF2B5EF4-FFF2-40B4-BE49-F238E27FC236}">
                <a16:creationId xmlns:a16="http://schemas.microsoft.com/office/drawing/2014/main" id="{7BA22BFA-85A4-46CA-A580-A307DC7B07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8713" y="4879314"/>
            <a:ext cx="1656289" cy="1656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8">
            <a:extLst>
              <a:ext uri="{FF2B5EF4-FFF2-40B4-BE49-F238E27FC236}">
                <a16:creationId xmlns:a16="http://schemas.microsoft.com/office/drawing/2014/main" id="{2EB72604-CC9A-4E29-91DD-1D8B32E5EF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9057" y="4734229"/>
            <a:ext cx="2274943" cy="1726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109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7A8BF-18B9-4DFB-8665-596B6DE5A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model?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A798F1-DB77-40C9-8364-205BB5693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72C3E8"/>
                </a:solidFill>
              </a:rPr>
              <a:t>A model is an </a:t>
            </a:r>
            <a:r>
              <a:rPr lang="en-US" sz="2400" b="1" dirty="0">
                <a:solidFill>
                  <a:srgbClr val="72C3E8"/>
                </a:solidFill>
              </a:rPr>
              <a:t>abstraction</a:t>
            </a:r>
            <a:r>
              <a:rPr lang="en-US" sz="2400" dirty="0">
                <a:solidFill>
                  <a:srgbClr val="72C3E8"/>
                </a:solidFill>
              </a:rPr>
              <a:t> of a physical system. It highlights the essential characteristics while hiding unnecessary implementation details.</a:t>
            </a:r>
          </a:p>
          <a:p>
            <a:r>
              <a:rPr lang="en-US" sz="2400" dirty="0"/>
              <a:t>The "Blueprint" Analogy:</a:t>
            </a:r>
          </a:p>
          <a:p>
            <a:pPr lvl="1"/>
            <a:r>
              <a:rPr lang="en-US" sz="2000" dirty="0"/>
              <a:t>You wouldn't build a skyscraper without a structural model</a:t>
            </a:r>
          </a:p>
          <a:p>
            <a:pPr lvl="1"/>
            <a:r>
              <a:rPr lang="en-US" sz="2000" dirty="0"/>
              <a:t>You shouldn't build a safety-critical embedded system without a behavioral model</a:t>
            </a:r>
          </a:p>
          <a:p>
            <a:pPr marL="0" indent="0">
              <a:buNone/>
            </a:pPr>
            <a:r>
              <a:rPr lang="en-US" sz="2400" dirty="0"/>
              <a:t>Multiple views of a model</a:t>
            </a:r>
          </a:p>
          <a:p>
            <a:r>
              <a:rPr lang="en-US" sz="2400" dirty="0"/>
              <a:t>Structural: what the system is made of</a:t>
            </a:r>
          </a:p>
          <a:p>
            <a:r>
              <a:rPr lang="en-US" sz="2400" dirty="0"/>
              <a:t>Behavioral: How the system reacts to stimuli</a:t>
            </a:r>
          </a:p>
          <a:p>
            <a:r>
              <a:rPr lang="en-US" sz="2400" dirty="0"/>
              <a:t>Environmental: How the system sits in the real world (what it senses, what it affects, who uses it etc.)</a:t>
            </a:r>
          </a:p>
          <a:p>
            <a:pPr marL="0" indent="0">
              <a:buNone/>
            </a:pPr>
            <a:r>
              <a:rPr lang="en-US" sz="2400" dirty="0"/>
              <a:t>Models help capture assumptions early on!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7FF24-597E-41D4-B6F8-6E2F543686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B8043C-D855-4ED6-A500-AB032CA46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92971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FA7BC-18A8-4E1C-972F-6619AE461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model embedded systems?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DF7A8-749B-49AE-A3F4-AF9E01F7B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spcBef>
                <a:spcPts val="1000"/>
              </a:spcBef>
            </a:pPr>
            <a:r>
              <a:rPr lang="en-US" dirty="0">
                <a:solidFill>
                  <a:srgbClr val="72C3E8"/>
                </a:solidFill>
              </a:rPr>
              <a:t>Complexity management: </a:t>
            </a:r>
            <a:r>
              <a:rPr lang="en-US" dirty="0"/>
              <a:t>Modern embedded systems (e.g., an Autonomous Driving module) have millions of lines of code. Humans cannot hold the entire logic in their heads at once</a:t>
            </a:r>
          </a:p>
          <a:p>
            <a:pPr>
              <a:spcBef>
                <a:spcPts val="1000"/>
              </a:spcBef>
            </a:pPr>
            <a:r>
              <a:rPr lang="en-US" dirty="0">
                <a:solidFill>
                  <a:srgbClr val="72C3E8"/>
                </a:solidFill>
              </a:rPr>
              <a:t>Early error detection: </a:t>
            </a:r>
            <a:r>
              <a:rPr lang="en-US" dirty="0"/>
              <a:t>Finding a logic flaw in a UML diagram costs cents; finding it during "Hardware-in-the-Loop" testing costs thousands; finding it after a product recall costs millions</a:t>
            </a:r>
          </a:p>
          <a:p>
            <a:pPr>
              <a:spcBef>
                <a:spcPts val="1000"/>
              </a:spcBef>
            </a:pPr>
            <a:r>
              <a:rPr lang="en-US" dirty="0">
                <a:solidFill>
                  <a:srgbClr val="72C3E8"/>
                </a:solidFill>
              </a:rPr>
              <a:t>Communication bridge </a:t>
            </a:r>
            <a:r>
              <a:rPr lang="en-US" dirty="0"/>
              <a:t>between H/W and S/W engineers; designers and stakeholders</a:t>
            </a:r>
          </a:p>
          <a:p>
            <a:pPr>
              <a:spcBef>
                <a:spcPts val="1000"/>
              </a:spcBef>
            </a:pPr>
            <a:r>
              <a:rPr lang="en-US" dirty="0">
                <a:solidFill>
                  <a:srgbClr val="72C3E8"/>
                </a:solidFill>
              </a:rPr>
              <a:t>Basis for simulation: </a:t>
            </a:r>
            <a:r>
              <a:rPr lang="en-US" dirty="0"/>
              <a:t>Models can be mathematically verified or simulated to prove certain claims (for example, related to safety)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640C0B-4AF1-475B-9FF8-1F82E3F46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7D2070-C8F2-4B01-9850-D635A548F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67933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6D485-8F81-4C5B-87FA-3A6A5F5F8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Without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212B3A-2D20-4DCA-B4E5-AAC678B2E9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spcBef>
                <a:spcPts val="1000"/>
              </a:spcBef>
            </a:pPr>
            <a:r>
              <a:rPr lang="en-US" dirty="0"/>
              <a:t>System boundaries drift (who handles a sensor fault? Not defined, and no one does it…)</a:t>
            </a:r>
          </a:p>
          <a:p>
            <a:pPr>
              <a:spcBef>
                <a:spcPts val="1000"/>
              </a:spcBef>
            </a:pPr>
            <a:r>
              <a:rPr lang="en-US" dirty="0"/>
              <a:t>Responsibilities are unclear (both the control task and interrupt try to stop a motor, causing race conditions)</a:t>
            </a:r>
          </a:p>
          <a:p>
            <a:pPr>
              <a:spcBef>
                <a:spcPts val="1000"/>
              </a:spcBef>
            </a:pPr>
            <a:r>
              <a:rPr lang="en-US" dirty="0"/>
              <a:t>Assumptions remain implicit (Siemens PLC example)</a:t>
            </a:r>
          </a:p>
          <a:p>
            <a:pPr>
              <a:spcBef>
                <a:spcPts val="1000"/>
              </a:spcBef>
            </a:pPr>
            <a:r>
              <a:rPr lang="en-US" dirty="0"/>
              <a:t>Interfaces are poorly defined (sensor driver reports raw values and control module assumes another unit)</a:t>
            </a:r>
          </a:p>
          <a:p>
            <a:pPr>
              <a:spcBef>
                <a:spcPts val="1000"/>
              </a:spcBef>
            </a:pPr>
            <a:r>
              <a:rPr lang="en-US" dirty="0"/>
              <a:t>Event handling is incomplete (over-temperature event is handled, but recovery is undefined)</a:t>
            </a:r>
          </a:p>
          <a:p>
            <a:pPr>
              <a:spcBef>
                <a:spcPts val="1000"/>
              </a:spcBef>
            </a:pPr>
            <a:r>
              <a:rPr lang="en-US" dirty="0"/>
              <a:t>Fault cases are forgotten (normal infusion works perfectly, but behavior after watchdog timer reset is never defined)</a:t>
            </a:r>
          </a:p>
          <a:p>
            <a:pPr>
              <a:spcBef>
                <a:spcPts val="1000"/>
              </a:spcBef>
            </a:pPr>
            <a:r>
              <a:rPr lang="en-US" dirty="0"/>
              <a:t>Verification becomes ad hoc</a:t>
            </a:r>
          </a:p>
          <a:p>
            <a:pPr>
              <a:spcBef>
                <a:spcPts val="1000"/>
              </a:spcBef>
            </a:pPr>
            <a:r>
              <a:rPr lang="en-US" dirty="0"/>
              <a:t>Changes break unrelated behavior (adding a new power mode disables alarms because wake-up assumptions were not modeled)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863390-1D1D-4C1D-B29F-BA5AA7FCA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EFFED4-8210-4DE1-ADFB-73279CD02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41362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0E4A1-351E-470B-A306-3AFEDDF89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Unified Modeling Language (UML)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975511-8628-4211-889E-1793EFE6D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standardized, graphical language for visualizing system architecture (structure, behavior and environment)</a:t>
            </a:r>
          </a:p>
          <a:p>
            <a:r>
              <a:rPr lang="en-US" dirty="0"/>
              <a:t>Specifically for embedded systems: </a:t>
            </a:r>
            <a:r>
              <a:rPr lang="en-US" dirty="0" err="1"/>
              <a:t>SysML</a:t>
            </a:r>
            <a:r>
              <a:rPr lang="en-US" dirty="0"/>
              <a:t> (a subset of UML that focuses on real-time constraints and hardware interfaces)</a:t>
            </a:r>
          </a:p>
          <a:p>
            <a:r>
              <a:rPr lang="en-US" dirty="0"/>
              <a:t>The three pillars of UML:</a:t>
            </a:r>
          </a:p>
          <a:p>
            <a:pPr lvl="1"/>
            <a:r>
              <a:rPr lang="en-US" dirty="0"/>
              <a:t>Things (players involved in the system)</a:t>
            </a:r>
          </a:p>
          <a:p>
            <a:pPr lvl="1"/>
            <a:r>
              <a:rPr lang="en-US" dirty="0"/>
              <a:t>Relationships (associations / dependencies between them)</a:t>
            </a:r>
          </a:p>
          <a:p>
            <a:pPr lvl="1"/>
            <a:r>
              <a:rPr lang="en-US" dirty="0"/>
              <a:t>Diagrams (snapshots of the model from different angles)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61B5D-168A-4619-BCAF-2A0037A9F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6E3DF5-E331-4E30-A7B7-34EBDB591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0778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DDE75-B864-429B-AE82-D5C79B2D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context: The first modeling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234EA-2761-4D6A-834B-467980A049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the system, and what is not the system?</a:t>
            </a:r>
          </a:p>
          <a:p>
            <a:r>
              <a:rPr lang="en-US" dirty="0"/>
              <a:t>System boundary defines what is inside and what is outside your system</a:t>
            </a:r>
          </a:p>
          <a:p>
            <a:r>
              <a:rPr lang="en-US" dirty="0"/>
              <a:t>Whatever falls outside the boundary is an assumption</a:t>
            </a:r>
          </a:p>
          <a:p>
            <a:r>
              <a:rPr lang="en-US" dirty="0"/>
              <a:t>Whatever falls inside is a specification to be designed and verified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7076C-F4F2-482C-9D56-9D0B871C9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E54BA9-ADAC-4C93-AA65-0D7BF3CE8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36111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1840C-D9A6-4015-9A91-B3D138CD3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boundary: Infusion pump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F8A31C-716A-430A-A747-995C5EA55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Nurse? Motor driver?</a:t>
            </a:r>
          </a:p>
          <a:p>
            <a:r>
              <a:rPr lang="en-US" dirty="0"/>
              <a:t>Stepper motor?</a:t>
            </a:r>
          </a:p>
          <a:p>
            <a:pPr lvl="1"/>
            <a:r>
              <a:rPr lang="en-US" dirty="0"/>
              <a:t>Why outside: software responsibility is to send pulses. If motor jams, not software responsibility</a:t>
            </a:r>
          </a:p>
          <a:p>
            <a:pPr lvl="1"/>
            <a:r>
              <a:rPr lang="en-US" dirty="0"/>
              <a:t>Why inside: They system’s purpose is not to calculate motor angle and send it; purpose is to deliver right amount of drug</a:t>
            </a:r>
          </a:p>
          <a:p>
            <a:r>
              <a:rPr lang="en-US" dirty="0"/>
              <a:t>No correct answer, but important to agree on an answer! Otherwise…</a:t>
            </a:r>
          </a:p>
          <a:p>
            <a:pPr lvl="1"/>
            <a:r>
              <a:rPr lang="en-US" dirty="0"/>
              <a:t>Control logic will assume motor is behaving as expected</a:t>
            </a:r>
          </a:p>
          <a:p>
            <a:pPr lvl="1"/>
            <a:r>
              <a:rPr lang="en-US" dirty="0"/>
              <a:t>Motor jams are not detected as faults</a:t>
            </a:r>
          </a:p>
          <a:p>
            <a:pPr lvl="1"/>
            <a:r>
              <a:rPr lang="en-US" dirty="0"/>
              <a:t>Software not designed to handle motor faults</a:t>
            </a:r>
          </a:p>
          <a:p>
            <a:r>
              <a:rPr lang="en-US" dirty="0"/>
              <a:t>What about the temperature sensor?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A175A-8FD2-4E58-A356-ED38110C9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C67E6E-A6F1-42AC-8675-5E6481AC2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39239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FE43F-4899-446B-B96F-19059A769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Actors – who or what interacts with the system?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336E59-7607-4159-B2DB-5F784EED2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Anything external that interacts with the system</a:t>
            </a:r>
          </a:p>
          <a:p>
            <a:pPr lvl="1"/>
            <a:r>
              <a:rPr lang="en-US" dirty="0"/>
              <a:t>Human users</a:t>
            </a:r>
          </a:p>
          <a:p>
            <a:pPr lvl="1"/>
            <a:r>
              <a:rPr lang="en-US" dirty="0"/>
              <a:t>External ‘hardware’ (sensors, objects etc.)</a:t>
            </a:r>
          </a:p>
          <a:p>
            <a:pPr lvl="2"/>
            <a:r>
              <a:rPr lang="en-US" dirty="0"/>
              <a:t>…air bubble?</a:t>
            </a:r>
          </a:p>
          <a:p>
            <a:pPr lvl="1"/>
            <a:r>
              <a:rPr lang="en-US" dirty="0"/>
              <a:t>External systems (cloud server)</a:t>
            </a:r>
          </a:p>
          <a:p>
            <a:r>
              <a:rPr lang="en-US" dirty="0"/>
              <a:t>Actors are determined by the system boundary (for example if sensors are inside the system, they are not actors)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E4645-E4C3-445E-A097-DB3ECCAC4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D43EAB-C672-4FBB-AD78-1E6DB3D79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65314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32E56-C61C-4238-81E5-B70EC71E9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External 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4E9A82-DEBF-4222-8D02-A08C504194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8839200" cy="2048170"/>
          </a:xfrm>
        </p:spPr>
        <p:txBody>
          <a:bodyPr>
            <a:normAutofit fontScale="77500" lnSpcReduction="20000"/>
          </a:bodyPr>
          <a:lstStyle/>
          <a:p>
            <a:r>
              <a:rPr lang="en-US" sz="2800" dirty="0"/>
              <a:t>How actors influence the system</a:t>
            </a:r>
          </a:p>
          <a:p>
            <a:r>
              <a:rPr lang="en-US" sz="2800" dirty="0"/>
              <a:t>Physical interfaces: GPIO pins, communication protocols (SPI, I2C, UART etc.)</a:t>
            </a:r>
          </a:p>
          <a:p>
            <a:r>
              <a:rPr lang="en-US" sz="2800" dirty="0"/>
              <a:t>Logical interfaces: APIs, protocols (MQTT, HTTP)</a:t>
            </a:r>
          </a:p>
          <a:p>
            <a:r>
              <a:rPr lang="en-US" sz="2800" dirty="0"/>
              <a:t>The context diagram: high level view showing the system at the center and all actors connected via interfaces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BF91D-BBE7-43E2-88C2-69DBF9C93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C05D24-B24D-4D1B-90E7-D8D6CDB62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14459CC-A455-4005-955F-9C41B6374B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3352800"/>
            <a:ext cx="5715000" cy="3119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231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15694-7C92-4B0C-B7CD-ADB871F5B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Use Cases: meaningful interactions between actors and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DF1C4-AB10-45C5-9032-07D9A7EF6C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Use case describes a goal-oriented interaction between an actor and the system</a:t>
            </a:r>
          </a:p>
          <a:p>
            <a:r>
              <a:rPr lang="en-US" sz="2400" dirty="0"/>
              <a:t>Describe behavior, not interface design!</a:t>
            </a:r>
          </a:p>
          <a:p>
            <a:r>
              <a:rPr lang="en-US" sz="2400" dirty="0"/>
              <a:t>Behavioral contract: what the system must do in response to a stimulus (not about how it does it)</a:t>
            </a:r>
          </a:p>
          <a:p>
            <a:r>
              <a:rPr lang="en-US" sz="2400" dirty="0"/>
              <a:t>Example:</a:t>
            </a:r>
          </a:p>
          <a:p>
            <a:pPr lvl="1"/>
            <a:r>
              <a:rPr lang="en-US" sz="2000" dirty="0"/>
              <a:t>User clicks ‘stop’ and screen turns red (WRONG)</a:t>
            </a:r>
          </a:p>
          <a:p>
            <a:pPr lvl="1"/>
            <a:r>
              <a:rPr lang="en-US" sz="2000" dirty="0"/>
              <a:t>System shall transition to a safe state within 10 </a:t>
            </a:r>
            <a:r>
              <a:rPr lang="en-US" sz="2000" dirty="0" err="1"/>
              <a:t>ms</a:t>
            </a:r>
            <a:r>
              <a:rPr lang="en-US" sz="2000" dirty="0"/>
              <a:t> of receiving the ‘stop’ signal from user (CORRECT)</a:t>
            </a:r>
          </a:p>
          <a:p>
            <a:r>
              <a:rPr lang="en-US" sz="2400" dirty="0"/>
              <a:t>Use case defines</a:t>
            </a:r>
          </a:p>
          <a:p>
            <a:pPr lvl="1"/>
            <a:r>
              <a:rPr lang="en-US" sz="2000" dirty="0"/>
              <a:t>Actor</a:t>
            </a:r>
          </a:p>
          <a:p>
            <a:pPr lvl="1"/>
            <a:r>
              <a:rPr lang="en-US" sz="2000" dirty="0"/>
              <a:t>Trigger</a:t>
            </a:r>
          </a:p>
          <a:p>
            <a:pPr lvl="1"/>
            <a:r>
              <a:rPr lang="en-US" sz="2000" dirty="0"/>
              <a:t>Main success scenario</a:t>
            </a:r>
          </a:p>
          <a:p>
            <a:pPr lvl="1"/>
            <a:r>
              <a:rPr lang="en-US" sz="2000" dirty="0"/>
              <a:t>Alternatives / exception scenarios (fault recovery behavior)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2AF753-48F2-4506-8653-A559108EA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115F4D-F730-417A-ABE9-16B0D4E46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76969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BD817-D0DA-4241-AAA8-6FBD8BF98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 – infusion pump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26E7A9-6AB2-4FE6-9527-A8A944386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Example use case: deliver drug at programmed infusion rate safely</a:t>
            </a:r>
          </a:p>
          <a:p>
            <a:r>
              <a:rPr lang="en-US" dirty="0"/>
              <a:t>Who are the actors for this use case?</a:t>
            </a:r>
          </a:p>
          <a:p>
            <a:pPr lvl="1"/>
            <a:r>
              <a:rPr lang="en-US" dirty="0"/>
              <a:t>Nurse (primary), power source, sensors, motor…</a:t>
            </a:r>
          </a:p>
          <a:p>
            <a:r>
              <a:rPr lang="en-US" dirty="0"/>
              <a:t>What is the trigger?</a:t>
            </a:r>
          </a:p>
          <a:p>
            <a:pPr lvl="1"/>
            <a:r>
              <a:rPr lang="en-US" dirty="0"/>
              <a:t>Nurse programs an infusion rate and starts infusion</a:t>
            </a:r>
          </a:p>
          <a:p>
            <a:r>
              <a:rPr lang="en-US" dirty="0"/>
              <a:t>Main success scenario:</a:t>
            </a:r>
          </a:p>
          <a:p>
            <a:pPr lvl="1"/>
            <a:r>
              <a:rPr lang="en-US" dirty="0"/>
              <a:t>System accepts programmed infusion rate</a:t>
            </a:r>
          </a:p>
          <a:p>
            <a:pPr lvl="1"/>
            <a:r>
              <a:rPr lang="en-US" dirty="0"/>
              <a:t>System starts pump motor</a:t>
            </a:r>
          </a:p>
          <a:p>
            <a:pPr lvl="1"/>
            <a:r>
              <a:rPr lang="en-US" dirty="0"/>
              <a:t>System continuously regulates flow</a:t>
            </a:r>
          </a:p>
          <a:p>
            <a:pPr lvl="1"/>
            <a:r>
              <a:rPr lang="en-US" dirty="0"/>
              <a:t>System monitors safety during infusion (detects occlusions or over-temperature)</a:t>
            </a:r>
          </a:p>
          <a:p>
            <a:pPr lvl="1"/>
            <a:r>
              <a:rPr lang="en-US" dirty="0"/>
              <a:t>System completes infusion and stops motor</a:t>
            </a:r>
          </a:p>
          <a:p>
            <a:r>
              <a:rPr lang="en-US" dirty="0"/>
              <a:t>Alternate scenarios:</a:t>
            </a:r>
          </a:p>
          <a:p>
            <a:pPr lvl="1"/>
            <a:r>
              <a:rPr lang="en-US" dirty="0"/>
              <a:t>Over temperature detected: system stops motor and raises alarm</a:t>
            </a:r>
          </a:p>
          <a:p>
            <a:pPr lvl="1"/>
            <a:r>
              <a:rPr lang="en-US" dirty="0"/>
              <a:t>Occlusion detected…</a:t>
            </a:r>
          </a:p>
          <a:p>
            <a:pPr lvl="1"/>
            <a:r>
              <a:rPr lang="en-US" dirty="0"/>
              <a:t>Sensor failure detected…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89695B-6EC6-44E6-8990-94D49D9F5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6C2874-9B60-44A9-9968-AB0A3041D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7835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A443-9954-471D-90E5-747A3307B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 and requirements in the V-Model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A0491-4912-4BE9-B172-543E8A496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use case </a:t>
            </a:r>
            <a:r>
              <a:rPr lang="en-US" dirty="0">
                <a:sym typeface="Wingdings" panose="05000000000000000000" pitchFamily="2" charset="2"/>
              </a:rPr>
              <a:t> many requirements</a:t>
            </a:r>
          </a:p>
          <a:p>
            <a:r>
              <a:rPr lang="en-US" dirty="0">
                <a:sym typeface="Wingdings" panose="05000000000000000000" pitchFamily="2" charset="2"/>
              </a:rPr>
              <a:t>One requirement  supports multiple use cases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Sit near top-left of V-Model</a:t>
            </a:r>
          </a:p>
          <a:p>
            <a:r>
              <a:rPr lang="en-US" dirty="0">
                <a:sym typeface="Wingdings" panose="05000000000000000000" pitchFamily="2" charset="2"/>
              </a:rPr>
              <a:t>Help define system tests and acceptance criteria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5C494-1B81-42B6-9FD7-3CA30FCFA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4C8A1-9AEF-40D7-8983-75FDC8B9E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15145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D1C61-943E-4D13-9906-A7E392BE3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B8491-8A2A-485B-A9D9-70923EFDD3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UML is a reasoning language</a:t>
            </a:r>
          </a:p>
          <a:p>
            <a:r>
              <a:rPr lang="en-US" dirty="0"/>
              <a:t>System boundaries define responsibility</a:t>
            </a:r>
          </a:p>
          <a:p>
            <a:r>
              <a:rPr lang="en-US" dirty="0"/>
              <a:t>Actors are external to the system</a:t>
            </a:r>
          </a:p>
          <a:p>
            <a:r>
              <a:rPr lang="en-US" dirty="0"/>
              <a:t>Use cases describe behavioral contracts, not UI flows</a:t>
            </a:r>
          </a:p>
          <a:p>
            <a:r>
              <a:rPr lang="en-US" dirty="0"/>
              <a:t>Correct context modeling prevents downstream errors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88A52-ACEB-4226-9A52-DD86E8090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A80EB1-A74B-43ED-A72B-7E1113FC9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55604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E3510-A148-4283-9A26-FB0B9DDBC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Behavioral modeling with UML </a:t>
            </a:r>
            <a:r>
              <a:rPr lang="en-US" dirty="0" err="1"/>
              <a:t>statecharts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8D9F81-F949-4416-AD5B-C4D586407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DC9ED3-E4AF-48F1-BBFE-2B0B63CF8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EE8CAE-F21B-4A82-A923-E8588DA38B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Embedded systems are event-driven</a:t>
            </a:r>
          </a:p>
          <a:p>
            <a:r>
              <a:rPr lang="en-US" dirty="0" err="1"/>
              <a:t>Statecharts</a:t>
            </a:r>
            <a:r>
              <a:rPr lang="en-US" dirty="0"/>
              <a:t> allow reasoning about system behavior as a whole</a:t>
            </a:r>
          </a:p>
          <a:p>
            <a:r>
              <a:rPr lang="en-US" dirty="0"/>
              <a:t>Ensures for every state and input there is a unique, well-defined outcome</a:t>
            </a:r>
          </a:p>
          <a:p>
            <a:r>
              <a:rPr lang="en-US" dirty="0"/>
              <a:t>Prove system cannot enter into a deadly / undefined state</a:t>
            </a:r>
          </a:p>
        </p:txBody>
      </p:sp>
    </p:spTree>
    <p:extLst>
      <p:ext uri="{BB962C8B-B14F-4D97-AF65-F5344CB8AC3E}">
        <p14:creationId xmlns:p14="http://schemas.microsoft.com/office/powerpoint/2010/main" val="589021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40ED7-FF24-4320-B754-D49FD9C8D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States, events and transitions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9CCDD-DD5D-4F81-BD6A-32F392F903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State: represents a specific, finite condition or mode in an object's lifecycle, where it exhibits consistent behavior in response to events</a:t>
            </a:r>
          </a:p>
          <a:p>
            <a:r>
              <a:rPr lang="en-US" dirty="0"/>
              <a:t>Event: a significant occurrence, stimulus, or message that triggers a transition from one state to another</a:t>
            </a:r>
          </a:p>
          <a:p>
            <a:pPr lvl="1"/>
            <a:r>
              <a:rPr lang="en-US" dirty="0"/>
              <a:t>Interrupt driven (triggered by external actors)</a:t>
            </a:r>
          </a:p>
          <a:p>
            <a:pPr lvl="1"/>
            <a:r>
              <a:rPr lang="en-US" dirty="0"/>
              <a:t>Time-triggered</a:t>
            </a:r>
          </a:p>
          <a:p>
            <a:r>
              <a:rPr lang="en-US" dirty="0"/>
              <a:t>Transition: change from one state to another driven by an event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08178E-3EC3-4181-91E8-43196A02F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4441C0-2628-4A0E-B94F-8CEF807F3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97199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AD4BA-E8D1-4886-9C81-B338BF8E3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States and events in the infusion pump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4CC97-F6F3-495D-86B3-AAEFB18B3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States</a:t>
            </a:r>
          </a:p>
          <a:p>
            <a:pPr lvl="1"/>
            <a:r>
              <a:rPr lang="en-US" dirty="0"/>
              <a:t>Idle</a:t>
            </a:r>
          </a:p>
          <a:p>
            <a:pPr lvl="1"/>
            <a:r>
              <a:rPr lang="en-US" dirty="0"/>
              <a:t>Infusing</a:t>
            </a:r>
          </a:p>
          <a:p>
            <a:pPr lvl="1"/>
            <a:r>
              <a:rPr lang="en-US" dirty="0"/>
              <a:t>Fault</a:t>
            </a:r>
          </a:p>
          <a:p>
            <a:r>
              <a:rPr lang="en-US" dirty="0"/>
              <a:t>Events</a:t>
            </a:r>
          </a:p>
          <a:p>
            <a:pPr lvl="1"/>
            <a:r>
              <a:rPr lang="en-US" dirty="0"/>
              <a:t>Sensor threshold crossed</a:t>
            </a:r>
          </a:p>
          <a:p>
            <a:pPr lvl="1"/>
            <a:r>
              <a:rPr lang="en-US" dirty="0"/>
              <a:t>Button pressed</a:t>
            </a:r>
          </a:p>
          <a:p>
            <a:pPr lvl="1"/>
            <a:r>
              <a:rPr lang="en-US" dirty="0"/>
              <a:t>Control loop timer expired</a:t>
            </a:r>
          </a:p>
          <a:p>
            <a:pPr lvl="1"/>
            <a:r>
              <a:rPr lang="en-US" dirty="0"/>
              <a:t>Watchdog timed out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5B7BBC-A3CD-410A-A085-61E3C2464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5BE45E-BEBE-49EF-BA68-10F761BCC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46641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13568-E900-4C13-8FD5-77F919DB8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 – Entry, Exit and 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D7A75-FB6D-4711-85E0-D570BFB19C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Entry action: executed immediately upon entering a state</a:t>
            </a:r>
          </a:p>
          <a:p>
            <a:r>
              <a:rPr lang="en-US" dirty="0"/>
              <a:t>Exit action: executed just before leaving a state</a:t>
            </a:r>
          </a:p>
          <a:p>
            <a:r>
              <a:rPr lang="en-US" dirty="0"/>
              <a:t>Do activity: ongoing activity during the state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pPr>
              <a:buFontTx/>
              <a:buChar char="-"/>
            </a:pPr>
            <a:r>
              <a:rPr lang="en-US" dirty="0"/>
              <a:t>Enter ‘infusing’ state: start motor</a:t>
            </a:r>
          </a:p>
          <a:p>
            <a:pPr>
              <a:buFontTx/>
              <a:buChar char="-"/>
            </a:pPr>
            <a:r>
              <a:rPr lang="en-US" dirty="0"/>
              <a:t>Exit ‘infusing’ state: stop motor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Promotes </a:t>
            </a:r>
            <a:r>
              <a:rPr lang="en-US" dirty="0">
                <a:solidFill>
                  <a:srgbClr val="72C3E8"/>
                </a:solidFill>
              </a:rPr>
              <a:t>encapsulation</a:t>
            </a:r>
            <a:r>
              <a:rPr lang="en-US" dirty="0"/>
              <a:t>: initialization, main logic and clean-up bundled together so easy to understand / debug / maintain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Prevents subtle bugs caused by repeated or missed actions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89F91-988A-49AD-8518-65E41336B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AB526D-A726-4979-9B11-A825187FB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13576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59B78-5D5B-4AD0-945A-BB8983B79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state chart for the infusion pump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6A2583D-D5F0-4534-AE8F-13DBA8B634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6576" y="1441227"/>
            <a:ext cx="3867672" cy="501491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BD791E-077F-4FF1-AF7E-99D7AE1E9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477446-444C-41E0-AE58-D508A620E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9D1CA80-AFCF-4DAE-9E27-7206239E02E8}"/>
              </a:ext>
            </a:extLst>
          </p:cNvPr>
          <p:cNvSpPr txBox="1">
            <a:spLocks/>
          </p:cNvSpPr>
          <p:nvPr/>
        </p:nvSpPr>
        <p:spPr bwMode="auto">
          <a:xfrm>
            <a:off x="3904248" y="1446211"/>
            <a:ext cx="5087352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/>
              <a:t>Making </a:t>
            </a:r>
            <a:r>
              <a:rPr lang="en-US" sz="2000" dirty="0" err="1"/>
              <a:t>statecharts</a:t>
            </a:r>
            <a:r>
              <a:rPr lang="en-US" sz="2000" dirty="0"/>
              <a:t> with Mermaid</a:t>
            </a:r>
          </a:p>
          <a:p>
            <a:r>
              <a:rPr lang="en-US" sz="2000" dirty="0"/>
              <a:t>Text-based way to create diagrams</a:t>
            </a:r>
          </a:p>
          <a:p>
            <a:r>
              <a:rPr lang="en-US" sz="2000" dirty="0"/>
              <a:t>Easy version control</a:t>
            </a:r>
          </a:p>
          <a:p>
            <a:r>
              <a:rPr lang="en-US" sz="2000" dirty="0"/>
              <a:t>Works directly in markdown files (on GitHub, </a:t>
            </a:r>
            <a:r>
              <a:rPr lang="en-US" sz="2000" dirty="0" err="1"/>
              <a:t>VSCode</a:t>
            </a:r>
            <a:r>
              <a:rPr lang="en-US" sz="2000" dirty="0"/>
              <a:t> with the ‘mermaid preview’ extension)</a:t>
            </a:r>
          </a:p>
          <a:p>
            <a:endParaRPr lang="en-US" sz="20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9BB5DC3-103D-4B61-AD7A-8038F011D8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2400" y="3657600"/>
            <a:ext cx="3477110" cy="15813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F51F8D8-1B32-4B72-8589-D8C6673FCC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3736" y="5268941"/>
            <a:ext cx="1914792" cy="1162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334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EAEDE-5551-4A8F-98C6-92759EC74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good and the bad state chart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A8D91C6-FB41-4793-8594-93449E97E5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30080" y="1416843"/>
            <a:ext cx="5109271" cy="4069557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C3BBA6-6525-4C9D-B8F4-1738A9BDA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3607D2-411D-4615-93E9-CE1C534EA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3F341AA1-5CD1-47C9-AA63-C56CDDF4D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6576" y="1441227"/>
            <a:ext cx="3867672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676548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EAEDE-5551-4A8F-98C6-92759EC74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good and the bad state chart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C3BBA6-6525-4C9D-B8F4-1738A9BDA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3607D2-411D-4615-93E9-CE1C534EA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2984367-716B-4388-9260-1B0B6AFC81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286947" y="2133601"/>
            <a:ext cx="9430947" cy="4379482"/>
          </a:xfrm>
        </p:spPr>
      </p:pic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3F341AA1-5CD1-47C9-AA63-C56CDDF4D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64367" y="0"/>
            <a:ext cx="2879634" cy="3733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06054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8">
            <a:extLst>
              <a:ext uri="{FF2B5EF4-FFF2-40B4-BE49-F238E27FC236}">
                <a16:creationId xmlns:a16="http://schemas.microsoft.com/office/drawing/2014/main" id="{3EC53026-709D-4099-A4EC-32A10DA58E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10466" y="0"/>
            <a:ext cx="4430485" cy="205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98F51CD-1C5F-4BA1-8159-7BB2B3219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5257800" cy="1195386"/>
          </a:xfrm>
        </p:spPr>
        <p:txBody>
          <a:bodyPr/>
          <a:lstStyle/>
          <a:p>
            <a:r>
              <a:rPr lang="en-US" dirty="0"/>
              <a:t>What is wrong with the second example?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320F36-6ADE-4116-8859-9A857FA103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Do we need the extra states?</a:t>
            </a:r>
          </a:p>
          <a:p>
            <a:r>
              <a:rPr lang="en-US" dirty="0"/>
              <a:t>Every event is repeat for the ‘infusing’ and ‘paused’ state</a:t>
            </a:r>
          </a:p>
          <a:p>
            <a:r>
              <a:rPr lang="en-US" dirty="0"/>
              <a:t>Every new operational state multiplies transitions</a:t>
            </a:r>
          </a:p>
          <a:p>
            <a:r>
              <a:rPr lang="en-US" dirty="0"/>
              <a:t>Conceptual duplication: infusing / paused </a:t>
            </a:r>
            <a:r>
              <a:rPr lang="en-US" dirty="0">
                <a:sym typeface="Wingdings" panose="05000000000000000000" pitchFamily="2" charset="2"/>
              </a:rPr>
              <a:t> alarm (over temperature) is conceptually the same thing, but not captured by the diagram</a:t>
            </a:r>
          </a:p>
          <a:p>
            <a:r>
              <a:rPr lang="en-US" dirty="0"/>
              <a:t>Safety is scattered (no single place that says “while infusing, safety monitoring is always active”)</a:t>
            </a:r>
          </a:p>
          <a:p>
            <a:r>
              <a:rPr lang="en-US" dirty="0"/>
              <a:t>Too complex looking</a:t>
            </a:r>
          </a:p>
          <a:p>
            <a:r>
              <a:rPr lang="en-US" dirty="0"/>
              <a:t>Is ‘paused’ a fundamentally different state, or a refinement of ‘infusing’?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2ED4D7-4F5D-4F33-9EC1-F92ABD08E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C2DB9A-BAE9-40C8-9042-7F407FB7B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13276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E47EB-3560-47DE-8558-D75F0F77B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Hierarchical states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E1644-9F2D-47F6-BF10-1F5E83605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State Explosion: A complex system can easily have 50+ states, making the diagram unreadable.</a:t>
            </a:r>
          </a:p>
          <a:p>
            <a:r>
              <a:rPr lang="en-US" dirty="0"/>
              <a:t>Solution: super-states and sub-states</a:t>
            </a:r>
          </a:p>
          <a:p>
            <a:pPr lvl="1"/>
            <a:r>
              <a:rPr lang="en-US" dirty="0"/>
              <a:t>A system can be in an OPERATIONAL super-state, which contains sub-states like SENSING and PROCESSING</a:t>
            </a:r>
          </a:p>
          <a:p>
            <a:r>
              <a:rPr lang="en-US" dirty="0">
                <a:solidFill>
                  <a:srgbClr val="72C3E8"/>
                </a:solidFill>
              </a:rPr>
              <a:t>Inheritance</a:t>
            </a:r>
            <a:r>
              <a:rPr lang="en-US" dirty="0"/>
              <a:t>: events attached to super-state automatically apply to all sub-states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0FC639-1037-4C10-8B00-36EEA0D52F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6FE1BB-D299-4B1D-B7C5-6C0A50E7B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144874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7CCB6-4EDE-4640-8247-78D2B4355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hierarchical infusion pump </a:t>
            </a:r>
            <a:r>
              <a:rPr lang="en-US" dirty="0" err="1"/>
              <a:t>statechart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3E6BEF6-3291-43EA-8499-3BD3EC42E4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61785" y="1600200"/>
            <a:ext cx="5445639" cy="419051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AC3B69-1AA7-47EB-AC07-B58778DB6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F6C134-FFAC-4091-A242-757D08622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25</a:t>
            </a:fld>
            <a:endParaRPr lang="en-US" altLang="en-US"/>
          </a:p>
        </p:txBody>
      </p:sp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FECB5BFA-AC4F-436C-9E3E-10A27B4C40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6576" y="1441227"/>
            <a:ext cx="3867672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817503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6ABB9-ACFF-4DD4-98A8-750770F21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Concurrent / parallel / orthogonal states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434F1-D296-4EC2-AE41-09B19AE1C8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embedded system might be doing multiple functions in parallel (multiple subsystems)</a:t>
            </a:r>
          </a:p>
          <a:p>
            <a:pPr lvl="1"/>
            <a:r>
              <a:rPr lang="en-US" dirty="0"/>
              <a:t>Infusion control</a:t>
            </a:r>
          </a:p>
          <a:p>
            <a:pPr lvl="1"/>
            <a:r>
              <a:rPr lang="en-US" dirty="0"/>
              <a:t>Alarm monitoring</a:t>
            </a:r>
          </a:p>
          <a:p>
            <a:pPr lvl="1"/>
            <a:r>
              <a:rPr lang="en-US" dirty="0"/>
              <a:t>Communication</a:t>
            </a:r>
          </a:p>
          <a:p>
            <a:r>
              <a:rPr lang="en-US" dirty="0" err="1"/>
              <a:t>Statecharts</a:t>
            </a:r>
            <a:r>
              <a:rPr lang="en-US" dirty="0"/>
              <a:t> allow concurrent regions</a:t>
            </a:r>
          </a:p>
          <a:p>
            <a:r>
              <a:rPr lang="en-US" dirty="0"/>
              <a:t>How to show synchronized behavior (for example via shared variables or internal events)?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26ACE9-8297-4F65-97EA-98AA73CB3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2CA62B-8EFD-4CE1-B2E9-D6575807A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72483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8D9E-7390-4354-9B92-AA8066E9F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Infusing and logging in the infusion pump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5D1BCE6-7654-479F-B650-7583931677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539" y="1416843"/>
            <a:ext cx="6228321" cy="501491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0A9B2-AE5E-4069-BBB9-E8C62D2D8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0CE52F-CFB6-45A2-A768-06D87EDE8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27</a:t>
            </a:fld>
            <a:endParaRPr lang="en-US" alt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E12CFAE-DB9B-4F75-B4C3-7654172A49FC}"/>
              </a:ext>
            </a:extLst>
          </p:cNvPr>
          <p:cNvSpPr txBox="1">
            <a:spLocks/>
          </p:cNvSpPr>
          <p:nvPr/>
        </p:nvSpPr>
        <p:spPr bwMode="auto">
          <a:xfrm>
            <a:off x="6019800" y="1446211"/>
            <a:ext cx="29718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Should logging be a concurrent state </a:t>
            </a:r>
            <a:r>
              <a:rPr lang="en-US" sz="2000" i="1" dirty="0"/>
              <a:t>inside</a:t>
            </a:r>
            <a:r>
              <a:rPr lang="en-US" sz="2000" dirty="0"/>
              <a:t> infusion, or separate altogether?</a:t>
            </a:r>
          </a:p>
          <a:p>
            <a:r>
              <a:rPr lang="en-US" sz="2000" dirty="0"/>
              <a:t>Might want logging to change behavior in </a:t>
            </a:r>
            <a:r>
              <a:rPr lang="en-US" sz="2000" dirty="0" err="1"/>
              <a:t>safestate</a:t>
            </a:r>
            <a:r>
              <a:rPr lang="en-US" sz="2000" dirty="0"/>
              <a:t>, so use a different logging substate there</a:t>
            </a:r>
          </a:p>
          <a:p>
            <a:r>
              <a:rPr lang="en-US" sz="2000" dirty="0"/>
              <a:t>Are we implementing two tasks / parallel code?</a:t>
            </a:r>
          </a:p>
          <a:p>
            <a:r>
              <a:rPr lang="en-US" sz="2000" dirty="0"/>
              <a:t>Only behavioral independence, not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412510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82BBD-970C-433C-B80F-B9C0AFE5B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Errors and fault states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744EA-4B35-4DCE-A74A-5F8CF69FB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Error: recoverable abnormal condition; fault: unrecoverable / safety-critical condition</a:t>
            </a:r>
          </a:p>
          <a:p>
            <a:r>
              <a:rPr lang="en-US" dirty="0"/>
              <a:t>Happy path modeling is only 20% of the work, rest is </a:t>
            </a:r>
            <a:r>
              <a:rPr lang="en-US" b="1" dirty="0"/>
              <a:t>fault management</a:t>
            </a:r>
            <a:r>
              <a:rPr lang="en-US" dirty="0"/>
              <a:t>; explicitly model error detection and transition to safe states</a:t>
            </a:r>
          </a:p>
          <a:p>
            <a:r>
              <a:rPr lang="en-US" dirty="0"/>
              <a:t>Safe state: predefined state that minimizes risk</a:t>
            </a:r>
          </a:p>
          <a:p>
            <a:r>
              <a:rPr lang="en-US" dirty="0"/>
              <a:t>Fault states: explicit states used to handle specific failures (ex, sensor disconnected)</a:t>
            </a:r>
          </a:p>
          <a:p>
            <a:r>
              <a:rPr lang="en-US" dirty="0"/>
              <a:t>Recovery path: Logic required to move from a fault state to an operational state; </a:t>
            </a:r>
            <a:r>
              <a:rPr lang="en-US" b="1" dirty="0"/>
              <a:t>must be explicitly modeled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55BE66-4A42-4280-A95A-127B2D772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9B4FA4-996E-4956-814C-06ED89B38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70747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D7A10-E38E-4ED5-98F9-2BE5E97B1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Infusion pump safe state, fault state and recovery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58B65-C753-4211-8AD7-16C1749B2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Safe state</a:t>
            </a:r>
          </a:p>
          <a:p>
            <a:pPr lvl="1"/>
            <a:r>
              <a:rPr lang="en-US" dirty="0"/>
              <a:t>Motor stopped</a:t>
            </a:r>
          </a:p>
          <a:p>
            <a:pPr lvl="1"/>
            <a:r>
              <a:rPr lang="en-US" dirty="0"/>
              <a:t>Alarms active</a:t>
            </a:r>
          </a:p>
          <a:p>
            <a:pPr lvl="1"/>
            <a:r>
              <a:rPr lang="en-US" dirty="0"/>
              <a:t>No infusion delivered</a:t>
            </a:r>
          </a:p>
          <a:p>
            <a:r>
              <a:rPr lang="en-US" dirty="0"/>
              <a:t>Fault state example</a:t>
            </a:r>
          </a:p>
          <a:p>
            <a:pPr lvl="1"/>
            <a:r>
              <a:rPr lang="en-US" dirty="0"/>
              <a:t>Event: temperature crosses threshold</a:t>
            </a:r>
          </a:p>
          <a:p>
            <a:pPr lvl="1"/>
            <a:r>
              <a:rPr lang="en-US" dirty="0"/>
              <a:t>Transition: over-temperature state</a:t>
            </a:r>
          </a:p>
          <a:p>
            <a:pPr lvl="1"/>
            <a:r>
              <a:rPr lang="en-US" dirty="0"/>
              <a:t>Entry action: stop pump, sound buzzer</a:t>
            </a:r>
          </a:p>
          <a:p>
            <a:pPr lvl="1"/>
            <a:r>
              <a:rPr lang="en-US" dirty="0"/>
              <a:t>Recovery: transition back to ‘infusing’ or ‘idle’ (design choice) when temperature back to normal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9ABEB-AF92-4D0E-BDEB-E73C69CC0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4A1845-FCB8-453C-9041-194E92691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01122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F6BED-B7F3-45D4-B281-5BC2983C2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Infusion pump </a:t>
            </a:r>
            <a:r>
              <a:rPr lang="en-US" dirty="0" err="1"/>
              <a:t>statechart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BA269F-4284-4ED4-85D9-9DA8073B1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1F20D-6AB6-4B00-B3CD-42250D238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30</a:t>
            </a:fld>
            <a:endParaRPr lang="en-US" altLang="en-US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F718996-CA58-4AFF-A9D2-ADCA370F82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4074" y="1446213"/>
            <a:ext cx="6855852" cy="5014912"/>
          </a:xfrm>
        </p:spPr>
      </p:pic>
    </p:spTree>
    <p:extLst>
      <p:ext uri="{BB962C8B-B14F-4D97-AF65-F5344CB8AC3E}">
        <p14:creationId xmlns:p14="http://schemas.microsoft.com/office/powerpoint/2010/main" val="4494949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E3510-A148-4283-9A26-FB0B9DDBC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Interaction modeling and timing awareness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8D9F81-F949-4416-AD5B-C4D586407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DC9ED3-E4AF-48F1-BBFE-2B0B63CF8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31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EE8CAE-F21B-4A82-A923-E8588DA38B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Statecharts</a:t>
            </a:r>
            <a:r>
              <a:rPr lang="en-US" dirty="0"/>
              <a:t> tell us the states and transition behavior</a:t>
            </a:r>
          </a:p>
          <a:p>
            <a:r>
              <a:rPr lang="en-US" dirty="0"/>
              <a:t>How is the transition implemented? Who has to do what and when?</a:t>
            </a:r>
          </a:p>
          <a:p>
            <a:r>
              <a:rPr lang="en-US" dirty="0"/>
              <a:t>Interaction models explain coordination between actors</a:t>
            </a:r>
          </a:p>
          <a:p>
            <a:r>
              <a:rPr lang="en-US" dirty="0"/>
              <a:t>The tool: Sequence diagrams</a:t>
            </a:r>
          </a:p>
        </p:txBody>
      </p:sp>
    </p:spTree>
    <p:extLst>
      <p:ext uri="{BB962C8B-B14F-4D97-AF65-F5344CB8AC3E}">
        <p14:creationId xmlns:p14="http://schemas.microsoft.com/office/powerpoint/2010/main" val="387169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2A334-57E4-44A1-B606-043A9F02B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occlusion in the infusion pump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59817CD-122B-465D-AD66-2D699CAAC9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016" y="1371600"/>
            <a:ext cx="4672584" cy="518440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F005EB-918F-4457-A0C9-D61D030C8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4818DF-2F96-4F50-8F39-1A58D5895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32</a:t>
            </a:fld>
            <a:endParaRPr lang="en-US" alt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765B9A2-2981-48AB-8369-81F80278E5B5}"/>
              </a:ext>
            </a:extLst>
          </p:cNvPr>
          <p:cNvSpPr txBox="1">
            <a:spLocks/>
          </p:cNvSpPr>
          <p:nvPr/>
        </p:nvSpPr>
        <p:spPr bwMode="auto">
          <a:xfrm>
            <a:off x="4876800" y="1446211"/>
            <a:ext cx="4114799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You have designed your occlusion handling system following this behavior</a:t>
            </a:r>
          </a:p>
          <a:p>
            <a:r>
              <a:rPr lang="en-US" sz="2400" dirty="0"/>
              <a:t>In your test run, you discover that after occlusion is detected, the motor takes variable time to stop between 50 </a:t>
            </a:r>
            <a:r>
              <a:rPr lang="en-US" sz="2400" dirty="0" err="1"/>
              <a:t>ms</a:t>
            </a:r>
            <a:r>
              <a:rPr lang="en-US" sz="2400" dirty="0"/>
              <a:t> to 2 s</a:t>
            </a:r>
          </a:p>
          <a:p>
            <a:r>
              <a:rPr lang="en-US" sz="2400" dirty="0"/>
              <a:t>This delay is too much!</a:t>
            </a:r>
          </a:p>
          <a:p>
            <a:r>
              <a:rPr lang="en-US" sz="2400" dirty="0">
                <a:solidFill>
                  <a:srgbClr val="FF0000"/>
                </a:solidFill>
              </a:rPr>
              <a:t>What could the issue be?</a:t>
            </a:r>
          </a:p>
          <a:p>
            <a:r>
              <a:rPr lang="en-US" sz="2400" dirty="0" err="1">
                <a:solidFill>
                  <a:srgbClr val="72C3E8"/>
                </a:solidFill>
              </a:rPr>
              <a:t>Statechart</a:t>
            </a:r>
            <a:r>
              <a:rPr lang="en-US" sz="2400" dirty="0">
                <a:solidFill>
                  <a:srgbClr val="72C3E8"/>
                </a:solidFill>
              </a:rPr>
              <a:t> is not sufficient to explain timing!</a:t>
            </a:r>
          </a:p>
        </p:txBody>
      </p:sp>
    </p:spTree>
    <p:extLst>
      <p:ext uri="{BB962C8B-B14F-4D97-AF65-F5344CB8AC3E}">
        <p14:creationId xmlns:p14="http://schemas.microsoft.com/office/powerpoint/2010/main" val="3218008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43EA5-67ED-4829-AA97-8CE40558A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more details do we need?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69C84-57C9-48E7-AEB3-71F53316EF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Statecharts</a:t>
            </a:r>
            <a:r>
              <a:rPr lang="en-US" dirty="0"/>
              <a:t> tell us</a:t>
            </a:r>
          </a:p>
          <a:p>
            <a:r>
              <a:rPr lang="en-US" dirty="0"/>
              <a:t>What state the system enters</a:t>
            </a:r>
          </a:p>
          <a:p>
            <a:r>
              <a:rPr lang="en-US" dirty="0"/>
              <a:t>Which transitions are valid / occur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They do not tell us</a:t>
            </a:r>
          </a:p>
          <a:p>
            <a:r>
              <a:rPr lang="en-US" dirty="0"/>
              <a:t>Who detects occlusion</a:t>
            </a:r>
          </a:p>
          <a:p>
            <a:r>
              <a:rPr lang="en-US" dirty="0"/>
              <a:t>Who notifies it to whom</a:t>
            </a:r>
          </a:p>
          <a:p>
            <a:r>
              <a:rPr lang="en-US" dirty="0"/>
              <a:t>What might block subsequent execution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A1E6DD-1979-4F68-8301-4026FDE4C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F73BE3-3E53-4C3F-AD82-0FF3A8FD7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82231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96AAE-FFBC-4AB3-9D69-F9CCB80E9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How does the occlusion event actually propagate in the system?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3508CE-A9A7-411E-8973-D33554DCB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CE3E9E-5E0D-40D4-85C2-DF29F6F07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34</a:t>
            </a:fld>
            <a:endParaRPr lang="en-US" alt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6B6FE82-B435-4505-AF05-238A65DB3023}"/>
              </a:ext>
            </a:extLst>
          </p:cNvPr>
          <p:cNvSpPr txBox="1">
            <a:spLocks/>
          </p:cNvSpPr>
          <p:nvPr/>
        </p:nvSpPr>
        <p:spPr bwMode="auto">
          <a:xfrm>
            <a:off x="152400" y="6093912"/>
            <a:ext cx="8839200" cy="4873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800" dirty="0">
                <a:solidFill>
                  <a:srgbClr val="EA3F26"/>
                </a:solidFill>
              </a:rPr>
              <a:t>What could be the reason for variable stopping time?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2396691-2F36-4C08-B103-77FE760704D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40096" y="1367535"/>
            <a:ext cx="7885160" cy="3121209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CDC569C-BF70-44F8-B52C-FE65CCF37B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828"/>
          <a:stretch/>
        </p:blipFill>
        <p:spPr>
          <a:xfrm>
            <a:off x="629420" y="1422457"/>
            <a:ext cx="7885160" cy="2463743"/>
          </a:xfrm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E5EB2917-D0FC-4EE4-A40C-17657BE7EE0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-580"/>
          <a:stretch/>
        </p:blipFill>
        <p:spPr bwMode="auto">
          <a:xfrm>
            <a:off x="629420" y="1422456"/>
            <a:ext cx="7885160" cy="47497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E65CEC3-E749-41FA-BCD8-C76EEA4024C3}"/>
              </a:ext>
            </a:extLst>
          </p:cNvPr>
          <p:cNvSpPr txBox="1">
            <a:spLocks/>
          </p:cNvSpPr>
          <p:nvPr/>
        </p:nvSpPr>
        <p:spPr bwMode="auto">
          <a:xfrm>
            <a:off x="6568440" y="2663472"/>
            <a:ext cx="2590800" cy="205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 err="1">
                <a:solidFill>
                  <a:srgbClr val="EA3F26"/>
                </a:solidFill>
              </a:rPr>
              <a:t>logEvent</a:t>
            </a:r>
            <a:r>
              <a:rPr lang="en-US" sz="2400" dirty="0">
                <a:solidFill>
                  <a:srgbClr val="EA3F26"/>
                </a:solidFill>
              </a:rPr>
              <a:t>() is a blocking function</a:t>
            </a:r>
            <a:br>
              <a:rPr lang="en-US" sz="2400" dirty="0">
                <a:solidFill>
                  <a:srgbClr val="EA3F26"/>
                </a:solidFill>
              </a:rPr>
            </a:br>
            <a:r>
              <a:rPr lang="en-US" sz="2400" dirty="0">
                <a:solidFill>
                  <a:srgbClr val="EA3F26"/>
                </a:solidFill>
              </a:rPr>
              <a:t>i.e. main loop waits till function returns</a:t>
            </a:r>
          </a:p>
        </p:txBody>
      </p:sp>
    </p:spTree>
    <p:extLst>
      <p:ext uri="{BB962C8B-B14F-4D97-AF65-F5344CB8AC3E}">
        <p14:creationId xmlns:p14="http://schemas.microsoft.com/office/powerpoint/2010/main" val="2812679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12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ED40B-CF4D-49D5-AD7B-9CE2690B3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this be fixed?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59EF48-5E4D-47AA-AEE5-7D32E7DC70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3124200" cy="5014912"/>
          </a:xfrm>
        </p:spPr>
        <p:txBody>
          <a:bodyPr/>
          <a:lstStyle/>
          <a:p>
            <a:r>
              <a:rPr lang="en-US" sz="2400" dirty="0"/>
              <a:t>Make </a:t>
            </a:r>
            <a:r>
              <a:rPr lang="en-US" sz="2400" dirty="0" err="1"/>
              <a:t>logEvent</a:t>
            </a:r>
            <a:r>
              <a:rPr lang="en-US" sz="2400" dirty="0"/>
              <a:t>() non-blocking / asynchronous</a:t>
            </a:r>
          </a:p>
          <a:p>
            <a:r>
              <a:rPr lang="en-US" sz="2400" dirty="0"/>
              <a:t>Let safety monitor directly stop motor</a:t>
            </a:r>
          </a:p>
          <a:p>
            <a:r>
              <a:rPr lang="en-US" sz="2400" dirty="0"/>
              <a:t>Which is better?</a:t>
            </a:r>
          </a:p>
          <a:p>
            <a:r>
              <a:rPr lang="en-US" sz="2400" dirty="0"/>
              <a:t>Sequence diagrams might help…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9D1004-9CE4-4434-8B9B-B98262D34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A05C7E-DB46-4466-807B-EAAD35F28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35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A94440-5F0A-4054-9DE0-26ACE0358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1349716"/>
            <a:ext cx="6096000" cy="29254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A10AE49-E8B9-4834-8DCF-BAAEDCE14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800" y="4271469"/>
            <a:ext cx="6096000" cy="2258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356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722DF-F9D1-4B00-8021-8862F517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Sequence diagrams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A9EBF84-2D58-4808-ABB3-464D73C4B8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921" y="1613525"/>
            <a:ext cx="9060158" cy="431675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F2B0BC-C6FC-416D-928A-1FD875FF8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8AB9DE-04BB-426E-97A4-28ACCEE4D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36</a:t>
            </a:fld>
            <a:endParaRPr lang="en-US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6C55A2-77A9-4476-957D-73D265D240CD}"/>
              </a:ext>
            </a:extLst>
          </p:cNvPr>
          <p:cNvSpPr txBox="1"/>
          <p:nvPr/>
        </p:nvSpPr>
        <p:spPr>
          <a:xfrm rot="16200000">
            <a:off x="839646" y="3143935"/>
            <a:ext cx="36179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EA3F26"/>
                </a:solidFill>
              </a:rPr>
              <a:t>Lifeline</a:t>
            </a:r>
          </a:p>
          <a:p>
            <a:r>
              <a:rPr lang="en-US" sz="1800" b="1" dirty="0">
                <a:solidFill>
                  <a:srgbClr val="EA3F26"/>
                </a:solidFill>
              </a:rPr>
              <a:t>(represents a participant)</a:t>
            </a:r>
            <a:endParaRPr lang="en-US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3A2274-BD65-4E96-A72F-3CE6AEC83339}"/>
              </a:ext>
            </a:extLst>
          </p:cNvPr>
          <p:cNvSpPr txBox="1"/>
          <p:nvPr/>
        </p:nvSpPr>
        <p:spPr>
          <a:xfrm>
            <a:off x="0" y="1984402"/>
            <a:ext cx="16184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EA3F26"/>
                </a:solidFill>
              </a:rPr>
              <a:t>Vertical axis</a:t>
            </a:r>
          </a:p>
          <a:p>
            <a:r>
              <a:rPr lang="en-US" b="1" dirty="0">
                <a:solidFill>
                  <a:srgbClr val="EA3F26"/>
                </a:solidFill>
              </a:rPr>
              <a:t>Time ⬇️</a:t>
            </a:r>
            <a:endParaRPr 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5D9234-EB1C-454F-9FD2-E35C07A5F33E}"/>
              </a:ext>
            </a:extLst>
          </p:cNvPr>
          <p:cNvSpPr txBox="1"/>
          <p:nvPr/>
        </p:nvSpPr>
        <p:spPr>
          <a:xfrm>
            <a:off x="695628" y="1338071"/>
            <a:ext cx="23149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EA3F26"/>
                </a:solidFill>
              </a:rPr>
              <a:t>Horizontal axis</a:t>
            </a:r>
          </a:p>
          <a:p>
            <a:r>
              <a:rPr lang="en-US" b="1" dirty="0">
                <a:solidFill>
                  <a:srgbClr val="EA3F26"/>
                </a:solidFill>
              </a:rPr>
              <a:t>Actors / Objects ➡️</a:t>
            </a:r>
            <a:endParaRPr lang="en-US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12778B-638A-4D6C-A348-24735EF39DA9}"/>
              </a:ext>
            </a:extLst>
          </p:cNvPr>
          <p:cNvSpPr txBox="1"/>
          <p:nvPr/>
        </p:nvSpPr>
        <p:spPr>
          <a:xfrm>
            <a:off x="3094016" y="2514600"/>
            <a:ext cx="55927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EA3F26"/>
                </a:solidFill>
              </a:rPr>
              <a:t>Messages (events, commands, notifications)</a:t>
            </a:r>
          </a:p>
          <a:p>
            <a:r>
              <a:rPr lang="en-US" sz="1800" b="1" dirty="0">
                <a:solidFill>
                  <a:srgbClr val="EA3F26"/>
                </a:solidFill>
              </a:rPr>
              <a:t>Solid arrow: </a:t>
            </a:r>
            <a:r>
              <a:rPr lang="en-US" b="1" dirty="0">
                <a:solidFill>
                  <a:srgbClr val="EA3F26"/>
                </a:solidFill>
              </a:rPr>
              <a:t>Synchronous</a:t>
            </a:r>
            <a:endParaRPr lang="en-US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549583-A111-4FF6-8BE5-220748642B07}"/>
              </a:ext>
            </a:extLst>
          </p:cNvPr>
          <p:cNvSpPr txBox="1"/>
          <p:nvPr/>
        </p:nvSpPr>
        <p:spPr>
          <a:xfrm>
            <a:off x="4602480" y="3771900"/>
            <a:ext cx="3765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EA3F26"/>
                </a:solidFill>
              </a:rPr>
              <a:t>Dashed</a:t>
            </a:r>
            <a:r>
              <a:rPr lang="en-US" sz="1800" b="1" dirty="0">
                <a:solidFill>
                  <a:srgbClr val="EA3F26"/>
                </a:solidFill>
              </a:rPr>
              <a:t> arrow: </a:t>
            </a:r>
            <a:r>
              <a:rPr lang="en-US" b="1" dirty="0">
                <a:solidFill>
                  <a:srgbClr val="EA3F26"/>
                </a:solidFill>
              </a:rPr>
              <a:t>Asynchronous</a:t>
            </a:r>
            <a:endParaRPr 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3B4E71-175A-4868-899A-1D0397D865C9}"/>
              </a:ext>
            </a:extLst>
          </p:cNvPr>
          <p:cNvSpPr txBox="1"/>
          <p:nvPr/>
        </p:nvSpPr>
        <p:spPr>
          <a:xfrm>
            <a:off x="6324600" y="4921309"/>
            <a:ext cx="27774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EA3F26"/>
                </a:solidFill>
              </a:rPr>
              <a:t>Activation bar</a:t>
            </a:r>
          </a:p>
          <a:p>
            <a:r>
              <a:rPr lang="en-US" b="1" dirty="0">
                <a:solidFill>
                  <a:srgbClr val="EA3F26"/>
                </a:solidFill>
              </a:rPr>
              <a:t>Active CPU use by task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202082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/>
      <p:bldP spid="13" grpId="0"/>
      <p:bldP spid="14" grpId="0"/>
      <p:bldP spid="1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B6CB2-4A92-4A2A-ADA2-CD24CBFD7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vs asynchronous interactions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8ADA1-891D-4788-BB45-A821312AA7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Synchronous (blocking): sender waits for response</a:t>
            </a:r>
          </a:p>
          <a:p>
            <a:pPr lvl="1"/>
            <a:r>
              <a:rPr lang="en-US" dirty="0"/>
              <a:t>Function calls</a:t>
            </a:r>
          </a:p>
          <a:p>
            <a:pPr lvl="1"/>
            <a:r>
              <a:rPr lang="en-US" dirty="0"/>
              <a:t>Tightly coupled logic</a:t>
            </a:r>
          </a:p>
          <a:p>
            <a:pPr lvl="1"/>
            <a:r>
              <a:rPr lang="en-US" dirty="0"/>
              <a:t>Affects timing and responsiveness</a:t>
            </a:r>
          </a:p>
          <a:p>
            <a:r>
              <a:rPr lang="en-US" dirty="0"/>
              <a:t>Asynchronous (non-blocking): sender fires a message and continues its work</a:t>
            </a:r>
          </a:p>
          <a:p>
            <a:pPr lvl="1"/>
            <a:r>
              <a:rPr lang="en-US" dirty="0"/>
              <a:t>Receiver handles message later</a:t>
            </a:r>
          </a:p>
          <a:p>
            <a:pPr lvl="1"/>
            <a:r>
              <a:rPr lang="en-US" dirty="0"/>
              <a:t>Very essential for embedded systems</a:t>
            </a:r>
          </a:p>
          <a:p>
            <a:pPr lvl="1"/>
            <a:r>
              <a:rPr lang="en-US" dirty="0"/>
              <a:t>Interrupts, event queues, message passing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72BE3B-1250-47A5-984A-F7EF505B1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0E3CBA-86E5-49E1-889F-25558F241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74727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292A5-0FE3-4DD6-BDDB-634ED5230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 vs async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8DA4435D-0624-4763-815E-7B31E8CFEA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1080201"/>
              </p:ext>
            </p:extLst>
          </p:nvPr>
        </p:nvGraphicFramePr>
        <p:xfrm>
          <a:off x="152400" y="2171699"/>
          <a:ext cx="8839200" cy="3505200"/>
        </p:xfrm>
        <a:graphic>
          <a:graphicData uri="http://schemas.openxmlformats.org/drawingml/2006/table">
            <a:tbl>
              <a:tblPr/>
              <a:tblGrid>
                <a:gridCol w="2946400">
                  <a:extLst>
                    <a:ext uri="{9D8B030D-6E8A-4147-A177-3AD203B41FA5}">
                      <a16:colId xmlns:a16="http://schemas.microsoft.com/office/drawing/2014/main" val="3610625184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922033851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988260900"/>
                    </a:ext>
                  </a:extLst>
                </a:gridCol>
              </a:tblGrid>
              <a:tr h="701040">
                <a:tc>
                  <a:txBody>
                    <a:bodyPr/>
                    <a:lstStyle/>
                    <a:p>
                      <a:r>
                        <a:rPr lang="en-US" b="1" dirty="0"/>
                        <a:t>Aspect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Synchronous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Asynchronous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9865513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lang="en-US" dirty="0"/>
                        <a:t>Blocking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3365926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lang="en-US" dirty="0"/>
                        <a:t>Timing predictability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System-level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2297073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lang="en-US" dirty="0"/>
                        <a:t>Coupling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9620544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lang="en-US" dirty="0"/>
                        <a:t>Typical use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Events, signaling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1259641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6E3D75-E5A3-4BCC-B73B-CB6AE169F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AF4BFA-155A-4892-A90A-D4B63AC67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942943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53A05-A51A-4DE0-8C3A-DD49E159C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Event queues and message passing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03CBBF-1FA9-463A-91FE-92CC683D9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External events </a:t>
            </a:r>
            <a:r>
              <a:rPr lang="en-US" dirty="0">
                <a:sym typeface="Wingdings" panose="05000000000000000000" pitchFamily="2" charset="2"/>
              </a:rPr>
              <a:t> interrupts  brief, work is deferred</a:t>
            </a:r>
            <a:endParaRPr lang="en-US" dirty="0"/>
          </a:p>
          <a:p>
            <a:r>
              <a:rPr lang="en-US" dirty="0"/>
              <a:t>Event queue: a mailbox where messages wait to be processed</a:t>
            </a:r>
          </a:p>
          <a:p>
            <a:pPr lvl="1"/>
            <a:r>
              <a:rPr lang="en-US" dirty="0"/>
              <a:t>Buffers events</a:t>
            </a:r>
          </a:p>
          <a:p>
            <a:pPr lvl="1"/>
            <a:r>
              <a:rPr lang="en-US" dirty="0"/>
              <a:t>Decouples producer and consumer of events</a:t>
            </a:r>
          </a:p>
          <a:p>
            <a:pPr lvl="1"/>
            <a:r>
              <a:rPr lang="en-US" dirty="0"/>
              <a:t>ISR (producer) pushes event to queue</a:t>
            </a:r>
          </a:p>
          <a:p>
            <a:pPr lvl="1"/>
            <a:r>
              <a:rPr lang="en-US" dirty="0"/>
              <a:t>Control loop (consumer) pops and processes it</a:t>
            </a:r>
          </a:p>
          <a:p>
            <a:r>
              <a:rPr lang="en-US" dirty="0"/>
              <a:t>Prevents system from being overwhelmed by asynchronous, fast-firing hardware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DF10FD-4F75-4EDF-AE3B-32FF9AD0A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8A7DD7-0DA5-493B-983B-177F11104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61997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25DBC-A3CB-49E4-8CDA-AE9D228BE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Infusion pump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70F31A-78A4-4040-B4C0-A2903018E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Over-temperature flow:</a:t>
            </a:r>
          </a:p>
          <a:p>
            <a:r>
              <a:rPr lang="en-US" dirty="0"/>
              <a:t>Sensor detects threshold</a:t>
            </a:r>
          </a:p>
          <a:p>
            <a:r>
              <a:rPr lang="en-US" dirty="0"/>
              <a:t>Event raised to safety monitor</a:t>
            </a:r>
          </a:p>
          <a:p>
            <a:r>
              <a:rPr lang="en-US" dirty="0"/>
              <a:t>Safety monitor posts event</a:t>
            </a:r>
          </a:p>
          <a:p>
            <a:r>
              <a:rPr lang="en-US" dirty="0"/>
              <a:t>Control logic processes event</a:t>
            </a:r>
          </a:p>
          <a:p>
            <a:r>
              <a:rPr lang="en-US" dirty="0"/>
              <a:t>Motor stop command issued</a:t>
            </a:r>
          </a:p>
          <a:p>
            <a:r>
              <a:rPr lang="en-US" dirty="0"/>
              <a:t>Logger records fault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83FD0-9776-49E6-A3AF-750FFF7A5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220616-81C9-45D6-9540-EF10BCD7C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16549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A631E-62BD-490B-B848-D7783F55A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annotations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89093-EC71-4AD0-9382-B49BCD6FF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can be deferred? What must happen immediately? What must happen first?</a:t>
            </a:r>
          </a:p>
          <a:p>
            <a:r>
              <a:rPr lang="en-US" dirty="0"/>
              <a:t>Sequence diagrams can be annotated with</a:t>
            </a:r>
          </a:p>
          <a:p>
            <a:pPr lvl="1"/>
            <a:r>
              <a:rPr lang="en-US" dirty="0"/>
              <a:t>Duration constraints (must happen within 50 </a:t>
            </a:r>
            <a:r>
              <a:rPr lang="en-US" dirty="0" err="1"/>
              <a:t>ms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Time observation (marking when an event occurs)</a:t>
            </a:r>
          </a:p>
          <a:p>
            <a:pPr lvl="1"/>
            <a:r>
              <a:rPr lang="en-US" dirty="0"/>
              <a:t>Inter-arrival time (gap between messages)</a:t>
            </a:r>
          </a:p>
          <a:p>
            <a:pPr lvl="1"/>
            <a:r>
              <a:rPr lang="en-US" dirty="0"/>
              <a:t>Nature of event (periodic, must occur immediately etc.)</a:t>
            </a:r>
          </a:p>
          <a:p>
            <a:r>
              <a:rPr lang="en-US" dirty="0"/>
              <a:t>Builds timing intuition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A817F-C909-42EB-A745-C8528E6D6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48AA71-AD1D-44FB-A0A9-A4527D2D8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4077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1E073-5370-4F7A-96BC-6B83F4AEB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E74AD9F-D6BF-4E77-B3C6-99C58BC7D9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" y="1447800"/>
            <a:ext cx="7924800" cy="486746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49328C-82FE-4728-AC89-8432DBB84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0F73DC-DD8D-4D54-AE8A-E27157EF8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734233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88C6A-8071-4699-8B06-F4EC75A3F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pitfalls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D3C85-5FBE-4E3D-B6A9-5EA454B5D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Over-modeling: Trying to show every single function call</a:t>
            </a:r>
          </a:p>
          <a:p>
            <a:pPr lvl="1"/>
            <a:r>
              <a:rPr lang="en-US" dirty="0"/>
              <a:t>Only model interactions that cross a boundary (between tasks, between HW and SW etc.)</a:t>
            </a:r>
          </a:p>
          <a:p>
            <a:r>
              <a:rPr lang="en-US" dirty="0"/>
              <a:t>Ignoring return: forgetting the dashed return arrows that show how one cleans up and returns after handling an event</a:t>
            </a:r>
          </a:p>
          <a:p>
            <a:r>
              <a:rPr lang="en-US" dirty="0"/>
              <a:t>Clock drift: Assuming asynchronous messages arrive at a particular time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98F6A5-3AE4-4425-86B2-DFB5611C5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EAC4AE-EBEA-40C7-B222-4EAB404CD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2039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477F5-B273-46BB-B608-A3E7AE401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Infusion pump example: what sequence diagrams to include?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EDEE0-1FFD-4ADC-A279-7D6340D225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spcBef>
                <a:spcPts val="1000"/>
              </a:spcBef>
              <a:buAutoNum type="arabicPeriod"/>
            </a:pPr>
            <a:r>
              <a:rPr lang="en-US" dirty="0"/>
              <a:t>System startup and initialization</a:t>
            </a:r>
          </a:p>
          <a:p>
            <a:pPr marL="914400" lvl="1" indent="-514350">
              <a:spcBef>
                <a:spcPts val="1000"/>
              </a:spcBef>
              <a:buAutoNum type="arabicPeriod"/>
            </a:pPr>
            <a:r>
              <a:rPr lang="en-US" dirty="0"/>
              <a:t>Reset </a:t>
            </a:r>
            <a:r>
              <a:rPr lang="en-US" dirty="0">
                <a:sym typeface="Wingdings" panose="05000000000000000000" pitchFamily="2" charset="2"/>
              </a:rPr>
              <a:t> boot  initialization</a:t>
            </a:r>
          </a:p>
          <a:p>
            <a:pPr marL="914400" lvl="1" indent="-514350">
              <a:spcBef>
                <a:spcPts val="1000"/>
              </a:spcBef>
              <a:buAutoNum type="arabicPeriod"/>
            </a:pPr>
            <a:r>
              <a:rPr lang="en-US" dirty="0">
                <a:sym typeface="Wingdings" panose="05000000000000000000" pitchFamily="2" charset="2"/>
              </a:rPr>
              <a:t>When does logging, monitoring start?</a:t>
            </a:r>
            <a:endParaRPr lang="en-US" dirty="0"/>
          </a:p>
          <a:p>
            <a:pPr marL="514350" indent="-514350">
              <a:spcBef>
                <a:spcPts val="1000"/>
              </a:spcBef>
              <a:buAutoNum type="arabicPeriod"/>
            </a:pPr>
            <a:r>
              <a:rPr lang="en-US" dirty="0"/>
              <a:t>Normal infusion control loop</a:t>
            </a:r>
          </a:p>
          <a:p>
            <a:pPr marL="914400" lvl="1" indent="-514350">
              <a:spcBef>
                <a:spcPts val="1000"/>
              </a:spcBef>
              <a:buAutoNum type="arabicPeriod"/>
            </a:pPr>
            <a:r>
              <a:rPr lang="en-US" dirty="0"/>
              <a:t>Periodic flow regulation</a:t>
            </a:r>
          </a:p>
          <a:p>
            <a:pPr marL="914400" lvl="1" indent="-514350">
              <a:spcBef>
                <a:spcPts val="1000"/>
              </a:spcBef>
              <a:buAutoNum type="arabicPeriod"/>
            </a:pPr>
            <a:r>
              <a:rPr lang="en-US" dirty="0"/>
              <a:t>Interaction between timer, control logic and motor driver</a:t>
            </a:r>
          </a:p>
          <a:p>
            <a:pPr marL="514350" indent="-514350">
              <a:spcBef>
                <a:spcPts val="1000"/>
              </a:spcBef>
              <a:buAutoNum type="arabicPeriod"/>
            </a:pPr>
            <a:r>
              <a:rPr lang="en-US" dirty="0"/>
              <a:t>Safety critical event handling</a:t>
            </a:r>
          </a:p>
          <a:p>
            <a:pPr marL="514350" indent="-514350">
              <a:spcBef>
                <a:spcPts val="1000"/>
              </a:spcBef>
              <a:buAutoNum type="arabicPeriod"/>
            </a:pPr>
            <a:r>
              <a:rPr lang="en-US" dirty="0"/>
              <a:t>Error recovery or fault handling</a:t>
            </a:r>
          </a:p>
          <a:p>
            <a:pPr marL="514350" indent="-514350">
              <a:spcBef>
                <a:spcPts val="1000"/>
              </a:spcBef>
              <a:buAutoNum type="arabicPeriod"/>
            </a:pPr>
            <a:r>
              <a:rPr lang="en-US" dirty="0"/>
              <a:t>Logging and communication</a:t>
            </a:r>
          </a:p>
          <a:p>
            <a:pPr marL="914400" lvl="1" indent="-514350">
              <a:spcBef>
                <a:spcPts val="1000"/>
              </a:spcBef>
              <a:buAutoNum type="arabicPeriod"/>
            </a:pPr>
            <a:r>
              <a:rPr lang="en-US" dirty="0"/>
              <a:t>Interaction with normal operation and error states</a:t>
            </a:r>
          </a:p>
          <a:p>
            <a:pPr>
              <a:spcBef>
                <a:spcPts val="1000"/>
              </a:spcBef>
            </a:pPr>
            <a:r>
              <a:rPr lang="en-US" dirty="0"/>
              <a:t>Rule of 3: at least 3 lifelines are involved to show complex interactions</a:t>
            </a:r>
          </a:p>
          <a:p>
            <a:pPr>
              <a:spcBef>
                <a:spcPts val="1000"/>
              </a:spcBef>
            </a:pPr>
            <a:r>
              <a:rPr lang="en-US" dirty="0"/>
              <a:t>Time critical (sequence showing hard deadlines)</a:t>
            </a:r>
          </a:p>
          <a:p>
            <a:pPr>
              <a:spcBef>
                <a:spcPts val="1000"/>
              </a:spcBef>
            </a:pPr>
            <a:r>
              <a:rPr lang="en-US" dirty="0"/>
              <a:t>Black box (interactions involving external actors that you cannot control)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838F3-D0CA-4065-AC42-37F29B1A3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652036-AA83-438C-8E6F-E88B393B8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44546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13086</TotalTime>
  <Words>2416</Words>
  <Application>Microsoft Office PowerPoint</Application>
  <PresentationFormat>On-screen Show (4:3)</PresentationFormat>
  <Paragraphs>394</Paragraphs>
  <Slides>44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Software for Embedded Systems</vt:lpstr>
      <vt:lpstr>Modeling embedded systems – UML</vt:lpstr>
      <vt:lpstr>What does it mean to ‘model’ a system?</vt:lpstr>
      <vt:lpstr>What is a model?</vt:lpstr>
      <vt:lpstr>Why model embedded systems?</vt:lpstr>
      <vt:lpstr>Without models</vt:lpstr>
      <vt:lpstr>The Unified Modeling Language (UML)</vt:lpstr>
      <vt:lpstr>System context: The first modeling question</vt:lpstr>
      <vt:lpstr>System boundary: Infusion pump example</vt:lpstr>
      <vt:lpstr>Actors – who or what interacts with the system?</vt:lpstr>
      <vt:lpstr>External interfaces</vt:lpstr>
      <vt:lpstr>Use Cases: meaningful interactions between actors and system</vt:lpstr>
      <vt:lpstr>Use cases – infusion pump example</vt:lpstr>
      <vt:lpstr>Use cases and requirements in the V-Model</vt:lpstr>
      <vt:lpstr>Summary</vt:lpstr>
      <vt:lpstr>Behavioral modeling with UML statecharts</vt:lpstr>
      <vt:lpstr>States, events and transitions</vt:lpstr>
      <vt:lpstr>States and events in the infusion pump</vt:lpstr>
      <vt:lpstr>Actions – Entry, Exit and Do</vt:lpstr>
      <vt:lpstr>Example state chart for the infusion pump</vt:lpstr>
      <vt:lpstr>The good and the bad state chart</vt:lpstr>
      <vt:lpstr>The good and the bad state chart</vt:lpstr>
      <vt:lpstr>What is wrong with the second example?</vt:lpstr>
      <vt:lpstr>Hierarchical states</vt:lpstr>
      <vt:lpstr>The hierarchical infusion pump statechart</vt:lpstr>
      <vt:lpstr>Concurrent / parallel / orthogonal states</vt:lpstr>
      <vt:lpstr>Infusing and logging in the infusion pump</vt:lpstr>
      <vt:lpstr>Errors and fault states</vt:lpstr>
      <vt:lpstr>Infusion pump safe state, fault state and recovery</vt:lpstr>
      <vt:lpstr>Infusion pump statechart</vt:lpstr>
      <vt:lpstr>Interaction modeling and timing awareness</vt:lpstr>
      <vt:lpstr>Handling occlusion in the infusion pump</vt:lpstr>
      <vt:lpstr>What more details do we need?</vt:lpstr>
      <vt:lpstr>How does the occlusion event actually propagate in the system?</vt:lpstr>
      <vt:lpstr>How can this be fixed?</vt:lpstr>
      <vt:lpstr>Sequence diagrams</vt:lpstr>
      <vt:lpstr>Synchronous vs asynchronous interactions</vt:lpstr>
      <vt:lpstr>Sync vs async</vt:lpstr>
      <vt:lpstr>Event queues and message passing</vt:lpstr>
      <vt:lpstr>Infusion pump example</vt:lpstr>
      <vt:lpstr>Time annotations</vt:lpstr>
      <vt:lpstr>Example</vt:lpstr>
      <vt:lpstr>Common pitfalls</vt:lpstr>
      <vt:lpstr>Infusion pump example: what sequence diagrams to include?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668</cp:revision>
  <dcterms:created xsi:type="dcterms:W3CDTF">2010-01-15T20:22:21Z</dcterms:created>
  <dcterms:modified xsi:type="dcterms:W3CDTF">2026-01-29T06:21:02Z</dcterms:modified>
</cp:coreProperties>
</file>