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337" r:id="rId2"/>
    <p:sldId id="430" r:id="rId3"/>
    <p:sldId id="431" r:id="rId4"/>
    <p:sldId id="428" r:id="rId5"/>
    <p:sldId id="433" r:id="rId6"/>
    <p:sldId id="432" r:id="rId7"/>
    <p:sldId id="434" r:id="rId8"/>
    <p:sldId id="435" r:id="rId9"/>
    <p:sldId id="436" r:id="rId10"/>
    <p:sldId id="437" r:id="rId11"/>
    <p:sldId id="438" r:id="rId12"/>
    <p:sldId id="439" r:id="rId13"/>
    <p:sldId id="440" r:id="rId14"/>
    <p:sldId id="441" r:id="rId15"/>
    <p:sldId id="442" r:id="rId16"/>
    <p:sldId id="443" r:id="rId17"/>
    <p:sldId id="444" r:id="rId18"/>
    <p:sldId id="445" r:id="rId1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1/22/2026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DEF66-B977-47D5-9EC9-E1C2E199A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5D78C-6F1E-4D89-A931-756CDFF40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Hardware events capture CPU attention</a:t>
            </a:r>
          </a:p>
          <a:p>
            <a:r>
              <a:rPr lang="en-US" dirty="0"/>
              <a:t>Normal execution is temporarily suspended</a:t>
            </a:r>
          </a:p>
          <a:p>
            <a:r>
              <a:rPr lang="en-US" dirty="0"/>
              <a:t>A function (“handler”) is called to handle the event</a:t>
            </a:r>
          </a:p>
          <a:p>
            <a:r>
              <a:rPr lang="en-US" dirty="0"/>
              <a:t>Normal execution resumes after event is handled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Hardware decides when the software reacts</a:t>
            </a:r>
          </a:p>
          <a:p>
            <a:pPr marL="0" indent="0">
              <a:buNone/>
            </a:pPr>
            <a:endParaRPr lang="en-US" dirty="0">
              <a:solidFill>
                <a:srgbClr val="72C3E8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More responsive!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D5E8-DCB5-4BB5-B6FC-DAA92D5FD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8C07F-89D1-42D8-913D-93835D610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013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4ABCF-3BA7-4FF6-9E29-8B61A964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‘handle an event’?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44854-F0DB-4322-85B5-C5EEA0261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r>
              <a:rPr lang="en-US" dirty="0"/>
              <a:t>A keyboard key press</a:t>
            </a:r>
          </a:p>
          <a:p>
            <a:r>
              <a:rPr lang="en-US" dirty="0"/>
              <a:t>New temperature measurement available in a weather logger</a:t>
            </a:r>
          </a:p>
          <a:p>
            <a:r>
              <a:rPr lang="en-US" dirty="0"/>
              <a:t>New temperature measurement available in the infusion pump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Handling interrupts correctly is critical – do the bare minimal for survival (and design survival accordingly)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EAD4D-0830-4219-B373-857BA4CA4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866DA-7D76-434E-9F12-0D1B9652D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7315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3C47C-8BB4-402F-82B1-8B1E57E2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multiple interrupt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750F3-48CD-450A-A911-4B1A2B395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spcBef>
                <a:spcPts val="1000"/>
              </a:spcBef>
            </a:pPr>
            <a:r>
              <a:rPr lang="en-US" dirty="0"/>
              <a:t>What if an interrupt comes while handling another interrupt?</a:t>
            </a:r>
          </a:p>
          <a:p>
            <a:pPr>
              <a:spcBef>
                <a:spcPts val="1000"/>
              </a:spcBef>
            </a:pPr>
            <a:r>
              <a:rPr lang="en-US" dirty="0"/>
              <a:t>Infusion pump: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temperature sensor interrupt comes while handling user input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User input interrupt comes while handling temperature sensor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Temperature sensor vs bubble sensor</a:t>
            </a:r>
          </a:p>
          <a:p>
            <a:pPr>
              <a:spcBef>
                <a:spcPts val="1000"/>
              </a:spcBef>
            </a:pPr>
            <a:r>
              <a:rPr lang="en-US" dirty="0"/>
              <a:t>Disabling interrupts</a:t>
            </a:r>
          </a:p>
          <a:p>
            <a:pPr>
              <a:spcBef>
                <a:spcPts val="1000"/>
              </a:spcBef>
            </a:pPr>
            <a:r>
              <a:rPr lang="en-US" dirty="0"/>
              <a:t>Priorities</a:t>
            </a:r>
          </a:p>
          <a:p>
            <a:pPr>
              <a:spcBef>
                <a:spcPts val="1000"/>
              </a:spcBef>
            </a:pPr>
            <a:r>
              <a:rPr lang="en-US" dirty="0"/>
              <a:t>Hybrid model: poll slowly changing signals, and use interrupts for critical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1BA9A-9A8C-4F45-9D66-4B2847D7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8EDC8-D45D-4E2D-851A-47B80AAE2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965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FCB81-58BE-4258-BDB8-7984E836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embedded systems – UML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B8964-25B2-4177-A739-0A74DC65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C1766-6BA7-4783-8899-9EB65499D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2ED3F4-5C84-4CA9-95C1-139775BC2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What do we mean by ‘modeling’ an ES?</a:t>
            </a:r>
          </a:p>
          <a:p>
            <a:r>
              <a:rPr lang="en-US" dirty="0"/>
              <a:t>What is UML (Unified Modeling Language)?</a:t>
            </a:r>
          </a:p>
          <a:p>
            <a:r>
              <a:rPr lang="en-US" dirty="0"/>
              <a:t>Why UML for embedded systems?</a:t>
            </a:r>
          </a:p>
          <a:p>
            <a:r>
              <a:rPr lang="en-US" dirty="0"/>
              <a:t>System context, boundaries and use cases</a:t>
            </a:r>
          </a:p>
        </p:txBody>
      </p:sp>
    </p:spTree>
    <p:extLst>
      <p:ext uri="{BB962C8B-B14F-4D97-AF65-F5344CB8AC3E}">
        <p14:creationId xmlns:p14="http://schemas.microsoft.com/office/powerpoint/2010/main" val="2128280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AD367-BA69-448D-A576-2A9F0151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‘model’ a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622A1-A33B-4788-BA95-8E0954D2D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72C3E8"/>
                </a:solidFill>
              </a:rPr>
              <a:t>Models are an abstraction of reality</a:t>
            </a:r>
          </a:p>
          <a:p>
            <a:r>
              <a:rPr lang="en-US" sz="2400" dirty="0"/>
              <a:t>Partial, imperfect descriptions</a:t>
            </a:r>
          </a:p>
          <a:p>
            <a:r>
              <a:rPr lang="en-US" sz="2400" dirty="0"/>
              <a:t>What is the use of partial and</a:t>
            </a:r>
            <a:br>
              <a:rPr lang="en-US" sz="2400" dirty="0"/>
            </a:br>
            <a:r>
              <a:rPr lang="en-US" sz="2400" dirty="0"/>
              <a:t>imperfect descriptions?</a:t>
            </a:r>
          </a:p>
          <a:p>
            <a:endParaRPr lang="en-US" sz="2400" dirty="0"/>
          </a:p>
          <a:p>
            <a:r>
              <a:rPr lang="en-US" sz="2400" dirty="0"/>
              <a:t>Model of the Delhi metro</a:t>
            </a:r>
          </a:p>
          <a:p>
            <a:r>
              <a:rPr lang="en-US" sz="2400" dirty="0"/>
              <a:t>Which of these is most useful?</a:t>
            </a:r>
          </a:p>
          <a:p>
            <a:r>
              <a:rPr lang="en-US" sz="2400" dirty="0"/>
              <a:t>Which is most accurate?</a:t>
            </a:r>
          </a:p>
          <a:p>
            <a:r>
              <a:rPr lang="en-US" sz="2400" dirty="0">
                <a:solidFill>
                  <a:srgbClr val="EA3F26"/>
                </a:solidFill>
              </a:rPr>
              <a:t>Use dependent utility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6D0E5-23C5-4654-97EE-16874058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7BEAD-2508-4804-9493-0D06D9753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E1917E-D986-4705-976F-4A78004EF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0450" y="1387225"/>
            <a:ext cx="3961150" cy="1892304"/>
          </a:xfrm>
          <a:prstGeom prst="rect">
            <a:avLst/>
          </a:prstGeom>
        </p:spPr>
      </p:pic>
      <p:pic>
        <p:nvPicPr>
          <p:cNvPr id="7" name="Picture 2" descr="CITY MAP OF DELHI (HINDI) SIZE 45 X 57 CMS">
            <a:extLst>
              <a:ext uri="{FF2B5EF4-FFF2-40B4-BE49-F238E27FC236}">
                <a16:creationId xmlns:a16="http://schemas.microsoft.com/office/drawing/2014/main" id="{D681A0F8-1D91-4309-9AEE-28738E3B8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8975" y="4484536"/>
            <a:ext cx="1976587" cy="1976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igh resolution Satellite image of New Delhi, India (Isolated imagery of  India. Elements of this image furnished by NASA) Stock Photo | Adobe Stock">
            <a:extLst>
              <a:ext uri="{FF2B5EF4-FFF2-40B4-BE49-F238E27FC236}">
                <a16:creationId xmlns:a16="http://schemas.microsoft.com/office/drawing/2014/main" id="{D5936E56-22A4-424F-921A-D0292449A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1087" y="5292961"/>
            <a:ext cx="1882282" cy="1155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Maps of Delhi ::">
            <a:extLst>
              <a:ext uri="{FF2B5EF4-FFF2-40B4-BE49-F238E27FC236}">
                <a16:creationId xmlns:a16="http://schemas.microsoft.com/office/drawing/2014/main" id="{7BA22BFA-85A4-46CA-A580-A307DC7B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6630" y="3906084"/>
            <a:ext cx="1656289" cy="165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2EB72604-CC9A-4E29-91DD-1D8B32E5E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9057" y="4734229"/>
            <a:ext cx="2274943" cy="1726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09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7A8BF-18B9-4DFB-8665-596B6DE5A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798F1-DB77-40C9-8364-205BB569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72C3E8"/>
                </a:solidFill>
              </a:rPr>
              <a:t>A model is an </a:t>
            </a:r>
            <a:r>
              <a:rPr lang="en-US" sz="2400" b="1" dirty="0">
                <a:solidFill>
                  <a:srgbClr val="72C3E8"/>
                </a:solidFill>
              </a:rPr>
              <a:t>abstraction</a:t>
            </a:r>
            <a:r>
              <a:rPr lang="en-US" sz="2400" dirty="0">
                <a:solidFill>
                  <a:srgbClr val="72C3E8"/>
                </a:solidFill>
              </a:rPr>
              <a:t> of a physical system. It highlights the essential characteristics while hiding unnecessary implementation details.</a:t>
            </a:r>
          </a:p>
          <a:p>
            <a:r>
              <a:rPr lang="en-US" sz="2400" dirty="0"/>
              <a:t>The "Blueprint" Analogy:</a:t>
            </a:r>
          </a:p>
          <a:p>
            <a:pPr lvl="1"/>
            <a:r>
              <a:rPr lang="en-US" sz="2000" dirty="0"/>
              <a:t>You wouldn't build a skyscraper without a structural model</a:t>
            </a:r>
          </a:p>
          <a:p>
            <a:pPr lvl="1"/>
            <a:r>
              <a:rPr lang="en-US" sz="2000" dirty="0"/>
              <a:t>You shouldn't build a safety-critical embedded system without a behavioral model</a:t>
            </a:r>
          </a:p>
          <a:p>
            <a:pPr marL="0" indent="0">
              <a:buNone/>
            </a:pPr>
            <a:r>
              <a:rPr lang="en-US" sz="2400" dirty="0"/>
              <a:t>Multiple views of a model</a:t>
            </a:r>
          </a:p>
          <a:p>
            <a:r>
              <a:rPr lang="en-US" sz="2400" dirty="0"/>
              <a:t>Structural: what the system is made of</a:t>
            </a:r>
          </a:p>
          <a:p>
            <a:r>
              <a:rPr lang="en-US" sz="2400" dirty="0"/>
              <a:t>Behavioral: How the system reacts to stimuli</a:t>
            </a:r>
          </a:p>
          <a:p>
            <a:r>
              <a:rPr lang="en-US" sz="2400" dirty="0"/>
              <a:t>Environmental: How the system sits in the real world (what it senses, what it affects, who uses it etc.)</a:t>
            </a:r>
          </a:p>
          <a:p>
            <a:pPr marL="0" indent="0">
              <a:buNone/>
            </a:pPr>
            <a:r>
              <a:rPr lang="en-US" sz="2400" dirty="0"/>
              <a:t>Models help capture assumptions early 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7FF24-597E-41D4-B6F8-6E2F54368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B8043C-D855-4ED6-A500-AB032CA46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2971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FA7BC-18A8-4E1C-972F-6619AE461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model embedded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F7A8-749B-49AE-A3F4-AF9E01F7B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Complexity management: </a:t>
            </a:r>
            <a:r>
              <a:rPr lang="en-US" dirty="0"/>
              <a:t>Modern embedded systems (e.g., an Autonomous Driving module) have millions of lines of code. Humans cannot hold the entire logic in their heads at once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Early error detection: </a:t>
            </a:r>
            <a:r>
              <a:rPr lang="en-US" dirty="0"/>
              <a:t>Finding a logic flaw in a UML diagram costs cents; finding it during "Hardware-in-the-Loop" testing costs thousands; finding it after a product recall costs millions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Communication bridge </a:t>
            </a:r>
            <a:r>
              <a:rPr lang="en-US" dirty="0"/>
              <a:t>between H/W and S/W engineers; designers and stakeholders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Basis for simulation: </a:t>
            </a:r>
            <a:r>
              <a:rPr lang="en-US" dirty="0"/>
              <a:t>Models can be mathematically verified or simulated to prove certain claims (for example, related to safety)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40C0B-4AF1-475B-9FF8-1F82E3F4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D2070-C8F2-4B01-9850-D635A548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793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6D485-8F81-4C5B-87FA-3A6A5F5F8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Without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12B3A-2D20-4DCA-B4E5-AAC678B2E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/>
              <a:t>System boundaries drift (who handles a sensor fault? Not defined, and no one does it…)</a:t>
            </a:r>
          </a:p>
          <a:p>
            <a:pPr>
              <a:spcBef>
                <a:spcPts val="1000"/>
              </a:spcBef>
            </a:pPr>
            <a:r>
              <a:rPr lang="en-US" dirty="0"/>
              <a:t>Responsibilities are unclear (both the control task and interrupt try to stop a motor, causing race conditions)</a:t>
            </a:r>
          </a:p>
          <a:p>
            <a:pPr>
              <a:spcBef>
                <a:spcPts val="1000"/>
              </a:spcBef>
            </a:pPr>
            <a:r>
              <a:rPr lang="en-US" dirty="0"/>
              <a:t>Assumptions remain implicit (Siemens PLC example)</a:t>
            </a:r>
          </a:p>
          <a:p>
            <a:pPr>
              <a:spcBef>
                <a:spcPts val="1000"/>
              </a:spcBef>
            </a:pPr>
            <a:r>
              <a:rPr lang="en-US" dirty="0"/>
              <a:t>Interfaces are poorly defined (sensor driver reports raw values and control module assumes another unit)</a:t>
            </a:r>
          </a:p>
          <a:p>
            <a:pPr>
              <a:spcBef>
                <a:spcPts val="1000"/>
              </a:spcBef>
            </a:pPr>
            <a:r>
              <a:rPr lang="en-US" dirty="0"/>
              <a:t>Event handling is incomplete (over-temperature event is handled, but recovery is undefined)</a:t>
            </a:r>
          </a:p>
          <a:p>
            <a:pPr>
              <a:spcBef>
                <a:spcPts val="1000"/>
              </a:spcBef>
            </a:pPr>
            <a:r>
              <a:rPr lang="en-US" dirty="0"/>
              <a:t>Fault cases are forgotten (normal infusion works perfectly, but behavior after watchdog timer reset is never defined)</a:t>
            </a:r>
          </a:p>
          <a:p>
            <a:pPr>
              <a:spcBef>
                <a:spcPts val="1000"/>
              </a:spcBef>
            </a:pPr>
            <a:r>
              <a:rPr lang="en-US" dirty="0"/>
              <a:t>Verification becomes ad hoc</a:t>
            </a:r>
          </a:p>
          <a:p>
            <a:pPr>
              <a:spcBef>
                <a:spcPts val="1000"/>
              </a:spcBef>
            </a:pPr>
            <a:r>
              <a:rPr lang="en-US" dirty="0"/>
              <a:t>Changes break unrelated behavior (adding a new power mode disables alarms because wake-up assumptions were not modeled)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63390-1D1D-4C1D-B29F-BA5AA7FCA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EFFED4-8210-4DE1-ADFB-73279CD0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136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E4A1-351E-470B-A306-3AFEDDF89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Unified Modeling Language (UML)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75511-8628-4211-889E-1793EFE6D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standardized, graphical language for visualizing system architecture (structure, behavior and environment)</a:t>
            </a:r>
          </a:p>
          <a:p>
            <a:r>
              <a:rPr lang="en-US" dirty="0"/>
              <a:t>Specifically for embedded systems: </a:t>
            </a:r>
            <a:r>
              <a:rPr lang="en-US" dirty="0" err="1"/>
              <a:t>SysML</a:t>
            </a:r>
            <a:r>
              <a:rPr lang="en-US" dirty="0"/>
              <a:t> (a subset of UML that focuses on real-time constraints and hardware interfaces)</a:t>
            </a:r>
          </a:p>
          <a:p>
            <a:r>
              <a:rPr lang="en-US" dirty="0"/>
              <a:t>The three pillars of UML:</a:t>
            </a:r>
          </a:p>
          <a:p>
            <a:pPr lvl="1"/>
            <a:r>
              <a:rPr lang="en-US" dirty="0"/>
              <a:t>Things (players involved in the system)</a:t>
            </a:r>
          </a:p>
          <a:p>
            <a:pPr lvl="1"/>
            <a:r>
              <a:rPr lang="en-US" dirty="0"/>
              <a:t>Relationships (associations / dependencies between them)</a:t>
            </a:r>
          </a:p>
          <a:p>
            <a:pPr lvl="1"/>
            <a:r>
              <a:rPr lang="en-US" dirty="0"/>
              <a:t>Diagrams (snapshots of the model from different angles)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61B5D-168A-4619-BCAF-2A0037A9F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6E3DF5-E331-4E30-A7B7-34EBDB59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77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DE75-B864-429B-AE82-D5C79B2D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context: The first modeling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34EA-2761-4D6A-834B-467980A0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system, and what is not the system?</a:t>
            </a:r>
          </a:p>
          <a:p>
            <a:r>
              <a:rPr lang="en-US" dirty="0"/>
              <a:t>System boundary defines what is inside and what is outside your system</a:t>
            </a:r>
          </a:p>
          <a:p>
            <a:r>
              <a:rPr lang="en-US" dirty="0"/>
              <a:t>Whatever falls outside the boundary is an assumption</a:t>
            </a:r>
          </a:p>
          <a:p>
            <a:r>
              <a:rPr lang="en-US" dirty="0"/>
              <a:t>Whatever falls inside is a specification to be designed and verified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7076C-F4F2-482C-9D56-9D0B871C9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54BA9-ADAC-4C93-AA65-0D7BF3CE8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6111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1840C-D9A6-4015-9A91-B3D138CD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boundary: Infusion pump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8A31C-716A-430A-A747-995C5EA55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Nurse? Motor driver?</a:t>
            </a:r>
          </a:p>
          <a:p>
            <a:r>
              <a:rPr lang="en-US" dirty="0"/>
              <a:t>Stepper motor?</a:t>
            </a:r>
          </a:p>
          <a:p>
            <a:pPr lvl="1"/>
            <a:r>
              <a:rPr lang="en-US" dirty="0"/>
              <a:t>Why outside: software responsibility is to send pulses. If motor jams, not software responsibility</a:t>
            </a:r>
          </a:p>
          <a:p>
            <a:pPr lvl="1"/>
            <a:r>
              <a:rPr lang="en-US" dirty="0"/>
              <a:t>Why inside: They system’s purpose is not to calculate motor angle and send it; purpose is to deliver right amount of drug</a:t>
            </a:r>
          </a:p>
          <a:p>
            <a:r>
              <a:rPr lang="en-US" dirty="0"/>
              <a:t>No correct answer, but important to agree on an answer! Otherwise…</a:t>
            </a:r>
          </a:p>
          <a:p>
            <a:pPr lvl="1"/>
            <a:r>
              <a:rPr lang="en-US" dirty="0"/>
              <a:t>Control logic will assume motor is behaving as expected</a:t>
            </a:r>
          </a:p>
          <a:p>
            <a:pPr lvl="1"/>
            <a:r>
              <a:rPr lang="en-US" dirty="0"/>
              <a:t>Motor jams are not detected as faults</a:t>
            </a:r>
          </a:p>
          <a:p>
            <a:pPr lvl="1"/>
            <a:r>
              <a:rPr lang="en-US" dirty="0"/>
              <a:t>Software not designed to handle motor faults</a:t>
            </a:r>
          </a:p>
          <a:p>
            <a:r>
              <a:rPr lang="en-US" dirty="0"/>
              <a:t>What about the temperature sensor?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A175A-8FD2-4E58-A356-ED38110C9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C67E6E-A6F1-42AC-8675-5E6481AC2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923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FE43F-4899-446B-B96F-19059A769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Actors – who or what interacts with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36E59-7607-4159-B2DB-5F784EED2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Anything external that interacts with the system</a:t>
            </a:r>
          </a:p>
          <a:p>
            <a:pPr lvl="1"/>
            <a:r>
              <a:rPr lang="en-US" dirty="0"/>
              <a:t>Human users</a:t>
            </a:r>
          </a:p>
          <a:p>
            <a:pPr lvl="1"/>
            <a:r>
              <a:rPr lang="en-US" dirty="0"/>
              <a:t>External ‘hardware’ (sensors, objects etc.)</a:t>
            </a:r>
          </a:p>
          <a:p>
            <a:pPr lvl="2"/>
            <a:r>
              <a:rPr lang="en-US" dirty="0"/>
              <a:t>…air bubble?</a:t>
            </a:r>
          </a:p>
          <a:p>
            <a:pPr lvl="1"/>
            <a:r>
              <a:rPr lang="en-US" dirty="0"/>
              <a:t>External systems (cloud server)</a:t>
            </a:r>
          </a:p>
          <a:p>
            <a:r>
              <a:rPr lang="en-US" dirty="0"/>
              <a:t>Actors are determined by the system boundary (for example if sensors are inside the system, they are not actors)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E4645-E4C3-445E-A097-DB3ECCAC4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43EAB-C672-4FBB-AD78-1E6DB3D7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531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32E56-C61C-4238-81E5-B70EC71E9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E9A82-DEBF-4222-8D02-A08C50419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048170"/>
          </a:xfrm>
        </p:spPr>
        <p:txBody>
          <a:bodyPr>
            <a:normAutofit fontScale="77500" lnSpcReduction="20000"/>
          </a:bodyPr>
          <a:lstStyle/>
          <a:p>
            <a:r>
              <a:rPr lang="en-US" sz="2800" dirty="0"/>
              <a:t>How actors influence the system</a:t>
            </a:r>
          </a:p>
          <a:p>
            <a:r>
              <a:rPr lang="en-US" sz="2800" dirty="0"/>
              <a:t>Physical interfaces: GPIO pins, communication protocols (SPI, I2C, UART etc.)</a:t>
            </a:r>
          </a:p>
          <a:p>
            <a:r>
              <a:rPr lang="en-US" sz="2800" dirty="0"/>
              <a:t>Logical interfaces: APIs, protocols (MQTT, HTTP)</a:t>
            </a:r>
          </a:p>
          <a:p>
            <a:r>
              <a:rPr lang="en-US" sz="2800" dirty="0"/>
              <a:t>The context diagram: high level view showing the system at the center and all actors connected via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F91D-BBE7-43E2-88C2-69DBF9C93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05D24-B24D-4D1B-90E7-D8D6CDB6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4459CC-A455-4005-955F-9C41B6374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3352800"/>
            <a:ext cx="5715000" cy="311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231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15694-7C92-4B0C-B7CD-ADB871F5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Use Cases: meaningful interactions between actors and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F1C4-AB10-45C5-9032-07D9A7EF6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Use case describes a goal-oriented interaction between an actor and the system</a:t>
            </a:r>
          </a:p>
          <a:p>
            <a:r>
              <a:rPr lang="en-US" sz="2400" dirty="0"/>
              <a:t>Describe behavior, not interface design!</a:t>
            </a:r>
          </a:p>
          <a:p>
            <a:r>
              <a:rPr lang="en-US" sz="2400" dirty="0"/>
              <a:t>Behavioral contract: what the system must do in response to a stimulus (not about how it does it)</a:t>
            </a:r>
          </a:p>
          <a:p>
            <a:r>
              <a:rPr lang="en-US" sz="2400" dirty="0"/>
              <a:t>Example:</a:t>
            </a:r>
          </a:p>
          <a:p>
            <a:pPr lvl="1"/>
            <a:r>
              <a:rPr lang="en-US" sz="2000" dirty="0"/>
              <a:t>User clicks ‘stop’ and screen turns red (WRONG)</a:t>
            </a:r>
          </a:p>
          <a:p>
            <a:pPr lvl="1"/>
            <a:r>
              <a:rPr lang="en-US" sz="2000" dirty="0"/>
              <a:t>System shall transition to a safe state within 10 </a:t>
            </a:r>
            <a:r>
              <a:rPr lang="en-US" sz="2000" dirty="0" err="1"/>
              <a:t>ms</a:t>
            </a:r>
            <a:r>
              <a:rPr lang="en-US" sz="2000" dirty="0"/>
              <a:t> of receiving the ‘stop’ signal from user (CORRECT)</a:t>
            </a:r>
          </a:p>
          <a:p>
            <a:r>
              <a:rPr lang="en-US" sz="2400" dirty="0"/>
              <a:t>Use case defines</a:t>
            </a:r>
          </a:p>
          <a:p>
            <a:pPr lvl="1"/>
            <a:r>
              <a:rPr lang="en-US" sz="2000" dirty="0"/>
              <a:t>Actor</a:t>
            </a:r>
          </a:p>
          <a:p>
            <a:pPr lvl="1"/>
            <a:r>
              <a:rPr lang="en-US" sz="2000" dirty="0"/>
              <a:t>Trigger</a:t>
            </a:r>
          </a:p>
          <a:p>
            <a:pPr lvl="1"/>
            <a:r>
              <a:rPr lang="en-US" sz="2000" dirty="0"/>
              <a:t>Main success scenario</a:t>
            </a:r>
          </a:p>
          <a:p>
            <a:pPr lvl="1"/>
            <a:r>
              <a:rPr lang="en-US" sz="2000" dirty="0"/>
              <a:t>Alternatives / exception scenarios (fault recovery behavior)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AF753-48F2-4506-8653-A559108E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115F4D-F730-417A-ABE9-16B0D4E46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769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BD817-D0DA-4241-AAA8-6FBD8BF98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– infusion pump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6E7A9-6AB2-4FE6-9527-A8A944386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Example use case: deliver drug at programmed infusion rate safely</a:t>
            </a:r>
          </a:p>
          <a:p>
            <a:r>
              <a:rPr lang="en-US" dirty="0"/>
              <a:t>Who are the actors for this use case?</a:t>
            </a:r>
          </a:p>
          <a:p>
            <a:pPr lvl="1"/>
            <a:r>
              <a:rPr lang="en-US" dirty="0"/>
              <a:t>Nurse (primary), power source, sensors, motor…</a:t>
            </a:r>
          </a:p>
          <a:p>
            <a:r>
              <a:rPr lang="en-US" dirty="0"/>
              <a:t>What is the trigger?</a:t>
            </a:r>
          </a:p>
          <a:p>
            <a:pPr lvl="1"/>
            <a:r>
              <a:rPr lang="en-US" dirty="0"/>
              <a:t>Nurse programs an infusion rate and starts infusion</a:t>
            </a:r>
          </a:p>
          <a:p>
            <a:r>
              <a:rPr lang="en-US" dirty="0"/>
              <a:t>Main success scenario:</a:t>
            </a:r>
          </a:p>
          <a:p>
            <a:pPr lvl="1"/>
            <a:r>
              <a:rPr lang="en-US" dirty="0"/>
              <a:t>System accepts programmed infusion rate</a:t>
            </a:r>
          </a:p>
          <a:p>
            <a:pPr lvl="1"/>
            <a:r>
              <a:rPr lang="en-US" dirty="0"/>
              <a:t>System starts pump motor</a:t>
            </a:r>
          </a:p>
          <a:p>
            <a:pPr lvl="1"/>
            <a:r>
              <a:rPr lang="en-US" dirty="0"/>
              <a:t>System continuously regulates flow</a:t>
            </a:r>
          </a:p>
          <a:p>
            <a:pPr lvl="1"/>
            <a:r>
              <a:rPr lang="en-US" dirty="0"/>
              <a:t>System monitors safety during infusion (detects occlusions or over-temperature)</a:t>
            </a:r>
          </a:p>
          <a:p>
            <a:pPr lvl="1"/>
            <a:r>
              <a:rPr lang="en-US" dirty="0"/>
              <a:t>System completes infusion and stops motor</a:t>
            </a:r>
          </a:p>
          <a:p>
            <a:r>
              <a:rPr lang="en-US" dirty="0"/>
              <a:t>Alternate scenarios:</a:t>
            </a:r>
          </a:p>
          <a:p>
            <a:pPr lvl="1"/>
            <a:r>
              <a:rPr lang="en-US" dirty="0"/>
              <a:t>Over temperature detected: system stops motor and raises alarm</a:t>
            </a:r>
          </a:p>
          <a:p>
            <a:pPr lvl="1"/>
            <a:r>
              <a:rPr lang="en-US" dirty="0"/>
              <a:t>Occlusion detected…</a:t>
            </a:r>
          </a:p>
          <a:p>
            <a:pPr lvl="1"/>
            <a:r>
              <a:rPr lang="en-US" dirty="0"/>
              <a:t>Sensor failure detected…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9695B-6EC6-44E6-8990-94D49D9F5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6C2874-9B60-44A9-9968-AB0A3041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83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443-9954-471D-90E5-747A3307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and requirements in the V-Model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A0491-4912-4BE9-B172-543E8A496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use case </a:t>
            </a:r>
            <a:r>
              <a:rPr lang="en-US" dirty="0">
                <a:sym typeface="Wingdings" panose="05000000000000000000" pitchFamily="2" charset="2"/>
              </a:rPr>
              <a:t> many requirements</a:t>
            </a:r>
          </a:p>
          <a:p>
            <a:r>
              <a:rPr lang="en-US" dirty="0">
                <a:sym typeface="Wingdings" panose="05000000000000000000" pitchFamily="2" charset="2"/>
              </a:rPr>
              <a:t>One requirement  supports multiple use cases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Sit near top-left of V-Model</a:t>
            </a:r>
          </a:p>
          <a:p>
            <a:r>
              <a:rPr lang="en-US" dirty="0">
                <a:sym typeface="Wingdings" panose="05000000000000000000" pitchFamily="2" charset="2"/>
              </a:rPr>
              <a:t>Help define system tests and acceptance criteria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5C494-1B81-42B6-9FD7-3CA30FCFA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4C8A1-9AEF-40D7-8983-75FDC8B9E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514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D1C61-943E-4D13-9906-A7E392BE3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B8491-8A2A-485B-A9D9-70923EFDD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UML is a reasoning language</a:t>
            </a:r>
          </a:p>
          <a:p>
            <a:r>
              <a:rPr lang="en-US" dirty="0"/>
              <a:t>System boundaries define responsibility</a:t>
            </a:r>
          </a:p>
          <a:p>
            <a:r>
              <a:rPr lang="en-US" dirty="0"/>
              <a:t>Actors are external to the system</a:t>
            </a:r>
          </a:p>
          <a:p>
            <a:r>
              <a:rPr lang="en-US" dirty="0"/>
              <a:t>Use cases describe behavioral contracts, not UI flows</a:t>
            </a:r>
          </a:p>
          <a:p>
            <a:r>
              <a:rPr lang="en-US" dirty="0"/>
              <a:t>Correct context modeling prevents downstream errors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88A52-ACEB-4226-9A52-DD86E809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80EB1-A74B-43ED-A72B-7E1113FC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5560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12812</TotalTime>
  <Words>1223</Words>
  <Application>Microsoft Office PowerPoint</Application>
  <PresentationFormat>On-screen Show (4:3)</PresentationFormat>
  <Paragraphs>174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Software for Embedded Systems</vt:lpstr>
      <vt:lpstr>Interrupts</vt:lpstr>
      <vt:lpstr>What does it mean to ‘handle an event’?</vt:lpstr>
      <vt:lpstr>Handling multiple interrupt sources</vt:lpstr>
      <vt:lpstr>Modeling embedded systems – UML</vt:lpstr>
      <vt:lpstr>What does it mean to ‘model’ a system?</vt:lpstr>
      <vt:lpstr>What is a model?</vt:lpstr>
      <vt:lpstr>Why model embedded systems?</vt:lpstr>
      <vt:lpstr>Without models</vt:lpstr>
      <vt:lpstr>The Unified Modeling Language (UML)</vt:lpstr>
      <vt:lpstr>System context: The first modeling question</vt:lpstr>
      <vt:lpstr>System boundary: Infusion pump example</vt:lpstr>
      <vt:lpstr>Actors – who or what interacts with the system?</vt:lpstr>
      <vt:lpstr>External interfaces</vt:lpstr>
      <vt:lpstr>Use Cases: meaningful interactions between actors and system</vt:lpstr>
      <vt:lpstr>Use cases – infusion pump example</vt:lpstr>
      <vt:lpstr>Use cases and requirements in the V-Model</vt:lpstr>
      <vt:lpstr>Summary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643</cp:revision>
  <dcterms:created xsi:type="dcterms:W3CDTF">2010-01-15T20:22:21Z</dcterms:created>
  <dcterms:modified xsi:type="dcterms:W3CDTF">2026-01-22T06:18:07Z</dcterms:modified>
</cp:coreProperties>
</file>