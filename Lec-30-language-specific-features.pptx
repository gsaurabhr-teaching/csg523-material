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337" r:id="rId2"/>
    <p:sldId id="338" r:id="rId3"/>
    <p:sldId id="339" r:id="rId4"/>
    <p:sldId id="340" r:id="rId5"/>
    <p:sldId id="341" r:id="rId6"/>
    <p:sldId id="342" r:id="rId7"/>
    <p:sldId id="343" r:id="rId8"/>
    <p:sldId id="344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3E8"/>
    <a:srgbClr val="EA3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108" d="100"/>
          <a:sy n="108" d="100"/>
        </p:scale>
        <p:origin x="52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FFC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Software for Embedded Systems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F1A8D-CC94-D6CA-2A9B-457BB1C2B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optimization</a:t>
            </a:r>
            <a:endParaRPr lang="en-IN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37785B2A-5BB0-426E-7CDA-066672B21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1446211"/>
            <a:ext cx="3810000" cy="5014912"/>
          </a:xfrm>
        </p:spPr>
        <p:txBody>
          <a:bodyPr/>
          <a:lstStyle/>
          <a:p>
            <a:r>
              <a:rPr lang="en-US" sz="2000" dirty="0"/>
              <a:t>Compiler preserves semantics, not step-by-step execution</a:t>
            </a:r>
          </a:p>
          <a:p>
            <a:r>
              <a:rPr lang="en-US" sz="2000" dirty="0"/>
              <a:t>Compiler assumes</a:t>
            </a:r>
          </a:p>
          <a:p>
            <a:pPr lvl="1"/>
            <a:r>
              <a:rPr lang="en-US" sz="1600" dirty="0"/>
              <a:t>No hidden side effects</a:t>
            </a:r>
          </a:p>
          <a:p>
            <a:pPr lvl="1"/>
            <a:r>
              <a:rPr lang="en-US" sz="1600" dirty="0"/>
              <a:t>Variables do not change unless code says so</a:t>
            </a:r>
            <a:endParaRPr lang="en-IN" sz="1600" dirty="0"/>
          </a:p>
          <a:p>
            <a:endParaRPr lang="en-IN" sz="2000" dirty="0"/>
          </a:p>
          <a:p>
            <a:pPr marL="0" indent="0">
              <a:buNone/>
            </a:pPr>
            <a:r>
              <a:rPr lang="en-IN" sz="2000" dirty="0"/>
              <a:t>But in embedded systems</a:t>
            </a:r>
          </a:p>
          <a:p>
            <a:r>
              <a:rPr lang="en-IN" sz="2000" dirty="0"/>
              <a:t>Hardware changes memory</a:t>
            </a:r>
          </a:p>
          <a:p>
            <a:r>
              <a:rPr lang="en-IN" sz="2000" dirty="0"/>
              <a:t>ISRs modify variables</a:t>
            </a:r>
          </a:p>
          <a:p>
            <a:endParaRPr lang="en-IN" sz="2000" dirty="0"/>
          </a:p>
          <a:p>
            <a:r>
              <a:rPr lang="en-IN" sz="2000" dirty="0"/>
              <a:t>How do we tell the compiler when to optimize and when to leave code as it is?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70490-F4BA-F0F1-4643-C21E8BB4D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33568B-326D-49C8-0542-6CC16229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B8B581-89EB-4E3F-C491-0491FD4A6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47800"/>
            <a:ext cx="1378933" cy="19050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FEA9AF26-E5ED-6F70-CE16-71E08C618A88}"/>
              </a:ext>
            </a:extLst>
          </p:cNvPr>
          <p:cNvGrpSpPr/>
          <p:nvPr/>
        </p:nvGrpSpPr>
        <p:grpSpPr>
          <a:xfrm>
            <a:off x="267458" y="3570474"/>
            <a:ext cx="1509966" cy="2646290"/>
            <a:chOff x="267458" y="3570474"/>
            <a:chExt cx="1509966" cy="264629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C264126-8C21-B215-DC21-9E984C309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4091" y="3570474"/>
              <a:ext cx="1095549" cy="2274728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700D69D-E517-187D-C059-A88E98519693}"/>
                </a:ext>
              </a:extLst>
            </p:cNvPr>
            <p:cNvSpPr txBox="1"/>
            <p:nvPr/>
          </p:nvSpPr>
          <p:spPr>
            <a:xfrm>
              <a:off x="267458" y="5878210"/>
              <a:ext cx="150996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1600"/>
                <a:t>Reordering</a:t>
              </a:r>
              <a:endParaRPr lang="en-IN" sz="16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D715EE2-37B2-73B4-6A28-D909E6F595A3}"/>
              </a:ext>
            </a:extLst>
          </p:cNvPr>
          <p:cNvGrpSpPr/>
          <p:nvPr/>
        </p:nvGrpSpPr>
        <p:grpSpPr>
          <a:xfrm>
            <a:off x="2895600" y="1447800"/>
            <a:ext cx="1509966" cy="2165866"/>
            <a:chOff x="2895600" y="1447800"/>
            <a:chExt cx="1509966" cy="216586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E53563A-4EE8-2371-0D22-0246AB2D3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95600" y="1447800"/>
              <a:ext cx="1509966" cy="1930061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03C212C-2746-D578-A406-7E1F93EE73BF}"/>
                </a:ext>
              </a:extLst>
            </p:cNvPr>
            <p:cNvSpPr txBox="1"/>
            <p:nvPr/>
          </p:nvSpPr>
          <p:spPr>
            <a:xfrm>
              <a:off x="3026633" y="3244334"/>
              <a:ext cx="137893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Elimination 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D130126-54B7-81F3-2FB4-AB3E56487F6F}"/>
              </a:ext>
            </a:extLst>
          </p:cNvPr>
          <p:cNvGrpSpPr/>
          <p:nvPr/>
        </p:nvGrpSpPr>
        <p:grpSpPr>
          <a:xfrm>
            <a:off x="2590800" y="3947597"/>
            <a:ext cx="2386614" cy="2299945"/>
            <a:chOff x="2590800" y="3947597"/>
            <a:chExt cx="2386614" cy="229994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3ECAC09-ACCA-16D7-763F-F1203FC75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895600" y="3947597"/>
              <a:ext cx="1509966" cy="1953547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4267053-31B4-9F2B-4AE1-9E68D40B6E2A}"/>
                </a:ext>
              </a:extLst>
            </p:cNvPr>
            <p:cNvSpPr txBox="1"/>
            <p:nvPr/>
          </p:nvSpPr>
          <p:spPr>
            <a:xfrm>
              <a:off x="2590800" y="5878210"/>
              <a:ext cx="23866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dirty="0"/>
                <a:t>Register caching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772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F656-5C81-7027-BAEF-DCCCD7741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volatile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C1778-88F6-0577-DD1F-2B4FEFDA1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“This variable can change outside program control”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Compiler guarantees:</a:t>
            </a:r>
          </a:p>
          <a:p>
            <a:r>
              <a:rPr lang="en-US" sz="2000" dirty="0"/>
              <a:t>Variable is not cached in a register</a:t>
            </a:r>
          </a:p>
          <a:p>
            <a:r>
              <a:rPr lang="en-US" sz="2000" dirty="0"/>
              <a:t>Does not optimize any variable reads or writes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Where to use `volatile`</a:t>
            </a:r>
          </a:p>
          <a:p>
            <a:r>
              <a:rPr lang="en-US" sz="2000" dirty="0"/>
              <a:t>Hardware registers (</a:t>
            </a:r>
            <a:r>
              <a:rPr lang="it-IT" sz="14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#define UART_STATUS (*(volatile int*)0x4000)</a:t>
            </a:r>
            <a:r>
              <a:rPr lang="it-IT" sz="2000" dirty="0"/>
              <a:t>)</a:t>
            </a:r>
          </a:p>
          <a:p>
            <a:r>
              <a:rPr lang="it-IT" sz="2000" dirty="0"/>
              <a:t>ISR – task communication (</a:t>
            </a:r>
            <a:r>
              <a:rPr lang="en-IN" sz="14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volatile int </a:t>
            </a:r>
            <a:r>
              <a:rPr lang="en-IN" sz="1400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data_ready</a:t>
            </a:r>
            <a:r>
              <a:rPr lang="en-IN" sz="14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  <a:r>
              <a:rPr lang="it-IT" sz="2000" dirty="0"/>
              <a:t>)</a:t>
            </a: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FC87-9B21-BA50-FF27-7412568ED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9690F2-A4BB-409F-497C-63410278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394476D-7296-9EC2-B09C-67F222AA5BFD}"/>
              </a:ext>
            </a:extLst>
          </p:cNvPr>
          <p:cNvGrpSpPr/>
          <p:nvPr/>
        </p:nvGrpSpPr>
        <p:grpSpPr>
          <a:xfrm>
            <a:off x="2133600" y="1981200"/>
            <a:ext cx="5810721" cy="862759"/>
            <a:chOff x="2133600" y="2209800"/>
            <a:chExt cx="5810721" cy="86275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4C8C55D-1807-0C10-ED62-936BD6774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3600" y="2209800"/>
              <a:ext cx="1600200" cy="86275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F99E70E-7520-D71C-0A5C-9FA74FE97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43400" y="2480968"/>
              <a:ext cx="3600921" cy="320421"/>
            </a:xfrm>
            <a:prstGeom prst="rect">
              <a:avLst/>
            </a:prstGeom>
          </p:spPr>
        </p:pic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7E55685A-FEE0-9A26-750F-3C98D49D4E29}"/>
                </a:ext>
              </a:extLst>
            </p:cNvPr>
            <p:cNvSpPr/>
            <p:nvPr/>
          </p:nvSpPr>
          <p:spPr>
            <a:xfrm>
              <a:off x="3800239" y="2552698"/>
              <a:ext cx="457200" cy="176959"/>
            </a:xfrm>
            <a:prstGeom prst="rightArrow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FB75345-CBA1-CA1F-2A7D-65562FAD4956}"/>
              </a:ext>
            </a:extLst>
          </p:cNvPr>
          <p:cNvGrpSpPr/>
          <p:nvPr/>
        </p:nvGrpSpPr>
        <p:grpSpPr>
          <a:xfrm>
            <a:off x="2133599" y="3040809"/>
            <a:ext cx="4253199" cy="739223"/>
            <a:chOff x="2133599" y="3269409"/>
            <a:chExt cx="4253199" cy="73922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4894206-FC9D-16F8-A2E5-771CAC941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3599" y="3269409"/>
              <a:ext cx="1600201" cy="739223"/>
            </a:xfrm>
            <a:prstGeom prst="rect">
              <a:avLst/>
            </a:prstGeom>
          </p:spPr>
        </p:pic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37AA673E-CCA5-7509-EDED-58E28731F851}"/>
                </a:ext>
              </a:extLst>
            </p:cNvPr>
            <p:cNvSpPr/>
            <p:nvPr/>
          </p:nvSpPr>
          <p:spPr>
            <a:xfrm>
              <a:off x="3805274" y="3550540"/>
              <a:ext cx="457200" cy="176959"/>
            </a:xfrm>
            <a:prstGeom prst="rightArrow">
              <a:avLst/>
            </a:prstGeom>
            <a:solidFill>
              <a:schemeClr val="dk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85FA910-73A8-5CE6-2CE1-ECEBC099B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43400" y="3522321"/>
              <a:ext cx="2043398" cy="2333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4181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0C46-6498-27FE-3F15-2806D0F1D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(local variable)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CD496-2C06-C4BA-CE8E-74AB7CE84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4654" y="1414588"/>
            <a:ext cx="6172200" cy="1052302"/>
          </a:xfrm>
        </p:spPr>
        <p:txBody>
          <a:bodyPr/>
          <a:lstStyle/>
          <a:p>
            <a:r>
              <a:rPr lang="en-US" sz="2000" dirty="0"/>
              <a:t>Initialized once</a:t>
            </a:r>
          </a:p>
          <a:p>
            <a:r>
              <a:rPr lang="en-US" sz="2000" dirty="0"/>
              <a:t>Retains value across calls</a:t>
            </a:r>
          </a:p>
          <a:p>
            <a:r>
              <a:rPr lang="en-US" sz="2000" dirty="0"/>
              <a:t>Not stored on stack</a:t>
            </a:r>
            <a:endParaRPr lang="en-IN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18240-7DD5-627C-A026-6830D0945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BF0C0-9E97-27BE-89AB-F4B3C808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FEDF48-07C7-F682-F5FE-5CA735371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46211"/>
            <a:ext cx="2438400" cy="105230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ED734A-CA9E-A3F4-4277-C469A797F3CC}"/>
              </a:ext>
            </a:extLst>
          </p:cNvPr>
          <p:cNvSpPr txBox="1">
            <a:spLocks/>
          </p:cNvSpPr>
          <p:nvPr/>
        </p:nvSpPr>
        <p:spPr bwMode="auto">
          <a:xfrm>
            <a:off x="152400" y="2725695"/>
            <a:ext cx="61722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Avoids stack usage</a:t>
            </a:r>
          </a:p>
          <a:p>
            <a:r>
              <a:rPr lang="en-US" sz="2000" dirty="0"/>
              <a:t>Persistent state without exposing a global variable</a:t>
            </a:r>
          </a:p>
          <a:p>
            <a:r>
              <a:rPr lang="en-US" sz="2000" dirty="0"/>
              <a:t>Predictable memory behavior</a:t>
            </a:r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966B08-60E3-8000-009B-E21C7C3B3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974846"/>
            <a:ext cx="3746199" cy="24259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E1D692-4131-2A08-B4CA-F7B801EA0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900" y="3974846"/>
            <a:ext cx="3746199" cy="1431371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748E05C-421A-8177-8C45-26FBCEF28BE8}"/>
              </a:ext>
            </a:extLst>
          </p:cNvPr>
          <p:cNvSpPr txBox="1">
            <a:spLocks/>
          </p:cNvSpPr>
          <p:nvPr/>
        </p:nvSpPr>
        <p:spPr bwMode="auto">
          <a:xfrm>
            <a:off x="4569781" y="5389808"/>
            <a:ext cx="42672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No risk of stack overflow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75EC28-585A-A14B-DFE2-4AD791F6F7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2254" y="1414588"/>
            <a:ext cx="2210503" cy="1362287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18BDA2A-A6D1-BCD7-1E15-FC308D1F4931}"/>
              </a:ext>
            </a:extLst>
          </p:cNvPr>
          <p:cNvSpPr txBox="1">
            <a:spLocks/>
          </p:cNvSpPr>
          <p:nvPr/>
        </p:nvSpPr>
        <p:spPr bwMode="auto">
          <a:xfrm>
            <a:off x="6422254" y="2829900"/>
            <a:ext cx="2210503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Initialization runs only once</a:t>
            </a:r>
          </a:p>
        </p:txBody>
      </p:sp>
    </p:spTree>
    <p:extLst>
      <p:ext uri="{BB962C8B-B14F-4D97-AF65-F5344CB8AC3E}">
        <p14:creationId xmlns:p14="http://schemas.microsoft.com/office/powerpoint/2010/main" val="22694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uiExpand="1" build="p"/>
      <p:bldP spid="13" grpId="0" build="p"/>
      <p:bldP spid="1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4E9E7-BBED-C52E-08F9-BAB2C5AA4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(file scope)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661FB-44AF-48DC-A40D-F38072464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81199"/>
            <a:ext cx="8915400" cy="4479923"/>
          </a:xfrm>
        </p:spPr>
        <p:txBody>
          <a:bodyPr/>
          <a:lstStyle/>
          <a:p>
            <a:r>
              <a:rPr lang="en-US" sz="2400" dirty="0"/>
              <a:t>Visible only in the file where it is defined</a:t>
            </a:r>
          </a:p>
          <a:p>
            <a:r>
              <a:rPr lang="en-US" sz="2400" dirty="0"/>
              <a:t>Avoids name collision</a:t>
            </a:r>
          </a:p>
          <a:p>
            <a:r>
              <a:rPr lang="en-US" sz="2400" dirty="0"/>
              <a:t>Provides encapsulation</a:t>
            </a:r>
          </a:p>
          <a:p>
            <a:r>
              <a:rPr lang="en-US" sz="2400" dirty="0"/>
              <a:t>Prevents accidental cross-module access</a:t>
            </a:r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1F96C-ABA1-0842-573A-9D79CDC6D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A1205-51B3-A633-17E7-81DDC6713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9372A8-D37C-EEEB-C9E5-A9F2DCAD0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46211"/>
            <a:ext cx="2590800" cy="4449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0EF5A9-0679-3AE2-5441-3ADA1568B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777028"/>
            <a:ext cx="2471121" cy="26840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63D293-96BC-7FB5-FBB9-6D06C8F65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9390" y="3777028"/>
            <a:ext cx="2175870" cy="268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54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F340-2381-11FB-C19F-B19940E46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(functions)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BE28-4F4E-05E3-2910-09A6866A7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2362199"/>
            <a:ext cx="8839200" cy="4098923"/>
          </a:xfrm>
        </p:spPr>
        <p:txBody>
          <a:bodyPr/>
          <a:lstStyle/>
          <a:p>
            <a:r>
              <a:rPr lang="en-US" sz="2400" dirty="0"/>
              <a:t>Private helper functions</a:t>
            </a:r>
          </a:p>
          <a:p>
            <a:r>
              <a:rPr lang="en-US" sz="2400" dirty="0"/>
              <a:t>Clean modular design</a:t>
            </a:r>
          </a:p>
          <a:p>
            <a:r>
              <a:rPr lang="en-US" sz="2400" dirty="0"/>
              <a:t>Function only used internally and  cannot be called from other files</a:t>
            </a:r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B7A42-4251-F762-0ADA-6EC41BAD4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48C48-B846-2094-BA52-4C9618935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BF839E-055D-D0E0-B8E4-67355C68F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13" y="1467666"/>
            <a:ext cx="2867487" cy="82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4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4B7E5-534E-64B4-BBFF-AFB1CE5AE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AA4B4-F203-7BC4-69EE-E97584D33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752600"/>
            <a:ext cx="8839200" cy="4724400"/>
          </a:xfrm>
        </p:spPr>
        <p:txBody>
          <a:bodyPr/>
          <a:lstStyle/>
          <a:p>
            <a:r>
              <a:rPr lang="en-US" sz="2400" dirty="0"/>
              <a:t>Value cannot be modified through this variable</a:t>
            </a:r>
          </a:p>
          <a:p>
            <a:r>
              <a:rPr lang="en-US" sz="2400" dirty="0"/>
              <a:t>Compiler treats as read-only</a:t>
            </a:r>
          </a:p>
          <a:p>
            <a:r>
              <a:rPr lang="en-US" sz="2400" dirty="0"/>
              <a:t>Store in flash / ROM instead of RAM; saves RAM space (on some systems / toolchains)</a:t>
            </a:r>
          </a:p>
          <a:p>
            <a:r>
              <a:rPr lang="en-US" sz="2400" dirty="0"/>
              <a:t>Often placed in .</a:t>
            </a:r>
            <a:r>
              <a:rPr lang="en-US" sz="2400" dirty="0" err="1"/>
              <a:t>rodata</a:t>
            </a:r>
            <a:r>
              <a:rPr lang="en-US" sz="2400" dirty="0"/>
              <a:t> section (flash)</a:t>
            </a:r>
          </a:p>
          <a:p>
            <a:endParaRPr lang="en-US" sz="2400" dirty="0"/>
          </a:p>
          <a:p>
            <a:r>
              <a:rPr lang="en-US" sz="2000" dirty="0"/>
              <a:t>msg points to data that cannot be modified</a:t>
            </a:r>
          </a:p>
          <a:p>
            <a:r>
              <a:rPr lang="en-US" sz="2000" dirty="0"/>
              <a:t>Prevents accidental modification of caller’s</a:t>
            </a:r>
            <a:br>
              <a:rPr lang="en-US" sz="2000" dirty="0"/>
            </a:br>
            <a:r>
              <a:rPr lang="en-US" sz="2000" dirty="0"/>
              <a:t>data</a:t>
            </a:r>
          </a:p>
          <a:p>
            <a:r>
              <a:rPr lang="en-US" sz="2000" dirty="0"/>
              <a:t>Caller can safely reuse data</a:t>
            </a:r>
          </a:p>
          <a:p>
            <a:r>
              <a:rPr lang="en-US" sz="2000" dirty="0"/>
              <a:t>Constant pointers: fixed mapping to a resource, whose data may change</a:t>
            </a:r>
          </a:p>
          <a:p>
            <a:r>
              <a:rPr lang="en-US" sz="2000" dirty="0"/>
              <a:t>Hardware registers: data actually cannot change in software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E2FFB-5829-2C33-CFE7-04CF0C6E2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BFF5F-E1D9-95AE-650A-693CB3BF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01EF6D-088C-392E-8D09-710833203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" y="1493737"/>
            <a:ext cx="2209800" cy="3691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EC9944-01C7-B15C-CF65-5D235FC12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493737"/>
            <a:ext cx="3224130" cy="3708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1346BB-D86D-4811-3AC2-3239E736F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566" y="3569107"/>
            <a:ext cx="3563034" cy="13182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F45A7A-8C9F-29A6-13DE-289441C2E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566" y="4948309"/>
            <a:ext cx="3563034" cy="5380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EB1125-1790-F4FF-B6CD-1E09F228D5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25570"/>
            <a:ext cx="4495800" cy="98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00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CD946-0EC3-0076-1963-C0DF34559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F8825-6F31-2EAB-47CB-D5AB8B451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981201"/>
            <a:ext cx="8839200" cy="4479922"/>
          </a:xfrm>
        </p:spPr>
        <p:txBody>
          <a:bodyPr/>
          <a:lstStyle/>
          <a:p>
            <a:r>
              <a:rPr lang="en-US" sz="2400" dirty="0"/>
              <a:t>Defined in another file, resolved by linker</a:t>
            </a:r>
          </a:p>
          <a:p>
            <a:r>
              <a:rPr lang="en-US" sz="2400" dirty="0"/>
              <a:t>Used for cross-module communication</a:t>
            </a:r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394EBB-7656-9C8C-60E6-2B0EAB43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7566C4-1C0D-DE56-DE85-66EDFE55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D639A5-BD71-78B4-9C7C-A1D3AE8A2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446211"/>
            <a:ext cx="2586282" cy="4721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74703E-4591-CE72-BAD0-5CA37F181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971800"/>
            <a:ext cx="3217534" cy="3276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657379-B11D-C814-9D93-6CE544466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483" y="1495148"/>
            <a:ext cx="1997726" cy="4724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F03380-BC27-07F1-9691-05E267E83F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0804" y="2971800"/>
            <a:ext cx="1997726" cy="18136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43D48F-0A49-88D2-2076-59963BD787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4615" y="4785616"/>
            <a:ext cx="1997726" cy="169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94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16061</TotalTime>
  <Words>318</Words>
  <Application>Microsoft Office PowerPoint</Application>
  <PresentationFormat>On-screen Show (4:3)</PresentationFormat>
  <Paragraphs>75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Cascadia Code</vt:lpstr>
      <vt:lpstr>Office Theme</vt:lpstr>
      <vt:lpstr>Software for Embedded Systems</vt:lpstr>
      <vt:lpstr>Compiler optimization</vt:lpstr>
      <vt:lpstr>volatile</vt:lpstr>
      <vt:lpstr>static (local variable)</vt:lpstr>
      <vt:lpstr>static (file scope)</vt:lpstr>
      <vt:lpstr>static (functions)</vt:lpstr>
      <vt:lpstr>const</vt:lpstr>
      <vt:lpstr>extern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742</cp:revision>
  <dcterms:created xsi:type="dcterms:W3CDTF">2010-01-15T20:22:21Z</dcterms:created>
  <dcterms:modified xsi:type="dcterms:W3CDTF">2026-04-07T06:29:27Z</dcterms:modified>
</cp:coreProperties>
</file>