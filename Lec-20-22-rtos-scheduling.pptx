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337" r:id="rId2"/>
    <p:sldId id="385" r:id="rId3"/>
    <p:sldId id="386" r:id="rId4"/>
    <p:sldId id="387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6" r:id="rId13"/>
    <p:sldId id="397" r:id="rId14"/>
    <p:sldId id="398" r:id="rId15"/>
    <p:sldId id="399" r:id="rId16"/>
    <p:sldId id="400" r:id="rId17"/>
    <p:sldId id="401" r:id="rId18"/>
    <p:sldId id="402" r:id="rId19"/>
    <p:sldId id="403" r:id="rId20"/>
    <p:sldId id="404" r:id="rId21"/>
    <p:sldId id="405" r:id="rId22"/>
    <p:sldId id="407" r:id="rId23"/>
    <p:sldId id="406" r:id="rId24"/>
    <p:sldId id="408" r:id="rId25"/>
    <p:sldId id="409" r:id="rId26"/>
    <p:sldId id="410" r:id="rId27"/>
    <p:sldId id="411" r:id="rId28"/>
    <p:sldId id="412" r:id="rId29"/>
    <p:sldId id="413" r:id="rId30"/>
    <p:sldId id="415" r:id="rId31"/>
    <p:sldId id="416" r:id="rId32"/>
    <p:sldId id="414" r:id="rId33"/>
    <p:sldId id="417" r:id="rId34"/>
    <p:sldId id="419" r:id="rId35"/>
    <p:sldId id="418" r:id="rId36"/>
    <p:sldId id="420" r:id="rId3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95" d="100"/>
          <a:sy n="95" d="100"/>
        </p:scale>
        <p:origin x="249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3/19/2026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olidFill>
                  <a:srgbClr val="FF0000"/>
                </a:solidFill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233316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DBBD-7815-4F90-8740-2769965C9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 of the application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0FDBF-39F5-41B9-94E9-87F94477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layer is the main (gooey) logic of your system; but within the app layer:</a:t>
            </a:r>
          </a:p>
          <a:p>
            <a:r>
              <a:rPr lang="en-US" dirty="0"/>
              <a:t>Is there a single controller that decides what to do next?</a:t>
            </a:r>
          </a:p>
          <a:p>
            <a:r>
              <a:rPr lang="en-US" dirty="0"/>
              <a:t>Are there multiple controllers?</a:t>
            </a:r>
          </a:p>
          <a:p>
            <a:r>
              <a:rPr lang="en-US" dirty="0"/>
              <a:t>Who receives events from the lower layers?</a:t>
            </a:r>
          </a:p>
          <a:p>
            <a:r>
              <a:rPr lang="en-US" dirty="0"/>
              <a:t>Who decides the mode or ‘state’?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DA3D6-CF4F-44B5-A015-FA8A179C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0C85B-39D3-4CAC-AFCE-04BB6E16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143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1468F-25C2-4CAC-9987-DE189BF8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I: Monolithic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5141B-042C-4406-B6ED-8E5B5D77A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central state machine that handles all state transitions and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5ED3C-AF8F-4D05-A6DE-44E40EA1B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132ACE-58A5-4406-862B-7A0A696B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D03711-127B-4157-AF46-371842D84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90800"/>
            <a:ext cx="1752600" cy="3527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EC9AE-0B61-49C7-8A77-1F4405109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438400"/>
            <a:ext cx="4038600" cy="2860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51DD68-A85B-4172-883C-D391CE573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818475"/>
            <a:ext cx="4038600" cy="3583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26B9D-B287-4400-AA50-DD27858284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3923" y="3429000"/>
            <a:ext cx="2798157" cy="15301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226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2BC5-ED82-45AF-98D8-BD4D91F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II: Coordinated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AD11B-EEBD-4F2C-B90B-CBA80FA8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Separate state machines control therapy, alarm and UI</a:t>
            </a:r>
          </a:p>
          <a:p>
            <a:r>
              <a:rPr lang="en-US" sz="2400" dirty="0"/>
              <a:t>Coordination via defined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22A42-6844-4CCF-BBA1-1D79F0A2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871F3-1A09-4CC2-8985-0C6E81AC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C2BBA2-6B52-471D-947D-C659A7897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362200"/>
            <a:ext cx="3459193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BA3B1D-0D03-47DF-B117-EAC30870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825313"/>
            <a:ext cx="3581400" cy="20326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34F7E5-5E17-4CA3-B7C8-956E64CF7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800" y="2362200"/>
            <a:ext cx="2895600" cy="19213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E243BA-02C8-4253-A33D-E4D2E3F73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0924" y="4075461"/>
            <a:ext cx="3057952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4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85BBD-20FC-4A42-8589-EF018D7E6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III: Event dispatcher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4E822-1124-4F9F-98B4-4ED1070C7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One central dispatcher receives events</a:t>
            </a:r>
          </a:p>
          <a:p>
            <a:r>
              <a:rPr lang="en-US" sz="2400" dirty="0"/>
              <a:t>Separate controllers subscribe to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3D13E-ACCD-43A5-9007-17B879D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E4A240-8AA9-42B5-8214-D6ECED31E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49AEB-5DE4-44ED-B36F-F3FF69834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286000"/>
            <a:ext cx="3503449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B9CFE5-8A71-4FD4-98E9-B1EF1CEF1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6668" y="2286000"/>
            <a:ext cx="3873083" cy="42580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7F0001-114D-4571-9FCC-43D475845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9099" y="3429000"/>
            <a:ext cx="4124901" cy="1352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3F157D-41B3-47AD-AE6C-24D824882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996" y="4865260"/>
            <a:ext cx="2896004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0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4CFDEB-D860-495E-92C1-68DF7ABF3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73" y="1368322"/>
            <a:ext cx="8985395" cy="3432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1EA9F-374D-4869-9151-7A70469B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ownership at application level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846B5EC-541D-4406-80C2-69AA0C4314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1083941"/>
              </p:ext>
            </p:extLst>
          </p:nvPr>
        </p:nvGraphicFramePr>
        <p:xfrm>
          <a:off x="152400" y="2523680"/>
          <a:ext cx="6096000" cy="3193136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387486778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39972853"/>
                    </a:ext>
                  </a:extLst>
                </a:gridCol>
              </a:tblGrid>
              <a:tr h="638264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Event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Owned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616004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Start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623076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Occlusion detected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Alarm Manager (may notify Therapy)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238237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6226560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Low 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Alarm Manager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533668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4B0DD-3FAE-4D3F-8E21-7EB22244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47277-7852-4306-8684-26084DF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0F03B6-3B99-4E1E-89DC-AFD8834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422" y="4890232"/>
            <a:ext cx="2872146" cy="183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3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A2980-995A-4B11-AEDE-27165ECD6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application level patterns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A6F2883-E492-429F-8299-B27E3B5F0C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94334499"/>
              </p:ext>
            </p:extLst>
          </p:nvPr>
        </p:nvGraphicFramePr>
        <p:xfrm>
          <a:off x="-12192" y="1502366"/>
          <a:ext cx="7007352" cy="2347504"/>
        </p:xfrm>
        <a:graphic>
          <a:graphicData uri="http://schemas.openxmlformats.org/drawingml/2006/table">
            <a:tbl>
              <a:tblPr/>
              <a:tblGrid>
                <a:gridCol w="2335784">
                  <a:extLst>
                    <a:ext uri="{9D8B030D-6E8A-4147-A177-3AD203B41FA5}">
                      <a16:colId xmlns:a16="http://schemas.microsoft.com/office/drawing/2014/main" val="2058590319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440336953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781431631"/>
                    </a:ext>
                  </a:extLst>
                </a:gridCol>
              </a:tblGrid>
              <a:tr h="31568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Pattern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Strength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Weakness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8423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Monolithic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Becomes large, mixed concerns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688604"/>
                  </a:ext>
                </a:extLst>
              </a:tr>
              <a:tr h="789214">
                <a:tc>
                  <a:txBody>
                    <a:bodyPr/>
                    <a:lstStyle/>
                    <a:p>
                      <a:r>
                        <a:rPr lang="en-US"/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Clear separation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Ordering &amp; coupling must be managed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94306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Modular &amp; scalable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Indirect control 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4313637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9600-D0A9-40B1-A3BC-3D8C4B988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38C47-A017-470F-8557-75F5CE8CD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0C7765-B1CD-46AA-ACDA-3F1DD1F89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98355"/>
              </p:ext>
            </p:extLst>
          </p:nvPr>
        </p:nvGraphicFramePr>
        <p:xfrm>
          <a:off x="1524000" y="3977094"/>
          <a:ext cx="7620000" cy="257932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68540720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99746032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674184330"/>
                    </a:ext>
                  </a:extLst>
                </a:gridCol>
              </a:tblGrid>
              <a:tr h="40826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Property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783854"/>
                  </a:ext>
                </a:extLst>
              </a:tr>
              <a:tr h="714457">
                <a:tc>
                  <a:txBody>
                    <a:bodyPr/>
                    <a:lstStyle/>
                    <a:p>
                      <a:r>
                        <a:rPr lang="en-US"/>
                        <a:t>Who knows whom?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each other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only 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7242618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Direct function calls?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499702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Coupling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Explicit, directional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Indirect, via event bus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322514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Compile-time dependency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Strong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Weaker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8746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9414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8C114-0AFB-4C38-B91B-5C479ECA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visibility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08C-556F-4BAA-98CF-9759F8F746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Control flow is explicit.</a:t>
            </a:r>
          </a:p>
          <a:p>
            <a:r>
              <a:rPr lang="en-US" dirty="0"/>
              <a:t>You can trace calls statically.</a:t>
            </a:r>
          </a:p>
          <a:p>
            <a:r>
              <a:rPr lang="en-US" dirty="0"/>
              <a:t>Easier to reason locally.</a:t>
            </a:r>
          </a:p>
          <a:p>
            <a:r>
              <a:rPr lang="en-US" dirty="0"/>
              <a:t>Harder to scale globally.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31A8E-401B-436A-9646-7D2BCD0154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Control flow is indirect.</a:t>
            </a:r>
          </a:p>
          <a:p>
            <a:r>
              <a:rPr lang="en-US" dirty="0"/>
              <a:t>Requires mental model of event routing.</a:t>
            </a:r>
          </a:p>
          <a:p>
            <a:r>
              <a:rPr lang="en-US" dirty="0"/>
              <a:t>Scales better.</a:t>
            </a:r>
          </a:p>
          <a:p>
            <a:r>
              <a:rPr lang="en-US" dirty="0"/>
              <a:t>Harder to trace.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CF816-06E1-423F-B4EE-7B204CBB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562CD-3B9F-4118-A993-418E27DFC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8005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3194B-BBFC-4FF4-86FC-526CBA61C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Ease of adding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63E8-8424-468B-BFBB-6736D502F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Every new controller may require:</a:t>
            </a:r>
          </a:p>
          <a:p>
            <a:pPr lvl="1"/>
            <a:r>
              <a:rPr lang="en-US" dirty="0"/>
              <a:t>new direct calls</a:t>
            </a:r>
          </a:p>
          <a:p>
            <a:pPr lvl="1"/>
            <a:r>
              <a:rPr lang="en-US" dirty="0"/>
              <a:t>updated dependencies</a:t>
            </a:r>
          </a:p>
          <a:p>
            <a:pPr lvl="1"/>
            <a:r>
              <a:rPr lang="en-US" dirty="0"/>
              <a:t>careful ordering</a:t>
            </a:r>
          </a:p>
          <a:p>
            <a:r>
              <a:rPr lang="en-US" dirty="0"/>
              <a:t>The dependency graph grows quadratically.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74004B-EC70-4BC3-94DB-92C7D7A59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 Pattern</a:t>
            </a:r>
          </a:p>
          <a:p>
            <a:r>
              <a:rPr lang="en-US" dirty="0"/>
              <a:t>New module:</a:t>
            </a:r>
          </a:p>
          <a:p>
            <a:pPr lvl="1"/>
            <a:r>
              <a:rPr lang="en-US" dirty="0"/>
              <a:t>subscribes to events</a:t>
            </a:r>
          </a:p>
          <a:p>
            <a:pPr lvl="1"/>
            <a:r>
              <a:rPr lang="en-US" dirty="0"/>
              <a:t>no other controller modified</a:t>
            </a:r>
          </a:p>
          <a:p>
            <a:r>
              <a:rPr lang="en-US" dirty="0"/>
              <a:t>The dependency graph remains star-shaped.</a:t>
            </a:r>
          </a:p>
          <a:p>
            <a:r>
              <a:rPr lang="en-US" dirty="0"/>
              <a:t>That’s the scaling advantage.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B022C-3FA9-469B-A3E5-A1199FEE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8E159-FAD3-4F92-913F-C745DD2C9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BFF589-E76D-45F2-979E-C8E3DBAF51C5}"/>
              </a:ext>
            </a:extLst>
          </p:cNvPr>
          <p:cNvSpPr txBox="1">
            <a:spLocks/>
          </p:cNvSpPr>
          <p:nvPr/>
        </p:nvSpPr>
        <p:spPr bwMode="auto">
          <a:xfrm>
            <a:off x="24384" y="1371601"/>
            <a:ext cx="9043416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 want to add logging, safety monitor, UI refresh</a:t>
            </a:r>
          </a:p>
        </p:txBody>
      </p:sp>
    </p:spTree>
    <p:extLst>
      <p:ext uri="{BB962C8B-B14F-4D97-AF65-F5344CB8AC3E}">
        <p14:creationId xmlns:p14="http://schemas.microsoft.com/office/powerpoint/2010/main" val="194543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0A05-5EAE-4E3E-8B73-B9672727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distinctions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4B083-2277-4497-A306-E6A6C7CB2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Small system</a:t>
            </a:r>
          </a:p>
          <a:p>
            <a:r>
              <a:rPr lang="en-US" dirty="0"/>
              <a:t>Safety-critical clarity needed</a:t>
            </a:r>
          </a:p>
          <a:p>
            <a:r>
              <a:rPr lang="en-US" dirty="0"/>
              <a:t>Explicit authority required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CA36D-D7A8-4E40-9573-EF920E1B2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Large system</a:t>
            </a:r>
          </a:p>
          <a:p>
            <a:r>
              <a:rPr lang="en-US" dirty="0"/>
              <a:t>Many loosely coupled modules</a:t>
            </a:r>
          </a:p>
          <a:p>
            <a:r>
              <a:rPr lang="en-US" dirty="0"/>
              <a:t>Plugin-style extensibility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DB747A-994D-4B46-9502-18713504A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F840B-D707-4CD8-9786-AE347F38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272A0F41-7E64-4EB4-A027-C7E84E0322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8667698"/>
              </p:ext>
            </p:extLst>
          </p:nvPr>
        </p:nvGraphicFramePr>
        <p:xfrm>
          <a:off x="228600" y="1388208"/>
          <a:ext cx="8610600" cy="1264392"/>
        </p:xfrm>
        <a:graphic>
          <a:graphicData uri="http://schemas.openxmlformats.org/drawingml/2006/table">
            <a:tbl>
              <a:tblPr/>
              <a:tblGrid>
                <a:gridCol w="2870200">
                  <a:extLst>
                    <a:ext uri="{9D8B030D-6E8A-4147-A177-3AD203B41FA5}">
                      <a16:colId xmlns:a16="http://schemas.microsoft.com/office/drawing/2014/main" val="1370720198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1402076987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26127971"/>
                    </a:ext>
                  </a:extLst>
                </a:gridCol>
              </a:tblGrid>
              <a:tr h="262548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Coordinated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002841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Who stops infusion?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calls Therapy directly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emits STOP event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32997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 dirty="0"/>
                        <a:t>Who routes events?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Caller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196688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Where is coupling expressed?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Function calls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Subscription list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038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8303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795997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5A39-2E59-4324-9432-F30BDBC67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model = Rules of Running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87F85-7A32-4F31-A667-BE0A589E8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An execution model defines how control flows through the system over time.</a:t>
            </a:r>
          </a:p>
          <a:p>
            <a:r>
              <a:rPr lang="en-US" dirty="0"/>
              <a:t>Where code runs (i.e. in what context)</a:t>
            </a:r>
          </a:p>
          <a:p>
            <a:r>
              <a:rPr lang="en-US" dirty="0"/>
              <a:t>When code runs?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CPU performs one task at a time.</a:t>
            </a:r>
          </a:p>
          <a:p>
            <a:pPr>
              <a:buFontTx/>
              <a:buChar char="-"/>
            </a:pPr>
            <a:r>
              <a:rPr lang="en-US" dirty="0"/>
              <a:t>We create the illusion of multitasking by switching Contexts</a:t>
            </a:r>
          </a:p>
          <a:p>
            <a:pPr>
              <a:buFontTx/>
              <a:buChar char="-"/>
            </a:pPr>
            <a:r>
              <a:rPr lang="en-US" dirty="0"/>
              <a:t>A context is the snapshot of the CPU’s soul: its registers, its program counter, and its stack</a:t>
            </a:r>
          </a:p>
          <a:p>
            <a:pPr>
              <a:buFontTx/>
              <a:buChar char="-"/>
            </a:pPr>
            <a:r>
              <a:rPr lang="en-US" dirty="0"/>
              <a:t>When we switch tasks, we "freeze" one soul and "thaw" another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Execution modeling is the management of CPU "Contexts" and the cost of switching between them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F5C62-22F0-4636-90C7-8ACA9E30C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47492-95DE-4C55-8B62-F7535F3F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179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65865-7215-4589-9543-DAB6207E7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and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3657E-F754-4EF7-A04D-917E0D8C8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Superloop</a:t>
            </a:r>
            <a:r>
              <a:rPr lang="en-US" dirty="0"/>
              <a:t>: everyone waits in a long line to run sequentially</a:t>
            </a:r>
          </a:p>
          <a:p>
            <a:r>
              <a:rPr lang="en-US" dirty="0"/>
              <a:t>Foreground/background: Loop + ISRs</a:t>
            </a:r>
          </a:p>
          <a:p>
            <a:r>
              <a:rPr lang="en-US" dirty="0"/>
              <a:t>Cooperative and preemptive multitasking</a:t>
            </a:r>
          </a:p>
          <a:p>
            <a:r>
              <a:rPr lang="en-US" dirty="0"/>
              <a:t>RTOS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Contexts:</a:t>
            </a:r>
          </a:p>
          <a:p>
            <a:r>
              <a:rPr lang="en-US" dirty="0"/>
              <a:t>Main loop</a:t>
            </a:r>
          </a:p>
          <a:p>
            <a:r>
              <a:rPr lang="en-US" dirty="0"/>
              <a:t>Interrupt</a:t>
            </a:r>
          </a:p>
          <a:p>
            <a:r>
              <a:rPr lang="en-US" dirty="0"/>
              <a:t>Task (RTOS)</a:t>
            </a:r>
          </a:p>
          <a:p>
            <a:r>
              <a:rPr lang="en-US" dirty="0"/>
              <a:t>Deferred work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B1B36-C9C1-44FE-8753-47DF89B20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FB0626-305B-4699-9725-2C5E6B0D1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0395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6CB7-615B-458C-A721-119388AF0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superloop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50AB8-6806-4E12-AE68-E4800B57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Deterministic, simple</a:t>
            </a:r>
          </a:p>
          <a:p>
            <a:r>
              <a:rPr lang="en-US" dirty="0"/>
              <a:t>Context shared throughout</a:t>
            </a:r>
          </a:p>
          <a:p>
            <a:endParaRPr lang="en-US" dirty="0"/>
          </a:p>
          <a:p>
            <a:r>
              <a:rPr lang="en-US" dirty="0"/>
              <a:t>Hard to scale</a:t>
            </a:r>
          </a:p>
          <a:p>
            <a:r>
              <a:rPr lang="en-US" dirty="0"/>
              <a:t>Blocking breaks all timing constraints</a:t>
            </a:r>
          </a:p>
          <a:p>
            <a:endParaRPr lang="en-US" dirty="0"/>
          </a:p>
          <a:p>
            <a:r>
              <a:rPr lang="en-US" dirty="0"/>
              <a:t>Improvement: loop + ISR</a:t>
            </a:r>
          </a:p>
          <a:p>
            <a:r>
              <a:rPr lang="en-US" dirty="0"/>
              <a:t>Still sequential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062E-2CAB-477F-B76F-85EA5CF8B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49C9FB-F82F-4876-80C8-23094081E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052C9E-9AD1-44D6-B57A-C9FE5A50B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524000"/>
            <a:ext cx="3259667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32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4EB6-81B8-4351-9BCD-9D09EC377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Multitasking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DB0A3-41F3-49D8-8617-F9C07F11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Illusion of parallel execution</a:t>
            </a:r>
          </a:p>
          <a:p>
            <a:r>
              <a:rPr lang="en-US" dirty="0"/>
              <a:t>No need to wait for something else to finish</a:t>
            </a:r>
          </a:p>
          <a:p>
            <a:endParaRPr lang="en-US" dirty="0"/>
          </a:p>
          <a:p>
            <a:r>
              <a:rPr lang="en-US" dirty="0"/>
              <a:t>Cooperative: tasks yield voluntarily to the next task</a:t>
            </a:r>
          </a:p>
          <a:p>
            <a:r>
              <a:rPr lang="en-US" dirty="0"/>
              <a:t>Preemptive: Scheduler starts and stops tasks</a:t>
            </a:r>
          </a:p>
          <a:p>
            <a:r>
              <a:rPr lang="en-US" dirty="0"/>
              <a:t>Idea of priority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955BF-6403-4EFB-9086-54095161F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A32AE-E16E-4ABB-8149-57167CC25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141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18AEC-AB48-26DE-04BB-691E6A134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cyclic executive model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1295E-4BB9-4740-FCD9-6C0C7BCC5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Advantages</a:t>
            </a:r>
          </a:p>
          <a:p>
            <a:pPr>
              <a:buFontTx/>
              <a:buChar char="-"/>
            </a:pPr>
            <a:r>
              <a:rPr lang="en-US" sz="2000" dirty="0"/>
              <a:t>Simple implementation</a:t>
            </a:r>
          </a:p>
          <a:p>
            <a:pPr lvl="1">
              <a:buFontTx/>
              <a:buChar char="-"/>
            </a:pPr>
            <a:r>
              <a:rPr lang="en-US" sz="1800" dirty="0"/>
              <a:t>How would you implement?</a:t>
            </a:r>
          </a:p>
          <a:p>
            <a:pPr>
              <a:buFontTx/>
              <a:buChar char="-"/>
            </a:pPr>
            <a:r>
              <a:rPr lang="en-US" sz="2000" dirty="0"/>
              <a:t>Low overhead</a:t>
            </a:r>
          </a:p>
          <a:p>
            <a:pPr>
              <a:buFontTx/>
              <a:buChar char="-"/>
            </a:pPr>
            <a:r>
              <a:rPr lang="en-US" sz="2000" dirty="0"/>
              <a:t>Very predictable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Disadvantages</a:t>
            </a:r>
          </a:p>
          <a:p>
            <a:pPr>
              <a:buFontTx/>
              <a:buChar char="-"/>
            </a:pPr>
            <a:r>
              <a:rPr lang="en-US" sz="2000" dirty="0"/>
              <a:t>Cannot handle sporadic events</a:t>
            </a:r>
          </a:p>
          <a:p>
            <a:pPr>
              <a:buFontTx/>
              <a:buChar char="-"/>
            </a:pPr>
            <a:r>
              <a:rPr lang="en-US" sz="2000" dirty="0"/>
              <a:t>Everything must operate in lockstep</a:t>
            </a:r>
          </a:p>
          <a:p>
            <a:pPr>
              <a:buFontTx/>
              <a:buChar char="-"/>
            </a:pPr>
            <a:r>
              <a:rPr lang="en-US" sz="2000" dirty="0"/>
              <a:t>Code is scheduled manually</a:t>
            </a:r>
          </a:p>
          <a:p>
            <a:pPr>
              <a:buFontTx/>
              <a:buChar char="-"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Solution: Cyclic executive with interrupts</a:t>
            </a:r>
            <a:endParaRPr lang="en-IN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5E39B-7D04-D30C-D558-DE668EA16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71FB0F-F4CF-56AF-BC02-409981E12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E19BDA-1204-826A-EDE7-A6EF9D86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4828" y="914400"/>
            <a:ext cx="1740572" cy="16017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DB2211-D0E4-2548-50E7-2D46353095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9118" y="2971800"/>
            <a:ext cx="3891567" cy="16578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647E2B-153D-BF4F-80A7-DCBDA87090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9118" y="4740826"/>
            <a:ext cx="3891567" cy="163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36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3A0E5-F19B-71F2-940F-F8AA84BAE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do inside an interrupt service routine?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EFF8A9-CC2B-E26A-DE0E-ACC2FF11D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03040" y="1446213"/>
            <a:ext cx="6337919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5A36F-5E92-85E0-985C-D0C625BD7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963ADF-D487-BB84-D36E-736039B11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7231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2E3E-DB4D-19E5-BEE8-5AEC163B0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ISR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25E8E-9423-2BE4-591F-F50AEBE4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peripheral data into a buffer</a:t>
            </a:r>
          </a:p>
          <a:p>
            <a:r>
              <a:rPr lang="en-US" dirty="0"/>
              <a:t>Indicate to other code that data has arrived</a:t>
            </a:r>
          </a:p>
          <a:p>
            <a:pPr lvl="1"/>
            <a:r>
              <a:rPr lang="en-US" dirty="0"/>
              <a:t>How?</a:t>
            </a:r>
          </a:p>
          <a:p>
            <a:pPr lvl="1"/>
            <a:r>
              <a:rPr lang="en-US" dirty="0"/>
              <a:t>Events</a:t>
            </a:r>
          </a:p>
          <a:p>
            <a:pPr lvl="1"/>
            <a:r>
              <a:rPr lang="en-US" dirty="0"/>
              <a:t>Start or stop a process</a:t>
            </a:r>
          </a:p>
          <a:p>
            <a:pPr lvl="1"/>
            <a:r>
              <a:rPr lang="en-US" dirty="0"/>
              <a:t>Change priority</a:t>
            </a:r>
          </a:p>
          <a:p>
            <a:r>
              <a:rPr lang="en-US" dirty="0"/>
              <a:t>Acknowledge the interrupt</a:t>
            </a:r>
          </a:p>
          <a:p>
            <a:pPr lvl="1"/>
            <a:r>
              <a:rPr lang="en-US" dirty="0"/>
              <a:t>Tell the hardware that generated it that it has been handled</a:t>
            </a:r>
          </a:p>
          <a:p>
            <a:endParaRPr lang="en-US" dirty="0"/>
          </a:p>
          <a:p>
            <a:r>
              <a:rPr lang="en-US" dirty="0"/>
              <a:t>ISRs run fast!</a:t>
            </a:r>
          </a:p>
          <a:p>
            <a:r>
              <a:rPr lang="en-US" dirty="0"/>
              <a:t>Placed in RAM instead of flash</a:t>
            </a:r>
          </a:p>
          <a:p>
            <a:r>
              <a:rPr lang="en-US" dirty="0"/>
              <a:t>Leave longer reaction task outside the ISR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6C11-E2AB-8942-2AD7-365DCB64B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8B7622-D1CD-4322-57A5-00F9B35A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553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6B1-D8F3-B3F7-15DB-C5ED8824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 + Interrupts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12CBF-24BE-D0F8-9615-AAD539FBB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Extremely easy to implement</a:t>
            </a:r>
          </a:p>
          <a:p>
            <a:r>
              <a:rPr lang="en-US" dirty="0"/>
              <a:t>Very cheap also! No extra overhead code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But</a:t>
            </a:r>
          </a:p>
          <a:p>
            <a:r>
              <a:rPr lang="en-US" dirty="0"/>
              <a:t>Main loop running in lockstep</a:t>
            </a:r>
          </a:p>
          <a:p>
            <a:r>
              <a:rPr lang="en-US" dirty="0"/>
              <a:t>Programmer must handle scheduling</a:t>
            </a:r>
          </a:p>
          <a:p>
            <a:r>
              <a:rPr lang="en-US" dirty="0"/>
              <a:t>Scheduling is static (cannot dynamically change order of tasks)</a:t>
            </a:r>
          </a:p>
          <a:p>
            <a:r>
              <a:rPr lang="en-US" dirty="0"/>
              <a:t>Latency of event handling still long</a:t>
            </a:r>
          </a:p>
          <a:p>
            <a:r>
              <a:rPr lang="en-US" dirty="0"/>
              <a:t>Interrupts introduce jitter in task timing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7329D-D31D-9EBD-2B69-760DA80FB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92D4F-BDD5-5F21-369B-70019862E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979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5952-9D75-4077-137A-BDEF30071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Cooperative multitasking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CAD51-4397-566E-71F4-6189D556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Processes relinquish control to other processes</a:t>
            </a:r>
          </a:p>
          <a:p>
            <a:endParaRPr lang="en-US" dirty="0"/>
          </a:p>
          <a:p>
            <a:r>
              <a:rPr lang="en-US" dirty="0"/>
              <a:t>More control on when a process stops and goes to another</a:t>
            </a:r>
          </a:p>
          <a:p>
            <a:pPr lvl="1"/>
            <a:r>
              <a:rPr lang="en-US" dirty="0"/>
              <a:t>Better coordination between processes</a:t>
            </a:r>
          </a:p>
          <a:p>
            <a:r>
              <a:rPr lang="en-US" dirty="0"/>
              <a:t>Priority can be implemented by changing task order</a:t>
            </a:r>
          </a:p>
          <a:p>
            <a:pPr lvl="1"/>
            <a:r>
              <a:rPr lang="en-US" dirty="0"/>
              <a:t>Simple scheduler that maintains priority queues</a:t>
            </a:r>
          </a:p>
          <a:p>
            <a:endParaRPr lang="en-US" dirty="0"/>
          </a:p>
          <a:p>
            <a:r>
              <a:rPr lang="en-US" dirty="0"/>
              <a:t>Programmer has to ensure a single process does not hog all CPU time</a:t>
            </a:r>
          </a:p>
          <a:p>
            <a:r>
              <a:rPr lang="en-US" dirty="0"/>
              <a:t>Bugs in a single task jeopardize all others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2D605-D691-8371-06A1-5033C5ECC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9EC57A-E09A-FDB1-DBE5-7ABDAEB7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994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666F7-B507-7E1E-5371-81093546A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 systems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AD2E7A-56D0-237A-742D-00EA7FA3B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FF079D-81EF-2436-4591-97C6CC82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ED8975-68E5-BE2E-8120-47155DABDC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 and scheduling are usually orthogonal</a:t>
            </a:r>
          </a:p>
          <a:p>
            <a:r>
              <a:rPr lang="en-US" dirty="0"/>
              <a:t>Let programmer handle function</a:t>
            </a:r>
          </a:p>
          <a:p>
            <a:r>
              <a:rPr lang="en-US" dirty="0"/>
              <a:t>Operating system will handle the scheduling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111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77E4C-816E-4927-FF33-AAE78262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934200" cy="1195386"/>
          </a:xfrm>
        </p:spPr>
        <p:txBody>
          <a:bodyPr/>
          <a:lstStyle/>
          <a:p>
            <a:r>
              <a:rPr lang="en-US" dirty="0"/>
              <a:t>Operating systems for</a:t>
            </a:r>
            <a:br>
              <a:rPr lang="en-US" dirty="0"/>
            </a:br>
            <a:r>
              <a:rPr lang="en-US" dirty="0"/>
              <a:t>conventional vs embedded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96DB0-6E4F-EF60-33F6-8BCF335BE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Conventional:</a:t>
            </a:r>
          </a:p>
          <a:p>
            <a:r>
              <a:rPr lang="en-US" dirty="0"/>
              <a:t>Multiple threads or processes</a:t>
            </a:r>
          </a:p>
          <a:p>
            <a:r>
              <a:rPr lang="en-US" dirty="0"/>
              <a:t>File system</a:t>
            </a:r>
          </a:p>
          <a:p>
            <a:r>
              <a:rPr lang="en-US" dirty="0"/>
              <a:t>Virtual memory and paging</a:t>
            </a:r>
          </a:p>
          <a:p>
            <a:r>
              <a:rPr lang="en-US" dirty="0"/>
              <a:t>I/O and interrupt handling</a:t>
            </a:r>
          </a:p>
          <a:p>
            <a:r>
              <a:rPr lang="en-US" dirty="0"/>
              <a:t>Resource allocation</a:t>
            </a:r>
          </a:p>
          <a:p>
            <a:r>
              <a:rPr lang="en-US" dirty="0"/>
              <a:t>Command interface for executing programs</a:t>
            </a:r>
          </a:p>
          <a:p>
            <a:pPr marL="0" indent="0">
              <a:buNone/>
            </a:pPr>
            <a:r>
              <a:rPr lang="en-US" dirty="0"/>
              <a:t>Embedded:</a:t>
            </a:r>
          </a:p>
          <a:p>
            <a:r>
              <a:rPr lang="en-US" dirty="0"/>
              <a:t>Lightweight threads</a:t>
            </a:r>
          </a:p>
          <a:p>
            <a:r>
              <a:rPr lang="en-US" dirty="0" err="1"/>
              <a:t>i</a:t>
            </a:r>
            <a:r>
              <a:rPr lang="en-US" dirty="0"/>
              <a:t>/o and interrupt handling</a:t>
            </a:r>
          </a:p>
          <a:p>
            <a:r>
              <a:rPr lang="en-US" dirty="0"/>
              <a:t>Real time guarantees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90B40-AB57-8DF9-5A8C-065F70E06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1A095-946C-E4F9-174F-19412F886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8522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BD3B6-2112-849C-7CE6-34B1DF1E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operating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C5AB1-6B87-40BD-A3A2-1C6F5A362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Lightweight threads</a:t>
            </a:r>
          </a:p>
          <a:p>
            <a:r>
              <a:rPr lang="en-US" dirty="0"/>
              <a:t>Basic locks</a:t>
            </a:r>
          </a:p>
          <a:p>
            <a:r>
              <a:rPr lang="en-US" dirty="0"/>
              <a:t>Fast context switches</a:t>
            </a:r>
          </a:p>
          <a:p>
            <a:pPr marL="0" indent="0">
              <a:buNone/>
            </a:pPr>
            <a:r>
              <a:rPr lang="en-US" dirty="0"/>
              <a:t>Input / output</a:t>
            </a:r>
          </a:p>
          <a:p>
            <a:r>
              <a:rPr lang="en-US" dirty="0"/>
              <a:t>API for talking to devices</a:t>
            </a:r>
          </a:p>
          <a:p>
            <a:r>
              <a:rPr lang="en-US" dirty="0"/>
              <a:t>Buffering</a:t>
            </a:r>
          </a:p>
          <a:p>
            <a:pPr marL="0" indent="0">
              <a:buNone/>
            </a:pPr>
            <a:r>
              <a:rPr lang="en-US" dirty="0"/>
              <a:t>Interrupt handling</a:t>
            </a:r>
          </a:p>
          <a:p>
            <a:r>
              <a:rPr lang="en-US" dirty="0"/>
              <a:t>Translate interrupts to events handled by user code</a:t>
            </a:r>
          </a:p>
          <a:p>
            <a:r>
              <a:rPr lang="en-US" dirty="0"/>
              <a:t>Trigger new tasks to run</a:t>
            </a:r>
          </a:p>
          <a:p>
            <a:pPr marL="0" indent="0">
              <a:buNone/>
            </a:pPr>
            <a:r>
              <a:rPr lang="en-US" dirty="0"/>
              <a:t>Real time guarantees</a:t>
            </a:r>
          </a:p>
          <a:p>
            <a:r>
              <a:rPr lang="en-US" dirty="0"/>
              <a:t>Guarantee that a task is called at a certain rate</a:t>
            </a:r>
          </a:p>
          <a:p>
            <a:r>
              <a:rPr lang="en-US" dirty="0"/>
              <a:t>Guarantee interrupt handling time</a:t>
            </a:r>
          </a:p>
          <a:p>
            <a:r>
              <a:rPr lang="en-US" dirty="0"/>
              <a:t>Priority or deadline driven scheduling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053E3-BFFC-25B1-0650-8266ACED9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908887-C55F-2E22-6B55-7BEA852C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9341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10FCF-FF67-5B46-351B-E849A2033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real time constraints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7B1A8-228B-FE20-1A55-A2E496F62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Hard – miss deadline, total failure of system. Minor or major disaster (people may die?)</a:t>
            </a:r>
          </a:p>
          <a:p>
            <a:endParaRPr lang="en-US" dirty="0"/>
          </a:p>
          <a:p>
            <a:r>
              <a:rPr lang="en-US" dirty="0"/>
              <a:t>Firm – result no longer useful after deadline missed</a:t>
            </a:r>
          </a:p>
          <a:p>
            <a:endParaRPr lang="en-US" dirty="0"/>
          </a:p>
          <a:p>
            <a:r>
              <a:rPr lang="en-US" dirty="0"/>
              <a:t>Soft – results gradually less useful as deadline passes.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86BAF-88FD-29F0-D6A4-B486063F9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869499-FED6-3FF7-B218-B12E29547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769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13901-136A-8C33-7669-A78B561CE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factors make real-time hard?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AF23F-FCC8-AB40-078D-C983ABD48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Interrupts</a:t>
            </a:r>
            <a:r>
              <a:rPr lang="en-IN" dirty="0"/>
              <a:t> (timing disrupted by external event responses)</a:t>
            </a:r>
          </a:p>
          <a:p>
            <a:r>
              <a:rPr lang="en-IN" dirty="0"/>
              <a:t>Unpredictability of CPU execution</a:t>
            </a:r>
          </a:p>
          <a:p>
            <a:pPr lvl="1"/>
            <a:r>
              <a:rPr lang="en-IN" dirty="0"/>
              <a:t>Branch prediction, caches, power modes and clock frequency changes, memory management (page fault)</a:t>
            </a:r>
          </a:p>
          <a:p>
            <a:r>
              <a:rPr lang="en-IN" dirty="0"/>
              <a:t>Dynamic memory allocation and garbage collection</a:t>
            </a:r>
          </a:p>
          <a:p>
            <a:r>
              <a:rPr lang="en-IN" dirty="0"/>
              <a:t>Unpredictable hardware (e.g. network access)</a:t>
            </a:r>
          </a:p>
          <a:p>
            <a:r>
              <a:rPr lang="en-US" dirty="0"/>
              <a:t>Operating systems (scheduler, context switching)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So why do we use RTOSs?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2979D-D561-7090-025F-3D9B76839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C5EADA-DC65-F9DB-86B7-B4B1859D7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6850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6DD4-4D34-537A-CF32-1593A532C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time operating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F1ED6-7A70-7AE3-3BB3-CCC9ACABA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 latency of OS calls</a:t>
            </a:r>
          </a:p>
          <a:p>
            <a:r>
              <a:rPr lang="en-US" dirty="0"/>
              <a:t>Fast context switching</a:t>
            </a:r>
          </a:p>
          <a:p>
            <a:r>
              <a:rPr lang="en-US" dirty="0"/>
              <a:t>Main goal: meeting task deadlines</a:t>
            </a:r>
          </a:p>
          <a:p>
            <a:r>
              <a:rPr lang="en-US" dirty="0"/>
              <a:t>Goal is not fairness (unlike conventional OSes)</a:t>
            </a:r>
          </a:p>
          <a:p>
            <a:endParaRPr lang="en-US" dirty="0"/>
          </a:p>
          <a:p>
            <a:r>
              <a:rPr lang="en-US" dirty="0"/>
              <a:t>If you have five homework assignments, and one is due in an hour, you will work on that one!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4086B-2530-6A6E-74D6-59C243FB5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3DC894-DB20-07D5-049E-9A2CB04C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1594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11A54-FC17-904C-9905-BC032DC59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RTOS Task Model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E1573-31AE-FA09-2B5D-C102D8C9A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287589"/>
          </a:xfrm>
        </p:spPr>
        <p:txBody>
          <a:bodyPr>
            <a:normAutofit fontScale="85000" lnSpcReduction="20000"/>
          </a:bodyPr>
          <a:lstStyle/>
          <a:p>
            <a:r>
              <a:rPr lang="en-US" sz="2800" dirty="0"/>
              <a:t>Each task a triplet: (execution time, period, deadline)</a:t>
            </a:r>
          </a:p>
          <a:p>
            <a:r>
              <a:rPr lang="en-US" sz="2800" dirty="0"/>
              <a:t>Execution time: how long the task takes to run</a:t>
            </a:r>
          </a:p>
          <a:p>
            <a:r>
              <a:rPr lang="en-US" sz="2800" dirty="0"/>
              <a:t>Period: how often the task must run</a:t>
            </a:r>
          </a:p>
          <a:p>
            <a:r>
              <a:rPr lang="en-US" sz="2800" dirty="0"/>
              <a:t>Dead</a:t>
            </a:r>
            <a:r>
              <a:rPr lang="en-US" sz="2800" b="1" dirty="0"/>
              <a:t>l</a:t>
            </a:r>
            <a:r>
              <a:rPr lang="en-US" sz="2800" dirty="0"/>
              <a:t>ine: relative to each period, when must task complete?</a:t>
            </a:r>
          </a:p>
          <a:p>
            <a:r>
              <a:rPr lang="en-US" sz="2800" dirty="0"/>
              <a:t>Usually: deadline = period</a:t>
            </a:r>
          </a:p>
          <a:p>
            <a:r>
              <a:rPr lang="en-US" sz="2800" dirty="0"/>
              <a:t>Can be initiated anytime during the period</a:t>
            </a:r>
            <a:endParaRPr lang="en-IN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D37D5-C883-0F93-AD94-E8C1CA0D9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EE3F2-6251-953D-B9B1-6B2D66589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11DEC-90C5-CDD2-75B8-CDF230B13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68" y="3810000"/>
            <a:ext cx="7078063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656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AE6F3-AB14-8828-F52E-C4732DD0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Periods can be very different for different tasks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1C2EF6-E9C8-BF8B-CB1A-A30AF48082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585356" y="1446213"/>
            <a:ext cx="7973288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39BDF-2D86-49D7-C197-72BA5EB45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4AE21-7101-04C2-39A0-7422B04C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5121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23D74-6DB4-5890-2C37-B1ABBC9A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have period (T) different from deadline(D)?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E62BB-483D-0B01-1EC3-2B9693285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72C3E8"/>
                </a:solidFill>
              </a:rPr>
              <a:t>D &lt; T (constrained deadline)</a:t>
            </a:r>
          </a:p>
          <a:p>
            <a:r>
              <a:rPr lang="en-US" sz="2800" dirty="0"/>
              <a:t>Control loops based on sensor data (T = 10 </a:t>
            </a:r>
            <a:r>
              <a:rPr lang="en-US" sz="2800" dirty="0" err="1"/>
              <a:t>ms</a:t>
            </a:r>
            <a:r>
              <a:rPr lang="en-US" sz="2800" dirty="0"/>
              <a:t>, D = 5 </a:t>
            </a:r>
            <a:r>
              <a:rPr lang="en-US" sz="2800" dirty="0" err="1"/>
              <a:t>ms</a:t>
            </a:r>
            <a:r>
              <a:rPr lang="en-US" sz="2800" dirty="0"/>
              <a:t>)</a:t>
            </a:r>
          </a:p>
          <a:p>
            <a:pPr lvl="1"/>
            <a:r>
              <a:rPr lang="en-US" sz="2400" dirty="0"/>
              <a:t>Control must be applied early in each cycle</a:t>
            </a:r>
          </a:p>
          <a:p>
            <a:pPr lvl="1"/>
            <a:r>
              <a:rPr lang="en-US" sz="2400" dirty="0"/>
              <a:t>Remaining time for actuation delay, communication etc.</a:t>
            </a:r>
          </a:p>
          <a:p>
            <a:r>
              <a:rPr lang="en-IN" sz="2800" dirty="0"/>
              <a:t>In general</a:t>
            </a:r>
          </a:p>
          <a:p>
            <a:pPr lvl="1"/>
            <a:r>
              <a:rPr lang="en-IN" sz="2400" dirty="0"/>
              <a:t>Output must be produced early</a:t>
            </a:r>
          </a:p>
          <a:p>
            <a:pPr lvl="1"/>
            <a:r>
              <a:rPr lang="en-IN" sz="2400" dirty="0"/>
              <a:t>Downstream stages require time before next period starts</a:t>
            </a:r>
          </a:p>
          <a:p>
            <a:pPr marL="0" indent="0">
              <a:buNone/>
            </a:pPr>
            <a:r>
              <a:rPr lang="en-IN" sz="2800" dirty="0">
                <a:solidFill>
                  <a:srgbClr val="72C3E8"/>
                </a:solidFill>
              </a:rPr>
              <a:t>T &lt; D (arbitrary deadline)</a:t>
            </a:r>
          </a:p>
          <a:p>
            <a:r>
              <a:rPr lang="en-IN" sz="2800" dirty="0"/>
              <a:t>Logging / diagnostics (T = 50 </a:t>
            </a:r>
            <a:r>
              <a:rPr lang="en-IN" sz="2800" dirty="0" err="1"/>
              <a:t>ms</a:t>
            </a:r>
            <a:r>
              <a:rPr lang="en-IN" sz="2800" dirty="0"/>
              <a:t>, D = 100 </a:t>
            </a:r>
            <a:r>
              <a:rPr lang="en-IN" sz="2800" dirty="0" err="1"/>
              <a:t>ms</a:t>
            </a:r>
            <a:r>
              <a:rPr lang="en-IN" sz="2800" dirty="0"/>
              <a:t>)</a:t>
            </a:r>
          </a:p>
          <a:p>
            <a:pPr lvl="1"/>
            <a:r>
              <a:rPr lang="en-IN" sz="2400" dirty="0"/>
              <a:t>Logging is not urgent</a:t>
            </a:r>
          </a:p>
          <a:p>
            <a:pPr lvl="1"/>
            <a:r>
              <a:rPr lang="en-IN" sz="2400" dirty="0"/>
              <a:t>Batching improves efficiency</a:t>
            </a:r>
          </a:p>
          <a:p>
            <a:r>
              <a:rPr lang="en-IN" sz="2800" dirty="0"/>
              <a:t>In general, when buffering is allowed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D6C80-6DEA-A60A-DD86-E7158F922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AAF1E-F303-7882-A20E-147F4165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F440E1-EDF0-D06E-407D-BB9BE7861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596" y="3200400"/>
            <a:ext cx="3077004" cy="581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5DBE2C-5D3B-9CC4-305B-123490179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0753" y="5311826"/>
            <a:ext cx="3200847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44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C1B66-2D6C-5D20-D9FD-C17513420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AC93F-5C55-3F2B-FE7C-5ED5D90E8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E1199-7328-3515-77D3-C35EDF6B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F2E866-839A-00A7-E4F4-F38DE47C34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Given a set of tasks,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{(5, 10, 10), (2, 20, 8), (4, 10, 20)}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how should they be scheduled to ensure deadlines are never violated?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26183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2E17A-3F26-FBA4-16E1-5ED79A0B4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priority preemptive scheduling (FPPS)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3784C-61C6-A4FF-77B7-4F193030D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task has a fixed priority</a:t>
            </a:r>
          </a:p>
          <a:p>
            <a:r>
              <a:rPr lang="en-US" dirty="0"/>
              <a:t>Always run the highest priority runnable process</a:t>
            </a:r>
          </a:p>
          <a:p>
            <a:r>
              <a:rPr lang="en-US" dirty="0"/>
              <a:t>Continue running till process ends or higher priority process appears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A0BC7-7B0B-1B5A-D5CE-B1193632E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93AAC9-68A6-453A-4214-0B5D297D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C2C67E-0324-BB1E-BDD3-6B0CD0BCFB13}"/>
              </a:ext>
            </a:extLst>
          </p:cNvPr>
          <p:cNvSpPr txBox="1"/>
          <p:nvPr/>
        </p:nvSpPr>
        <p:spPr>
          <a:xfrm>
            <a:off x="-45224" y="5583573"/>
            <a:ext cx="7000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dirty="0">
                <a:effectLst/>
                <a:latin typeface="Arial" panose="020B0604020202020204" pitchFamily="34" charset="0"/>
              </a:rPr>
              <a:t>CPU</a:t>
            </a:r>
            <a:endParaRPr lang="en-IN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1B7BF9CF-8E87-3591-2A82-145D93DD2C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253921"/>
              </p:ext>
            </p:extLst>
          </p:nvPr>
        </p:nvGraphicFramePr>
        <p:xfrm>
          <a:off x="381000" y="3810000"/>
          <a:ext cx="8610600" cy="1576725"/>
        </p:xfrm>
        <a:graphic>
          <a:graphicData uri="http://schemas.openxmlformats.org/drawingml/2006/table">
            <a:tbl>
              <a:tblPr/>
              <a:tblGrid>
                <a:gridCol w="272270">
                  <a:extLst>
                    <a:ext uri="{9D8B030D-6E8A-4147-A177-3AD203B41FA5}">
                      <a16:colId xmlns:a16="http://schemas.microsoft.com/office/drawing/2014/main" val="1023624253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99464956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679229798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079847425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570634696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939874951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93463693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69770433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35081962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289726995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99504939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82100827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817558638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280967693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726705186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13095361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505978461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80981529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876421291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90033999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645156357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689573455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628503707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619618137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46034649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20675101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838239964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110700343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06625873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327403989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070195907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76953799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00895338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274381329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49001942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885650028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2412413183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552954487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072543450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297529316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604425699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681338375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875901536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815515927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086878953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518901591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421978688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3545677325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136551963"/>
                    </a:ext>
                  </a:extLst>
                </a:gridCol>
                <a:gridCol w="170170">
                  <a:extLst>
                    <a:ext uri="{9D8B030D-6E8A-4147-A177-3AD203B41FA5}">
                      <a16:colId xmlns:a16="http://schemas.microsoft.com/office/drawing/2014/main" val="1719597470"/>
                    </a:ext>
                  </a:extLst>
                </a:gridCol>
              </a:tblGrid>
              <a:tr h="31534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l-GR" b="1">
                          <a:effectLst/>
                        </a:rPr>
                        <a:t>τ1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008198"/>
                  </a:ext>
                </a:extLst>
              </a:tr>
              <a:tr h="31534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080147"/>
                  </a:ext>
                </a:extLst>
              </a:tr>
              <a:tr h="31534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l-GR" b="1">
                          <a:effectLst/>
                        </a:rPr>
                        <a:t>τ2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154994"/>
                  </a:ext>
                </a:extLst>
              </a:tr>
              <a:tr h="31534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7043320"/>
                  </a:ext>
                </a:extLst>
              </a:tr>
              <a:tr h="31534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l-GR" b="1">
                          <a:effectLst/>
                        </a:rPr>
                        <a:t>τ3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 dirty="0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4127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797D336-E887-850C-E7EF-0603F7350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00084"/>
              </p:ext>
            </p:extLst>
          </p:nvPr>
        </p:nvGraphicFramePr>
        <p:xfrm>
          <a:off x="609600" y="5638800"/>
          <a:ext cx="8381989" cy="314105"/>
        </p:xfrm>
        <a:graphic>
          <a:graphicData uri="http://schemas.openxmlformats.org/drawingml/2006/table">
            <a:tbl>
              <a:tblPr/>
              <a:tblGrid>
                <a:gridCol w="171061">
                  <a:extLst>
                    <a:ext uri="{9D8B030D-6E8A-4147-A177-3AD203B41FA5}">
                      <a16:colId xmlns:a16="http://schemas.microsoft.com/office/drawing/2014/main" val="3342657995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133778397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957997004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804646998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87038326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512030284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06669695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912413825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516774042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98548106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984190895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691333797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075405353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635640384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62487451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037082863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809009322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436256685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758302803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050156817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846784149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8972335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403864406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962108169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88925773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749823415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429235608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531710023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194913218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215733340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553436385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16199911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52234404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153577477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4227128052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502520310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613770898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621957222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47589934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64436644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55502870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195860008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62672173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99735844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127988387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909035766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819214581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2982114010"/>
                    </a:ext>
                  </a:extLst>
                </a:gridCol>
                <a:gridCol w="171061">
                  <a:extLst>
                    <a:ext uri="{9D8B030D-6E8A-4147-A177-3AD203B41FA5}">
                      <a16:colId xmlns:a16="http://schemas.microsoft.com/office/drawing/2014/main" val="3672703581"/>
                    </a:ext>
                  </a:extLst>
                </a:gridCol>
              </a:tblGrid>
              <a:tr h="314105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 dirty="0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3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 dirty="0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26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3469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3194A-E109-D3F9-CFE7-17F491A70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FPPS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8E00D-910D-D3ED-35DF-320D169F2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What happens if you have multiple processes at the same priority?</a:t>
            </a:r>
          </a:p>
          <a:p>
            <a:endParaRPr lang="en-US" dirty="0"/>
          </a:p>
          <a:p>
            <a:r>
              <a:rPr lang="en-US" dirty="0"/>
              <a:t>Prohibit: each process has unique priority</a:t>
            </a:r>
          </a:p>
          <a:p>
            <a:endParaRPr lang="en-US" dirty="0"/>
          </a:p>
          <a:p>
            <a:r>
              <a:rPr lang="en-US" dirty="0"/>
              <a:t>Time-slice processes at the same priority</a:t>
            </a:r>
          </a:p>
          <a:p>
            <a:pPr lvl="1"/>
            <a:r>
              <a:rPr lang="en-US" dirty="0"/>
              <a:t>Extra context switching</a:t>
            </a:r>
          </a:p>
          <a:p>
            <a:pPr lvl="1"/>
            <a:r>
              <a:rPr lang="en-US" dirty="0"/>
              <a:t>No starvation within a priority level, everyone gets their turn</a:t>
            </a:r>
          </a:p>
          <a:p>
            <a:pPr lvl="1"/>
            <a:endParaRPr lang="en-US" dirty="0"/>
          </a:p>
          <a:p>
            <a:r>
              <a:rPr lang="en-US" dirty="0"/>
              <a:t>Processes at the same priority cannot preempt each other</a:t>
            </a:r>
          </a:p>
          <a:p>
            <a:pPr lvl="1"/>
            <a:r>
              <a:rPr lang="en-US" dirty="0"/>
              <a:t>Less context switching, so more efficient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D7889-2F8A-2E3C-CCCB-2119B6B0F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2CFA9B-82CF-3ABC-1C35-69CB22196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1703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96343-628D-8039-6AB4-A45D59CA5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sets do not always have a feasible schedule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3E578-2B24-C877-2652-1712B268F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Consider the task model:</a:t>
            </a:r>
          </a:p>
          <a:p>
            <a:r>
              <a:rPr lang="en-US" dirty="0"/>
              <a:t>P1 = (10, 20, 20)</a:t>
            </a:r>
          </a:p>
          <a:p>
            <a:r>
              <a:rPr lang="en-US" dirty="0"/>
              <a:t>P2 = (5, 9, 9)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Write down the appropriate priority levels that ensure these two tasks always finish in time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Is there any way these two tasks can be scheduled to meet all deadlines?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 schedulable if tasks require more than 100% CPPU utilization!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E07FF-BD39-14BD-3639-6AD7B69A8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348A-DF9B-1A3A-F259-0C8F05A0A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72112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1844A-CDDC-934E-F439-9C7C3BDC3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Monotonic Scheduling (RMS)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D6DA5-D155-0DDE-CD42-A5C98C9A2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Result from Liu &amp; Layland, 1973 (JACM)</a:t>
            </a:r>
          </a:p>
          <a:p>
            <a:endParaRPr lang="en-US" dirty="0"/>
          </a:p>
          <a:p>
            <a:r>
              <a:rPr lang="en-US" dirty="0"/>
              <a:t>Processes with shorter period given higher priority</a:t>
            </a:r>
          </a:p>
          <a:p>
            <a:endParaRPr lang="en-US" dirty="0"/>
          </a:p>
          <a:p>
            <a:r>
              <a:rPr lang="en-US" dirty="0"/>
              <a:t>Key result: RMS is optimal</a:t>
            </a:r>
            <a:br>
              <a:rPr lang="en-US" dirty="0"/>
            </a:br>
            <a:r>
              <a:rPr lang="en-US" dirty="0"/>
              <a:t>“If there is fixed priority schedule that meets all deadlines, then RMS will produce  a feasible schedule”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5A5BAE-3538-D9FF-1B58-50E366EF4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035F9-716E-A203-387A-6659AD59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391ABC-F9EA-8128-E359-6EF737B2F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3191667"/>
            <a:ext cx="3229069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3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26CC230-BF5F-7A08-2055-46284C25DE92}"/>
              </a:ext>
            </a:extLst>
          </p:cNvPr>
          <p:cNvSpPr txBox="1">
            <a:spLocks/>
          </p:cNvSpPr>
          <p:nvPr/>
        </p:nvSpPr>
        <p:spPr bwMode="auto">
          <a:xfrm>
            <a:off x="188407" y="1524000"/>
            <a:ext cx="8839200" cy="2879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the tasks shown:</a:t>
            </a:r>
            <a:br>
              <a:rPr lang="en-US" dirty="0"/>
            </a:br>
            <a:r>
              <a:rPr lang="en-US" dirty="0"/>
              <a:t>p1 = (10,20,20); p2 = (15,30,30)</a:t>
            </a:r>
          </a:p>
          <a:p>
            <a:r>
              <a:rPr lang="en-US" dirty="0"/>
              <a:t>Is a schedule impossible?</a:t>
            </a:r>
          </a:p>
          <a:p>
            <a:r>
              <a:rPr lang="en-US" dirty="0"/>
              <a:t>Is RMS able to give the schedule?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340302-AE90-5950-D173-035D42741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RMS missing a deadline</a:t>
            </a:r>
            <a:endParaRPr lang="en-IN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B71D986-64AD-B09B-03E5-A0A4F30357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99268"/>
              </p:ext>
            </p:extLst>
          </p:nvPr>
        </p:nvGraphicFramePr>
        <p:xfrm>
          <a:off x="304793" y="4724400"/>
          <a:ext cx="8382007" cy="1466850"/>
        </p:xfrm>
        <a:graphic>
          <a:graphicData uri="http://schemas.openxmlformats.org/drawingml/2006/table">
            <a:tbl>
              <a:tblPr/>
              <a:tblGrid>
                <a:gridCol w="259907">
                  <a:extLst>
                    <a:ext uri="{9D8B030D-6E8A-4147-A177-3AD203B41FA5}">
                      <a16:colId xmlns:a16="http://schemas.microsoft.com/office/drawing/2014/main" val="2089707505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409684141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9440407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497304009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47696622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725165320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62351839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303630525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186271318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644668635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624410199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915821722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959911938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01617633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520473773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03901463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335632121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000024315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71967366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587011983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533436220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409617072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249017911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380238052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62115642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773557047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38322083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517288808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953240187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881853645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364113997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93093790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659231376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67842159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39994042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759026300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4656983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4119802059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303248230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995114662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329661720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795285122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222378033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197395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646950396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543302501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182833211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498461127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4189654614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2913602481"/>
                    </a:ext>
                  </a:extLst>
                </a:gridCol>
                <a:gridCol w="162442">
                  <a:extLst>
                    <a:ext uri="{9D8B030D-6E8A-4147-A177-3AD203B41FA5}">
                      <a16:colId xmlns:a16="http://schemas.microsoft.com/office/drawing/2014/main" val="3346962029"/>
                    </a:ext>
                  </a:extLst>
                </a:gridCol>
              </a:tblGrid>
              <a:tr h="10001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l-GR" b="1">
                          <a:effectLst/>
                        </a:rPr>
                        <a:t>τ1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9161687"/>
                  </a:ext>
                </a:extLst>
              </a:tr>
              <a:tr h="10001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0746736"/>
                  </a:ext>
                </a:extLst>
              </a:tr>
              <a:tr h="10001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l-GR" b="1">
                          <a:effectLst/>
                        </a:rPr>
                        <a:t>τ2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0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3494502"/>
                  </a:ext>
                </a:extLst>
              </a:tr>
              <a:tr h="10001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 dirty="0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0580442"/>
                  </a:ext>
                </a:extLst>
              </a:tr>
              <a:tr h="10001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IN" b="1" dirty="0">
                        <a:effectLst/>
                      </a:endParaRP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2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IN" sz="100" b="1" dirty="0">
                          <a:effectLst/>
                        </a:rPr>
                        <a:t>1</a:t>
                      </a:r>
                    </a:p>
                  </a:txBody>
                  <a:tcPr marL="14288" marR="14288" marT="9525" marB="9525" anchor="b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A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398860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3CCA0-8B11-B38C-24AA-9CDA0287E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80B742-9DC2-9859-B94D-B9D5B5C65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A2AE0D-DA98-2073-3E82-8A4190F1C977}"/>
              </a:ext>
            </a:extLst>
          </p:cNvPr>
          <p:cNvSpPr txBox="1"/>
          <p:nvPr/>
        </p:nvSpPr>
        <p:spPr>
          <a:xfrm>
            <a:off x="-76200" y="5879068"/>
            <a:ext cx="7000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dirty="0">
                <a:effectLst/>
                <a:latin typeface="Arial" panose="020B0604020202020204" pitchFamily="34" charset="0"/>
              </a:rPr>
              <a:t>CPU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893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15632</TotalTime>
  <Words>2082</Words>
  <Application>Microsoft Office PowerPoint</Application>
  <PresentationFormat>On-screen Show (4:3)</PresentationFormat>
  <Paragraphs>737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Wingdings</vt:lpstr>
      <vt:lpstr>Office Theme</vt:lpstr>
      <vt:lpstr>Software for Embedded Systems</vt:lpstr>
      <vt:lpstr>Where we are</vt:lpstr>
      <vt:lpstr>Organization of the application layer</vt:lpstr>
      <vt:lpstr>Pattern I: Monolithic controller</vt:lpstr>
      <vt:lpstr>Pattern II: Coordinated controllers</vt:lpstr>
      <vt:lpstr>Pattern III: Event dispatcher</vt:lpstr>
      <vt:lpstr>Event ownership at application level</vt:lpstr>
      <vt:lpstr>Comparison of application level patterns</vt:lpstr>
      <vt:lpstr>Control flow visibility</vt:lpstr>
      <vt:lpstr>Ease of adding modules</vt:lpstr>
      <vt:lpstr>Final distinctions</vt:lpstr>
      <vt:lpstr>Where we are</vt:lpstr>
      <vt:lpstr>Execution model = Rules of Running</vt:lpstr>
      <vt:lpstr>Models and contexts</vt:lpstr>
      <vt:lpstr>The superloop</vt:lpstr>
      <vt:lpstr>Multitasking</vt:lpstr>
      <vt:lpstr>The cyclic executive model</vt:lpstr>
      <vt:lpstr>What do you do inside an interrupt service routine?</vt:lpstr>
      <vt:lpstr>Typical ISR</vt:lpstr>
      <vt:lpstr>CE + Interrupts</vt:lpstr>
      <vt:lpstr>Cooperative multitasking</vt:lpstr>
      <vt:lpstr>Operating systems</vt:lpstr>
      <vt:lpstr>Operating systems for conventional vs embedded systems</vt:lpstr>
      <vt:lpstr>Embedded operating systems</vt:lpstr>
      <vt:lpstr>Types of real time constraints</vt:lpstr>
      <vt:lpstr>What factors make real-time hard?</vt:lpstr>
      <vt:lpstr>Real time operating systems</vt:lpstr>
      <vt:lpstr>RTOS Task Model</vt:lpstr>
      <vt:lpstr>Periods can be very different for different tasks</vt:lpstr>
      <vt:lpstr>Can we have period (T) different from deadline(D)? </vt:lpstr>
      <vt:lpstr>Scheduling</vt:lpstr>
      <vt:lpstr>Fixed priority preemptive scheduling (FPPS)</vt:lpstr>
      <vt:lpstr>FPPS</vt:lpstr>
      <vt:lpstr>Task sets do not always have a feasible schedule</vt:lpstr>
      <vt:lpstr>Rate Monotonic Scheduling (RMS)</vt:lpstr>
      <vt:lpstr>RMS missing a deadline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732</cp:revision>
  <dcterms:created xsi:type="dcterms:W3CDTF">2010-01-15T20:22:21Z</dcterms:created>
  <dcterms:modified xsi:type="dcterms:W3CDTF">2026-03-19T06:34:40Z</dcterms:modified>
</cp:coreProperties>
</file>