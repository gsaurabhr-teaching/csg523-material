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4"/>
  </p:notesMasterIdLst>
  <p:sldIdLst>
    <p:sldId id="337" r:id="rId2"/>
    <p:sldId id="385" r:id="rId3"/>
    <p:sldId id="386" r:id="rId4"/>
    <p:sldId id="387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96" r:id="rId13"/>
    <p:sldId id="397" r:id="rId14"/>
    <p:sldId id="398" r:id="rId15"/>
    <p:sldId id="399" r:id="rId16"/>
    <p:sldId id="400" r:id="rId17"/>
    <p:sldId id="401" r:id="rId18"/>
    <p:sldId id="402" r:id="rId19"/>
    <p:sldId id="403" r:id="rId20"/>
    <p:sldId id="404" r:id="rId21"/>
    <p:sldId id="405" r:id="rId22"/>
    <p:sldId id="407" r:id="rId23"/>
    <p:sldId id="406" r:id="rId24"/>
    <p:sldId id="408" r:id="rId25"/>
    <p:sldId id="409" r:id="rId26"/>
    <p:sldId id="410" r:id="rId27"/>
    <p:sldId id="411" r:id="rId28"/>
    <p:sldId id="412" r:id="rId29"/>
    <p:sldId id="413" r:id="rId30"/>
    <p:sldId id="415" r:id="rId31"/>
    <p:sldId id="416" r:id="rId32"/>
    <p:sldId id="414" r:id="rId33"/>
    <p:sldId id="417" r:id="rId34"/>
    <p:sldId id="419" r:id="rId35"/>
    <p:sldId id="418" r:id="rId36"/>
    <p:sldId id="420" r:id="rId37"/>
    <p:sldId id="421" r:id="rId38"/>
    <p:sldId id="423" r:id="rId39"/>
    <p:sldId id="422" r:id="rId40"/>
    <p:sldId id="424" r:id="rId41"/>
    <p:sldId id="425" r:id="rId42"/>
    <p:sldId id="426" r:id="rId4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C3E8"/>
    <a:srgbClr val="EA3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2730" autoAdjust="0"/>
  </p:normalViewPr>
  <p:slideViewPr>
    <p:cSldViewPr>
      <p:cViewPr varScale="1">
        <p:scale>
          <a:sx n="92" d="100"/>
          <a:sy n="92" d="100"/>
        </p:scale>
        <p:origin x="339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3/20/2026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C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Software for Embedded Systems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6C6C-26BA-4589-B379-D2F196B56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FE50A-2F41-42E0-AF97-7F23144A5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4546173" cy="5014912"/>
          </a:xfrm>
        </p:spPr>
        <p:txBody>
          <a:bodyPr/>
          <a:lstStyle/>
          <a:p>
            <a:r>
              <a:rPr lang="en-US" sz="2400" dirty="0"/>
              <a:t>Modeling </a:t>
            </a:r>
            <a:r>
              <a:rPr lang="en-US" sz="2400" dirty="0">
                <a:sym typeface="Wingdings" panose="05000000000000000000" pitchFamily="2" charset="2"/>
              </a:rPr>
              <a:t> correct behavior by ensuring we have ‘</a:t>
            </a:r>
            <a:r>
              <a:rPr lang="en-US" sz="2400" dirty="0">
                <a:solidFill>
                  <a:srgbClr val="72C3E8"/>
                </a:solidFill>
                <a:sym typeface="Wingdings" panose="05000000000000000000" pitchFamily="2" charset="2"/>
              </a:rPr>
              <a:t>thought</a:t>
            </a:r>
            <a:r>
              <a:rPr lang="en-US" sz="2400" dirty="0">
                <a:sym typeface="Wingdings" panose="05000000000000000000" pitchFamily="2" charset="2"/>
              </a:rPr>
              <a:t>’ of all possibilities</a:t>
            </a:r>
          </a:p>
          <a:p>
            <a:r>
              <a:rPr lang="en-US" sz="2400" dirty="0">
                <a:sym typeface="Wingdings" panose="05000000000000000000" pitchFamily="2" charset="2"/>
              </a:rPr>
              <a:t>but </a:t>
            </a:r>
            <a:r>
              <a:rPr lang="en-US" sz="2400" dirty="0">
                <a:solidFill>
                  <a:srgbClr val="72C3E8"/>
                </a:solidFill>
                <a:sym typeface="Wingdings" panose="05000000000000000000" pitchFamily="2" charset="2"/>
              </a:rPr>
              <a:t>not yet implemented</a:t>
            </a:r>
            <a:r>
              <a:rPr lang="en-US" sz="2400" dirty="0">
                <a:sym typeface="Wingdings" panose="05000000000000000000" pitchFamily="2" charset="2"/>
              </a:rPr>
              <a:t>!</a:t>
            </a:r>
          </a:p>
          <a:p>
            <a:r>
              <a:rPr lang="en-US" sz="2400" dirty="0">
                <a:sym typeface="Wingdings" panose="05000000000000000000" pitchFamily="2" charset="2"/>
              </a:rPr>
              <a:t>Firmware architecture (so far) </a:t>
            </a:r>
          </a:p>
          <a:p>
            <a:pPr lvl="1"/>
            <a:r>
              <a:rPr lang="en-US" sz="2000" dirty="0">
                <a:solidFill>
                  <a:srgbClr val="EA3F26"/>
                </a:solidFill>
                <a:sym typeface="Wingdings" panose="05000000000000000000" pitchFamily="2" charset="2"/>
              </a:rPr>
              <a:t>what</a:t>
            </a:r>
            <a:r>
              <a:rPr lang="en-US" sz="2000" dirty="0">
                <a:sym typeface="Wingdings" panose="05000000000000000000" pitchFamily="2" charset="2"/>
              </a:rPr>
              <a:t> pieces of code (loosely coupled, modules) do we need</a:t>
            </a:r>
          </a:p>
          <a:p>
            <a:pPr lvl="1"/>
            <a:r>
              <a:rPr lang="en-US" sz="2000" dirty="0">
                <a:solidFill>
                  <a:srgbClr val="EA3F26"/>
                </a:solidFill>
                <a:sym typeface="Wingdings" panose="05000000000000000000" pitchFamily="2" charset="2"/>
              </a:rPr>
              <a:t>how</a:t>
            </a:r>
            <a:r>
              <a:rPr lang="en-US" sz="2000" dirty="0">
                <a:sym typeface="Wingdings" panose="05000000000000000000" pitchFamily="2" charset="2"/>
              </a:rPr>
              <a:t> these pieces control each other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0D959-B3FA-4F8D-8684-9AA768BF2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35DAB-48D3-4143-83FD-FB11C25B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79CD4A-3BAE-436E-B06C-2E7B3A9042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98573" y="1446211"/>
            <a:ext cx="4293027" cy="3073151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A5EFE70-BA98-490F-88B2-2C03F1670F81}"/>
              </a:ext>
            </a:extLst>
          </p:cNvPr>
          <p:cNvSpPr txBox="1">
            <a:spLocks/>
          </p:cNvSpPr>
          <p:nvPr/>
        </p:nvSpPr>
        <p:spPr bwMode="auto">
          <a:xfrm>
            <a:off x="152400" y="4876799"/>
            <a:ext cx="8839200" cy="1736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ym typeface="Wingdings" panose="05000000000000000000" pitchFamily="2" charset="2"/>
              </a:rPr>
              <a:t>What have we still not decided?</a:t>
            </a:r>
          </a:p>
          <a:p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Application layer organization – how is the main logic implemented</a:t>
            </a:r>
          </a:p>
          <a:p>
            <a:r>
              <a:rPr lang="en-US" sz="2400" dirty="0">
                <a:solidFill>
                  <a:srgbClr val="EA3F26"/>
                </a:solidFill>
                <a:sym typeface="Wingdings" panose="05000000000000000000" pitchFamily="2" charset="2"/>
              </a:rPr>
              <a:t>When </a:t>
            </a:r>
            <a:r>
              <a:rPr lang="en-US" sz="2400" dirty="0">
                <a:sym typeface="Wingdings" panose="05000000000000000000" pitchFamily="2" charset="2"/>
              </a:rPr>
              <a:t>do these pieces of code run?</a:t>
            </a:r>
          </a:p>
        </p:txBody>
      </p:sp>
    </p:spTree>
    <p:extLst>
      <p:ext uri="{BB962C8B-B14F-4D97-AF65-F5344CB8AC3E}">
        <p14:creationId xmlns:p14="http://schemas.microsoft.com/office/powerpoint/2010/main" val="233316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EDBBD-7815-4F90-8740-2769965C9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 of the application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0FDBF-39F5-41B9-94E9-87F94477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Application layer is the main (gooey) logic of your system; but within the app layer:</a:t>
            </a:r>
          </a:p>
          <a:p>
            <a:r>
              <a:rPr lang="en-US" dirty="0"/>
              <a:t>Is there a single controller that decides what to do next?</a:t>
            </a:r>
          </a:p>
          <a:p>
            <a:r>
              <a:rPr lang="en-US" dirty="0"/>
              <a:t>Are there multiple controllers?</a:t>
            </a:r>
          </a:p>
          <a:p>
            <a:r>
              <a:rPr lang="en-US" dirty="0"/>
              <a:t>Who receives events from the lower layers?</a:t>
            </a:r>
          </a:p>
          <a:p>
            <a:r>
              <a:rPr lang="en-US" dirty="0"/>
              <a:t>Who decides the mode or ‘state’?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DA3D6-CF4F-44B5-A015-FA8A179CF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0C85B-39D3-4CAC-AFCE-04BB6E168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143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1468F-25C2-4CAC-9987-DE189BF8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I: Monolithic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5141B-042C-4406-B6ED-8E5B5D77A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One central state machine that handles all state transitions and events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5ED3C-AF8F-4D05-A6DE-44E40EA1B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132ACE-58A5-4406-862B-7A0A696B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D03711-127B-4157-AF46-371842D84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90800"/>
            <a:ext cx="1752600" cy="3527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BEC9AE-0B61-49C7-8A77-1F4405109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438400"/>
            <a:ext cx="4038600" cy="2860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51DD68-A85B-4172-883C-D391CE573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2818475"/>
            <a:ext cx="4038600" cy="35830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B26B9D-B287-4400-AA50-DD27858284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3923" y="3429000"/>
            <a:ext cx="2798157" cy="15301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522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2BC5-ED82-45AF-98D8-BD4D91FC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II: Coordinated controllers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AD11B-EEBD-4F2C-B90B-CBA80FA8D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Separate state machines control therapy, alarm and UI</a:t>
            </a:r>
          </a:p>
          <a:p>
            <a:r>
              <a:rPr lang="en-US" sz="2400" dirty="0"/>
              <a:t>Coordination via defined interfaces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22A42-6844-4CCF-BBA1-1D79F0A22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871F3-1A09-4CC2-8985-0C6E81AC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C2BBA2-6B52-471D-947D-C659A7897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362200"/>
            <a:ext cx="3459193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BA3B1D-0D03-47DF-B117-EAC30870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825313"/>
            <a:ext cx="3581400" cy="20326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34F7E5-5E17-4CA3-B7C8-956E64CF7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2362200"/>
            <a:ext cx="2895600" cy="19213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E243BA-02C8-4253-A33D-E4D2E3F73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0924" y="4075461"/>
            <a:ext cx="3057952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42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85BBD-20FC-4A42-8589-EF018D7E6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III: Event dispatcher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4E822-1124-4F9F-98B4-4ED1070C7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One central dispatcher receives events</a:t>
            </a:r>
          </a:p>
          <a:p>
            <a:r>
              <a:rPr lang="en-US" sz="2400" dirty="0"/>
              <a:t>Separate controllers subscribe to events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3D13E-ACCD-43A5-9007-17B879D00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4A240-8AA9-42B5-8214-D6ECED31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F49AEB-5DE4-44ED-B36F-F3FF69834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286000"/>
            <a:ext cx="3503449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B9CFE5-8A71-4FD4-98E9-B1EF1CEF1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668" y="2286000"/>
            <a:ext cx="3873083" cy="42580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7F0001-114D-4571-9FCC-43D475845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099" y="3429000"/>
            <a:ext cx="4124901" cy="13527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3F157D-41B3-47AD-AE6C-24D824882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996" y="4865260"/>
            <a:ext cx="2896004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0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54CFDEB-D860-495E-92C1-68DF7ABF3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73" y="1368322"/>
            <a:ext cx="8985395" cy="34322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B1EA9F-374D-4869-9151-7A70469B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ownership at application level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846B5EC-541D-4406-80C2-69AA0C4314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1083941"/>
              </p:ext>
            </p:extLst>
          </p:nvPr>
        </p:nvGraphicFramePr>
        <p:xfrm>
          <a:off x="152400" y="2523680"/>
          <a:ext cx="6096000" cy="3193136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387486778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9972853"/>
                    </a:ext>
                  </a:extLst>
                </a:gridCol>
              </a:tblGrid>
              <a:tr h="63826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Event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Owned 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616004"/>
                  </a:ext>
                </a:extLst>
              </a:tr>
              <a:tr h="638264">
                <a:tc>
                  <a:txBody>
                    <a:bodyPr/>
                    <a:lstStyle/>
                    <a:p>
                      <a:r>
                        <a:rPr lang="en-US"/>
                        <a:t>Start 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Therapy Controller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623076"/>
                  </a:ext>
                </a:extLst>
              </a:tr>
              <a:tr h="638264">
                <a:tc>
                  <a:txBody>
                    <a:bodyPr/>
                    <a:lstStyle/>
                    <a:p>
                      <a:r>
                        <a:rPr lang="en-US" dirty="0"/>
                        <a:t>Occlusion detected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Alarm Manager (may notify Therapy)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9238237"/>
                  </a:ext>
                </a:extLst>
              </a:tr>
              <a:tr h="638264">
                <a:tc>
                  <a:txBody>
                    <a:bodyPr/>
                    <a:lstStyle/>
                    <a:p>
                      <a:r>
                        <a:rPr lang="en-US"/>
                        <a:t>Timer tick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Therapy Controller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226560"/>
                  </a:ext>
                </a:extLst>
              </a:tr>
              <a:tr h="638264">
                <a:tc>
                  <a:txBody>
                    <a:bodyPr/>
                    <a:lstStyle/>
                    <a:p>
                      <a:r>
                        <a:rPr lang="en-US" dirty="0"/>
                        <a:t>Low battery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Alarm Manager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33668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4B0DD-3FAE-4D3F-8E21-7EB22244A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47277-7852-4306-8684-26084DFF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0F03B6-3B99-4E1E-89DC-AFD8834B9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422" y="4890232"/>
            <a:ext cx="2872146" cy="183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73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A2980-995A-4B11-AEDE-27165ECD6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application level patterns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A6F2883-E492-429F-8299-B27E3B5F0C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4334499"/>
              </p:ext>
            </p:extLst>
          </p:nvPr>
        </p:nvGraphicFramePr>
        <p:xfrm>
          <a:off x="-12192" y="1502366"/>
          <a:ext cx="7007352" cy="2347504"/>
        </p:xfrm>
        <a:graphic>
          <a:graphicData uri="http://schemas.openxmlformats.org/drawingml/2006/table">
            <a:tbl>
              <a:tblPr/>
              <a:tblGrid>
                <a:gridCol w="2335784">
                  <a:extLst>
                    <a:ext uri="{9D8B030D-6E8A-4147-A177-3AD203B41FA5}">
                      <a16:colId xmlns:a16="http://schemas.microsoft.com/office/drawing/2014/main" val="2058590319"/>
                    </a:ext>
                  </a:extLst>
                </a:gridCol>
                <a:gridCol w="2335784">
                  <a:extLst>
                    <a:ext uri="{9D8B030D-6E8A-4147-A177-3AD203B41FA5}">
                      <a16:colId xmlns:a16="http://schemas.microsoft.com/office/drawing/2014/main" val="440336953"/>
                    </a:ext>
                  </a:extLst>
                </a:gridCol>
                <a:gridCol w="2335784">
                  <a:extLst>
                    <a:ext uri="{9D8B030D-6E8A-4147-A177-3AD203B41FA5}">
                      <a16:colId xmlns:a16="http://schemas.microsoft.com/office/drawing/2014/main" val="781431631"/>
                    </a:ext>
                  </a:extLst>
                </a:gridCol>
              </a:tblGrid>
              <a:tr h="31568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Pattern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Strength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Weakness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88423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/>
                        <a:t>Monolithic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Becomes large, mixed concerns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9688604"/>
                  </a:ext>
                </a:extLst>
              </a:tr>
              <a:tr h="789214">
                <a:tc>
                  <a:txBody>
                    <a:bodyPr/>
                    <a:lstStyle/>
                    <a:p>
                      <a:r>
                        <a:rPr lang="en-US"/>
                        <a:t>Coordinated Controllers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Clear separation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Ordering &amp; coupling must be managed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94306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/>
                        <a:t>Dispatcher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Modular &amp; scalable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Indirect control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431363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09600-D0A9-40B1-A3BC-3D8C4B988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F38C47-A017-470F-8557-75F5CE8CD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0C7765-B1CD-46AA-ACDA-3F1DD1F89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98355"/>
              </p:ext>
            </p:extLst>
          </p:nvPr>
        </p:nvGraphicFramePr>
        <p:xfrm>
          <a:off x="1524000" y="3977094"/>
          <a:ext cx="7620000" cy="2579320"/>
        </p:xfrm>
        <a:graphic>
          <a:graphicData uri="http://schemas.openxmlformats.org/drawingml/2006/table">
            <a:tbl>
              <a:tblPr/>
              <a:tblGrid>
                <a:gridCol w="2540000">
                  <a:extLst>
                    <a:ext uri="{9D8B030D-6E8A-4147-A177-3AD203B41FA5}">
                      <a16:colId xmlns:a16="http://schemas.microsoft.com/office/drawing/2014/main" val="68540720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99746032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674184330"/>
                    </a:ext>
                  </a:extLst>
                </a:gridCol>
              </a:tblGrid>
              <a:tr h="40826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Coordinated Controllers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Dispatcher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783854"/>
                  </a:ext>
                </a:extLst>
              </a:tr>
              <a:tr h="714457">
                <a:tc>
                  <a:txBody>
                    <a:bodyPr/>
                    <a:lstStyle/>
                    <a:p>
                      <a:r>
                        <a:rPr lang="en-US"/>
                        <a:t>Who knows whom?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Controllers know each other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Controllers know only dispatcher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7242618"/>
                  </a:ext>
                </a:extLst>
              </a:tr>
              <a:tr h="408261">
                <a:tc>
                  <a:txBody>
                    <a:bodyPr/>
                    <a:lstStyle/>
                    <a:p>
                      <a:r>
                        <a:rPr lang="en-US"/>
                        <a:t>Direct function calls?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499702"/>
                  </a:ext>
                </a:extLst>
              </a:tr>
              <a:tr h="408261">
                <a:tc>
                  <a:txBody>
                    <a:bodyPr/>
                    <a:lstStyle/>
                    <a:p>
                      <a:r>
                        <a:rPr lang="en-US"/>
                        <a:t>Coupling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Explicit, directional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Indirect, via event bus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5322514"/>
                  </a:ext>
                </a:extLst>
              </a:tr>
              <a:tr h="408261">
                <a:tc>
                  <a:txBody>
                    <a:bodyPr/>
                    <a:lstStyle/>
                    <a:p>
                      <a:r>
                        <a:rPr lang="en-US"/>
                        <a:t>Compile-time dependency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8746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414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8C114-0AFB-4C38-B91B-5C479ECA7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visibility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F108C-556F-4BAA-98CF-9759F8F746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Coordinated Controllers</a:t>
            </a:r>
          </a:p>
          <a:p>
            <a:r>
              <a:rPr lang="en-US" dirty="0"/>
              <a:t>Control flow is explicit.</a:t>
            </a:r>
          </a:p>
          <a:p>
            <a:r>
              <a:rPr lang="en-US" dirty="0"/>
              <a:t>You can trace calls statically.</a:t>
            </a:r>
          </a:p>
          <a:p>
            <a:r>
              <a:rPr lang="en-US" dirty="0"/>
              <a:t>Easier to reason locally.</a:t>
            </a:r>
          </a:p>
          <a:p>
            <a:r>
              <a:rPr lang="en-US" dirty="0"/>
              <a:t>Harder to scale globally.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31A8E-401B-436A-9646-7D2BCD0154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Dispatcher</a:t>
            </a:r>
          </a:p>
          <a:p>
            <a:r>
              <a:rPr lang="en-US" dirty="0"/>
              <a:t>Control flow is indirect.</a:t>
            </a:r>
          </a:p>
          <a:p>
            <a:r>
              <a:rPr lang="en-US" dirty="0"/>
              <a:t>Requires mental model of event routing.</a:t>
            </a:r>
          </a:p>
          <a:p>
            <a:r>
              <a:rPr lang="en-US" dirty="0"/>
              <a:t>Scales better.</a:t>
            </a:r>
          </a:p>
          <a:p>
            <a:r>
              <a:rPr lang="en-US" dirty="0"/>
              <a:t>Harder to trace.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CF816-06E1-423F-B4EE-7B204CBB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562CD-3B9F-4118-A993-418E27DFC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77344-E1C7-49F4-9630-5A0F623202D9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8005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3194B-BBFC-4FF4-86FC-526CBA61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Ease of adding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863E8-8424-468B-BFBB-6736D502F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51037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Coordinated Controllers</a:t>
            </a:r>
          </a:p>
          <a:p>
            <a:r>
              <a:rPr lang="en-US" dirty="0"/>
              <a:t>Every new controller may require:</a:t>
            </a:r>
          </a:p>
          <a:p>
            <a:pPr lvl="1"/>
            <a:r>
              <a:rPr lang="en-US" dirty="0"/>
              <a:t>new direct calls</a:t>
            </a:r>
          </a:p>
          <a:p>
            <a:pPr lvl="1"/>
            <a:r>
              <a:rPr lang="en-US" dirty="0"/>
              <a:t>updated dependencies</a:t>
            </a:r>
          </a:p>
          <a:p>
            <a:pPr lvl="1"/>
            <a:r>
              <a:rPr lang="en-US" dirty="0"/>
              <a:t>careful ordering</a:t>
            </a:r>
          </a:p>
          <a:p>
            <a:r>
              <a:rPr lang="en-US" dirty="0"/>
              <a:t>The dependency graph grows quadratically.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4004B-EC70-4BC3-94DB-92C7D7A59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51037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Dispatcher Pattern</a:t>
            </a:r>
          </a:p>
          <a:p>
            <a:r>
              <a:rPr lang="en-US" dirty="0"/>
              <a:t>New module:</a:t>
            </a:r>
          </a:p>
          <a:p>
            <a:pPr lvl="1"/>
            <a:r>
              <a:rPr lang="en-US" dirty="0"/>
              <a:t>subscribes to events</a:t>
            </a:r>
          </a:p>
          <a:p>
            <a:pPr lvl="1"/>
            <a:r>
              <a:rPr lang="en-US" dirty="0"/>
              <a:t>no other controller modified</a:t>
            </a:r>
          </a:p>
          <a:p>
            <a:r>
              <a:rPr lang="en-US" dirty="0"/>
              <a:t>The dependency graph remains star-shaped.</a:t>
            </a:r>
          </a:p>
          <a:p>
            <a:r>
              <a:rPr lang="en-US" dirty="0"/>
              <a:t>That’s the scaling advantage.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B022C-3FA9-469B-A3E5-A1199FEE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8E159-FAD3-4F92-913F-C745DD2C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77344-E1C7-49F4-9630-5A0F623202D9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DBFF589-E76D-45F2-979E-C8E3DBAF51C5}"/>
              </a:ext>
            </a:extLst>
          </p:cNvPr>
          <p:cNvSpPr txBox="1">
            <a:spLocks/>
          </p:cNvSpPr>
          <p:nvPr/>
        </p:nvSpPr>
        <p:spPr bwMode="auto">
          <a:xfrm>
            <a:off x="24384" y="1371601"/>
            <a:ext cx="904341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 want to add logging, safety monitor, UI refresh</a:t>
            </a:r>
          </a:p>
        </p:txBody>
      </p:sp>
    </p:spTree>
    <p:extLst>
      <p:ext uri="{BB962C8B-B14F-4D97-AF65-F5344CB8AC3E}">
        <p14:creationId xmlns:p14="http://schemas.microsoft.com/office/powerpoint/2010/main" val="194543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30A05-5EAE-4E3E-8B73-B9672727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distinctions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4B083-2277-4497-A306-E6A6C7CB2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895600"/>
            <a:ext cx="4038600" cy="3581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Coordinated Controllers</a:t>
            </a:r>
          </a:p>
          <a:p>
            <a:r>
              <a:rPr lang="en-US" dirty="0"/>
              <a:t>Small system</a:t>
            </a:r>
          </a:p>
          <a:p>
            <a:r>
              <a:rPr lang="en-US" dirty="0"/>
              <a:t>Safety-critical clarity needed</a:t>
            </a:r>
          </a:p>
          <a:p>
            <a:r>
              <a:rPr lang="en-US" dirty="0"/>
              <a:t>Explicit authority required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CA36D-D7A8-4E40-9573-EF920E1B2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2895600"/>
            <a:ext cx="4038600" cy="3581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Dispatcher</a:t>
            </a:r>
          </a:p>
          <a:p>
            <a:r>
              <a:rPr lang="en-US" dirty="0"/>
              <a:t>Large system</a:t>
            </a:r>
          </a:p>
          <a:p>
            <a:r>
              <a:rPr lang="en-US" dirty="0"/>
              <a:t>Many loosely coupled modules</a:t>
            </a:r>
          </a:p>
          <a:p>
            <a:r>
              <a:rPr lang="en-US" dirty="0"/>
              <a:t>Plugin-style extensibility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B747A-994D-4B46-9502-18713504A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F840B-D707-4CD8-9786-AE347F38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877344-E1C7-49F4-9630-5A0F623202D9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graphicFrame>
        <p:nvGraphicFramePr>
          <p:cNvPr id="10" name="Content Placeholder 6">
            <a:extLst>
              <a:ext uri="{FF2B5EF4-FFF2-40B4-BE49-F238E27FC236}">
                <a16:creationId xmlns:a16="http://schemas.microsoft.com/office/drawing/2014/main" id="{272A0F41-7E64-4EB4-A027-C7E84E0322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8667698"/>
              </p:ext>
            </p:extLst>
          </p:nvPr>
        </p:nvGraphicFramePr>
        <p:xfrm>
          <a:off x="228600" y="1388208"/>
          <a:ext cx="8610600" cy="1264392"/>
        </p:xfrm>
        <a:graphic>
          <a:graphicData uri="http://schemas.openxmlformats.org/drawingml/2006/table">
            <a:tbl>
              <a:tblPr/>
              <a:tblGrid>
                <a:gridCol w="2870200">
                  <a:extLst>
                    <a:ext uri="{9D8B030D-6E8A-4147-A177-3AD203B41FA5}">
                      <a16:colId xmlns:a16="http://schemas.microsoft.com/office/drawing/2014/main" val="1370720198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1402076987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6127971"/>
                    </a:ext>
                  </a:extLst>
                </a:gridCol>
              </a:tblGrid>
              <a:tr h="26254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Question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Coordinated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Dispatcher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002841"/>
                  </a:ext>
                </a:extLst>
              </a:tr>
              <a:tr h="262548">
                <a:tc>
                  <a:txBody>
                    <a:bodyPr/>
                    <a:lstStyle/>
                    <a:p>
                      <a:r>
                        <a:rPr lang="en-US" sz="1800"/>
                        <a:t>Who stops infusion?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Alarm calls Therapy directly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Alarm emits STOP event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032997"/>
                  </a:ext>
                </a:extLst>
              </a:tr>
              <a:tr h="262548">
                <a:tc>
                  <a:txBody>
                    <a:bodyPr/>
                    <a:lstStyle/>
                    <a:p>
                      <a:r>
                        <a:rPr lang="en-US" sz="1800" dirty="0"/>
                        <a:t>Who routes events?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Caller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Dispatcher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3196688"/>
                  </a:ext>
                </a:extLst>
              </a:tr>
              <a:tr h="262548">
                <a:tc>
                  <a:txBody>
                    <a:bodyPr/>
                    <a:lstStyle/>
                    <a:p>
                      <a:r>
                        <a:rPr lang="en-US" sz="1800"/>
                        <a:t>Where is coupling expressed?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Function calls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Subscription list</a:t>
                      </a:r>
                    </a:p>
                  </a:txBody>
                  <a:tcPr marL="41779" marR="41779" marT="20889" marB="208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038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303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6C6C-26BA-4589-B379-D2F196B56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FE50A-2F41-42E0-AF97-7F23144A5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4546173" cy="5014912"/>
          </a:xfrm>
        </p:spPr>
        <p:txBody>
          <a:bodyPr/>
          <a:lstStyle/>
          <a:p>
            <a:r>
              <a:rPr lang="en-US" sz="2400" dirty="0"/>
              <a:t>Modeling </a:t>
            </a:r>
            <a:r>
              <a:rPr lang="en-US" sz="2400" dirty="0">
                <a:sym typeface="Wingdings" panose="05000000000000000000" pitchFamily="2" charset="2"/>
              </a:rPr>
              <a:t> correct behavior by ensuring we have ‘</a:t>
            </a:r>
            <a:r>
              <a:rPr lang="en-US" sz="2400" dirty="0">
                <a:solidFill>
                  <a:srgbClr val="72C3E8"/>
                </a:solidFill>
                <a:sym typeface="Wingdings" panose="05000000000000000000" pitchFamily="2" charset="2"/>
              </a:rPr>
              <a:t>thought</a:t>
            </a:r>
            <a:r>
              <a:rPr lang="en-US" sz="2400" dirty="0">
                <a:sym typeface="Wingdings" panose="05000000000000000000" pitchFamily="2" charset="2"/>
              </a:rPr>
              <a:t>’ of all possibilities</a:t>
            </a:r>
          </a:p>
          <a:p>
            <a:r>
              <a:rPr lang="en-US" sz="2400" dirty="0">
                <a:sym typeface="Wingdings" panose="05000000000000000000" pitchFamily="2" charset="2"/>
              </a:rPr>
              <a:t>but </a:t>
            </a:r>
            <a:r>
              <a:rPr lang="en-US" sz="2400" dirty="0">
                <a:solidFill>
                  <a:srgbClr val="72C3E8"/>
                </a:solidFill>
                <a:sym typeface="Wingdings" panose="05000000000000000000" pitchFamily="2" charset="2"/>
              </a:rPr>
              <a:t>not yet implemented</a:t>
            </a:r>
            <a:r>
              <a:rPr lang="en-US" sz="2400" dirty="0">
                <a:sym typeface="Wingdings" panose="05000000000000000000" pitchFamily="2" charset="2"/>
              </a:rPr>
              <a:t>!</a:t>
            </a:r>
          </a:p>
          <a:p>
            <a:r>
              <a:rPr lang="en-US" sz="2400" dirty="0">
                <a:sym typeface="Wingdings" panose="05000000000000000000" pitchFamily="2" charset="2"/>
              </a:rPr>
              <a:t>Firmware architecture (so far) </a:t>
            </a:r>
          </a:p>
          <a:p>
            <a:pPr lvl="1"/>
            <a:r>
              <a:rPr lang="en-US" sz="2000" dirty="0">
                <a:solidFill>
                  <a:srgbClr val="EA3F26"/>
                </a:solidFill>
                <a:sym typeface="Wingdings" panose="05000000000000000000" pitchFamily="2" charset="2"/>
              </a:rPr>
              <a:t>what</a:t>
            </a:r>
            <a:r>
              <a:rPr lang="en-US" sz="2000" dirty="0">
                <a:sym typeface="Wingdings" panose="05000000000000000000" pitchFamily="2" charset="2"/>
              </a:rPr>
              <a:t> pieces of code (loosely coupled, modules) do we need</a:t>
            </a:r>
          </a:p>
          <a:p>
            <a:pPr lvl="1"/>
            <a:r>
              <a:rPr lang="en-US" sz="2000" dirty="0">
                <a:solidFill>
                  <a:srgbClr val="EA3F26"/>
                </a:solidFill>
                <a:sym typeface="Wingdings" panose="05000000000000000000" pitchFamily="2" charset="2"/>
              </a:rPr>
              <a:t>how</a:t>
            </a:r>
            <a:r>
              <a:rPr lang="en-US" sz="2000" dirty="0">
                <a:sym typeface="Wingdings" panose="05000000000000000000" pitchFamily="2" charset="2"/>
              </a:rPr>
              <a:t> these pieces control each other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0D959-B3FA-4F8D-8684-9AA768BF2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35DAB-48D3-4143-83FD-FB11C25B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79CD4A-3BAE-436E-B06C-2E7B3A9042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98573" y="1446211"/>
            <a:ext cx="4293027" cy="3073151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A5EFE70-BA98-490F-88B2-2C03F1670F81}"/>
              </a:ext>
            </a:extLst>
          </p:cNvPr>
          <p:cNvSpPr txBox="1">
            <a:spLocks/>
          </p:cNvSpPr>
          <p:nvPr/>
        </p:nvSpPr>
        <p:spPr bwMode="auto">
          <a:xfrm>
            <a:off x="152400" y="4876799"/>
            <a:ext cx="8839200" cy="1736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ym typeface="Wingdings" panose="05000000000000000000" pitchFamily="2" charset="2"/>
              </a:rPr>
              <a:t>What have we still not decided?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Application layer organization – how is the main logic implemented</a:t>
            </a:r>
          </a:p>
          <a:p>
            <a:r>
              <a:rPr lang="en-US" sz="2400" dirty="0">
                <a:solidFill>
                  <a:srgbClr val="EA3F26"/>
                </a:solidFill>
                <a:sym typeface="Wingdings" panose="05000000000000000000" pitchFamily="2" charset="2"/>
              </a:rPr>
              <a:t>When </a:t>
            </a:r>
            <a:r>
              <a:rPr lang="en-US" sz="2400" dirty="0">
                <a:sym typeface="Wingdings" panose="05000000000000000000" pitchFamily="2" charset="2"/>
              </a:rPr>
              <a:t>do these pieces of code run?</a:t>
            </a:r>
          </a:p>
        </p:txBody>
      </p:sp>
    </p:spTree>
    <p:extLst>
      <p:ext uri="{BB962C8B-B14F-4D97-AF65-F5344CB8AC3E}">
        <p14:creationId xmlns:p14="http://schemas.microsoft.com/office/powerpoint/2010/main" val="79599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9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55A39-2E59-4324-9432-F30BDBC67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model = Rules of Running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87F85-7A32-4F31-A667-BE0A589E8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An execution model defines how control flows through the system over time.</a:t>
            </a:r>
          </a:p>
          <a:p>
            <a:r>
              <a:rPr lang="en-US" dirty="0"/>
              <a:t>Where code runs (i.e. in what context)</a:t>
            </a:r>
          </a:p>
          <a:p>
            <a:r>
              <a:rPr lang="en-US" dirty="0"/>
              <a:t>When code runs?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CPU performs one task at a time.</a:t>
            </a:r>
          </a:p>
          <a:p>
            <a:pPr>
              <a:buFontTx/>
              <a:buChar char="-"/>
            </a:pPr>
            <a:r>
              <a:rPr lang="en-US" dirty="0"/>
              <a:t>We create the illusion of multitasking by switching Contexts</a:t>
            </a:r>
          </a:p>
          <a:p>
            <a:pPr>
              <a:buFontTx/>
              <a:buChar char="-"/>
            </a:pPr>
            <a:r>
              <a:rPr lang="en-US" dirty="0"/>
              <a:t>A context is the snapshot of the CPU’s soul: its registers, its program counter, and its stack</a:t>
            </a:r>
          </a:p>
          <a:p>
            <a:pPr>
              <a:buFontTx/>
              <a:buChar char="-"/>
            </a:pPr>
            <a:r>
              <a:rPr lang="en-US" dirty="0"/>
              <a:t>When we switch tasks, we "freeze" one soul and "thaw" another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Execution modeling is the management of CPU "Contexts" and the cost of switching between them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F5C62-22F0-4636-90C7-8ACA9E30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E47492-95DE-4C55-8B62-F7535F3F4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179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65865-7215-4589-9543-DAB6207E7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and contexts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3657E-F754-4EF7-A04D-917E0D8C8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Superloop</a:t>
            </a:r>
            <a:r>
              <a:rPr lang="en-US" dirty="0"/>
              <a:t>: everyone waits in a long line to run sequentially</a:t>
            </a:r>
          </a:p>
          <a:p>
            <a:r>
              <a:rPr lang="en-US" dirty="0"/>
              <a:t>Foreground/background: Loop + ISRs</a:t>
            </a:r>
          </a:p>
          <a:p>
            <a:r>
              <a:rPr lang="en-US" dirty="0"/>
              <a:t>Cooperative and preemptive multitasking</a:t>
            </a:r>
          </a:p>
          <a:p>
            <a:r>
              <a:rPr lang="en-US" dirty="0"/>
              <a:t>RTOS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Contexts:</a:t>
            </a:r>
          </a:p>
          <a:p>
            <a:r>
              <a:rPr lang="en-US" dirty="0"/>
              <a:t>Main loop</a:t>
            </a:r>
          </a:p>
          <a:p>
            <a:r>
              <a:rPr lang="en-US" dirty="0"/>
              <a:t>Interrupt</a:t>
            </a:r>
          </a:p>
          <a:p>
            <a:r>
              <a:rPr lang="en-US" dirty="0"/>
              <a:t>Task (RTOS)</a:t>
            </a:r>
          </a:p>
          <a:p>
            <a:r>
              <a:rPr lang="en-US" dirty="0"/>
              <a:t>Deferred work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B1B36-C9C1-44FE-8753-47DF89B20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B0626-305B-4699-9725-2C5E6B0D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95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6CB7-615B-458C-A721-119388AF0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superloop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50AB8-6806-4E12-AE68-E4800B575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Deterministic, simple</a:t>
            </a:r>
          </a:p>
          <a:p>
            <a:r>
              <a:rPr lang="en-US" dirty="0"/>
              <a:t>Context shared throughout</a:t>
            </a:r>
          </a:p>
          <a:p>
            <a:endParaRPr lang="en-US" dirty="0"/>
          </a:p>
          <a:p>
            <a:r>
              <a:rPr lang="en-US" dirty="0"/>
              <a:t>Hard to scale</a:t>
            </a:r>
          </a:p>
          <a:p>
            <a:r>
              <a:rPr lang="en-US" dirty="0"/>
              <a:t>Blocking breaks all timing constraints</a:t>
            </a:r>
          </a:p>
          <a:p>
            <a:endParaRPr lang="en-US" dirty="0"/>
          </a:p>
          <a:p>
            <a:r>
              <a:rPr lang="en-US" dirty="0"/>
              <a:t>Improvement: loop + ISR</a:t>
            </a:r>
          </a:p>
          <a:p>
            <a:r>
              <a:rPr lang="en-US" dirty="0"/>
              <a:t>Still sequential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B062E-2CAB-477F-B76F-85EA5CF8B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9C9FB-F82F-4876-80C8-23094081E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052C9E-9AD1-44D6-B57A-C9FE5A50B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524000"/>
            <a:ext cx="3259667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2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54EB6-81B8-4351-9BCD-9D09EC377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Multitasking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DB0A3-41F3-49D8-8617-F9C07F11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Illusion of parallel execution</a:t>
            </a:r>
          </a:p>
          <a:p>
            <a:r>
              <a:rPr lang="en-US" dirty="0"/>
              <a:t>No need to wait for something else to finish</a:t>
            </a:r>
          </a:p>
          <a:p>
            <a:endParaRPr lang="en-US" dirty="0"/>
          </a:p>
          <a:p>
            <a:r>
              <a:rPr lang="en-US" dirty="0"/>
              <a:t>Cooperative: tasks yield voluntarily to the next task</a:t>
            </a:r>
          </a:p>
          <a:p>
            <a:r>
              <a:rPr lang="en-US" dirty="0"/>
              <a:t>Preemptive: Scheduler starts and stops tasks</a:t>
            </a:r>
          </a:p>
          <a:p>
            <a:r>
              <a:rPr lang="en-US" dirty="0"/>
              <a:t>Idea of priority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955BF-6403-4EFB-9086-54095161F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A32AE-E16E-4ABB-8149-57167CC25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41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18AEC-AB48-26DE-04BB-691E6A134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cyclic executive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1295E-4BB9-4740-FCD9-6C0C7BCC5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Advantages</a:t>
            </a:r>
          </a:p>
          <a:p>
            <a:pPr>
              <a:buFontTx/>
              <a:buChar char="-"/>
            </a:pPr>
            <a:r>
              <a:rPr lang="en-US" sz="2000" dirty="0"/>
              <a:t>Simple implementation</a:t>
            </a:r>
          </a:p>
          <a:p>
            <a:pPr lvl="1">
              <a:buFontTx/>
              <a:buChar char="-"/>
            </a:pPr>
            <a:r>
              <a:rPr lang="en-US" sz="1800" dirty="0"/>
              <a:t>How would you implement?</a:t>
            </a:r>
          </a:p>
          <a:p>
            <a:pPr>
              <a:buFontTx/>
              <a:buChar char="-"/>
            </a:pPr>
            <a:r>
              <a:rPr lang="en-US" sz="2000" dirty="0"/>
              <a:t>Low overhead</a:t>
            </a:r>
          </a:p>
          <a:p>
            <a:pPr>
              <a:buFontTx/>
              <a:buChar char="-"/>
            </a:pPr>
            <a:r>
              <a:rPr lang="en-US" sz="2000" dirty="0"/>
              <a:t>Very predictable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Disadvantages</a:t>
            </a:r>
          </a:p>
          <a:p>
            <a:pPr>
              <a:buFontTx/>
              <a:buChar char="-"/>
            </a:pPr>
            <a:r>
              <a:rPr lang="en-US" sz="2000" dirty="0"/>
              <a:t>Cannot handle sporadic events</a:t>
            </a:r>
          </a:p>
          <a:p>
            <a:pPr>
              <a:buFontTx/>
              <a:buChar char="-"/>
            </a:pPr>
            <a:r>
              <a:rPr lang="en-US" sz="2000" dirty="0"/>
              <a:t>Everything must operate in lockstep</a:t>
            </a:r>
          </a:p>
          <a:p>
            <a:pPr>
              <a:buFontTx/>
              <a:buChar char="-"/>
            </a:pPr>
            <a:r>
              <a:rPr lang="en-US" sz="2000" dirty="0"/>
              <a:t>Code is scheduled manually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Solution: Cyclic executive with interrupts</a:t>
            </a:r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5E39B-7D04-D30C-D558-DE668EA16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71FB0F-F4CF-56AF-BC02-409981E12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E19BDA-1204-826A-EDE7-A6EF9D86A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828" y="914400"/>
            <a:ext cx="1740572" cy="16017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DB2211-D0E4-2548-50E7-2D46353095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9118" y="2971800"/>
            <a:ext cx="3891567" cy="16578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647E2B-153D-BF4F-80A7-DCBDA87090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9118" y="4740826"/>
            <a:ext cx="3891567" cy="163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53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3A0E5-F19B-71F2-940F-F8AA84BAE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you do inside an interrupt service routine?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EFF8A9-CC2B-E26A-DE0E-ACC2FF11D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403040" y="1446213"/>
            <a:ext cx="6337919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5A36F-5E92-85E0-985C-D0C625BD7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63ADF-D487-BB84-D36E-736039B11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231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72E3E-DB4D-19E5-BEE8-5AEC163B0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ISR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25E8E-9423-2BE4-591F-F50AEBE49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Copy peripheral data into a buffer</a:t>
            </a:r>
          </a:p>
          <a:p>
            <a:r>
              <a:rPr lang="en-US" dirty="0"/>
              <a:t>Indicate to other code that data has arrived</a:t>
            </a:r>
          </a:p>
          <a:p>
            <a:pPr lvl="1"/>
            <a:r>
              <a:rPr lang="en-US" dirty="0"/>
              <a:t>How?</a:t>
            </a:r>
          </a:p>
          <a:p>
            <a:pPr lvl="1"/>
            <a:r>
              <a:rPr lang="en-US" dirty="0"/>
              <a:t>Events</a:t>
            </a:r>
          </a:p>
          <a:p>
            <a:pPr lvl="1"/>
            <a:r>
              <a:rPr lang="en-US" dirty="0"/>
              <a:t>Start or stop a process</a:t>
            </a:r>
          </a:p>
          <a:p>
            <a:pPr lvl="1"/>
            <a:r>
              <a:rPr lang="en-US" dirty="0"/>
              <a:t>Change priority</a:t>
            </a:r>
          </a:p>
          <a:p>
            <a:r>
              <a:rPr lang="en-US" dirty="0"/>
              <a:t>Acknowledge the interrupt</a:t>
            </a:r>
          </a:p>
          <a:p>
            <a:pPr lvl="1"/>
            <a:r>
              <a:rPr lang="en-US" dirty="0"/>
              <a:t>Tell the hardware that generated it that it has been handled</a:t>
            </a:r>
          </a:p>
          <a:p>
            <a:endParaRPr lang="en-US" dirty="0"/>
          </a:p>
          <a:p>
            <a:r>
              <a:rPr lang="en-US" dirty="0"/>
              <a:t>ISRs run fast!</a:t>
            </a:r>
          </a:p>
          <a:p>
            <a:r>
              <a:rPr lang="en-US" dirty="0"/>
              <a:t>Placed in RAM instead of flash</a:t>
            </a:r>
          </a:p>
          <a:p>
            <a:r>
              <a:rPr lang="en-US" dirty="0"/>
              <a:t>Leave longer reaction task outside the ISR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6C11-E2AB-8942-2AD7-365DCB64B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8B7622-D1CD-4322-57A5-00F9B35A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553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26B1-D8F3-B3F7-15DB-C5ED8824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 + Interrupts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12CBF-24BE-D0F8-9615-AAD539FBB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Extremely easy to implement</a:t>
            </a:r>
          </a:p>
          <a:p>
            <a:r>
              <a:rPr lang="en-US" dirty="0"/>
              <a:t>Very cheap also! No extra overhead code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But</a:t>
            </a:r>
          </a:p>
          <a:p>
            <a:r>
              <a:rPr lang="en-US" dirty="0"/>
              <a:t>Main loop running in lockstep</a:t>
            </a:r>
          </a:p>
          <a:p>
            <a:r>
              <a:rPr lang="en-US" dirty="0"/>
              <a:t>Programmer must handle scheduling</a:t>
            </a:r>
          </a:p>
          <a:p>
            <a:r>
              <a:rPr lang="en-US" dirty="0"/>
              <a:t>Scheduling is static (cannot dynamically change order of tasks)</a:t>
            </a:r>
          </a:p>
          <a:p>
            <a:r>
              <a:rPr lang="en-US" dirty="0"/>
              <a:t>Latency of event handling still long</a:t>
            </a:r>
          </a:p>
          <a:p>
            <a:r>
              <a:rPr lang="en-US" dirty="0"/>
              <a:t>Interrupts introduce jitter in task timing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7329D-D31D-9EBD-2B69-760DA80FB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92D4F-BDD5-5F21-369B-70019862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979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65952-9D75-4077-137A-BDEF30071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Cooperative multitasking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CAD51-4397-566E-71F4-6189D5565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Processes relinquish control to other processes</a:t>
            </a:r>
          </a:p>
          <a:p>
            <a:endParaRPr lang="en-US" dirty="0"/>
          </a:p>
          <a:p>
            <a:r>
              <a:rPr lang="en-US" dirty="0"/>
              <a:t>More control on when a process stops and goes to another</a:t>
            </a:r>
          </a:p>
          <a:p>
            <a:pPr lvl="1"/>
            <a:r>
              <a:rPr lang="en-US" dirty="0"/>
              <a:t>Better coordination between processes</a:t>
            </a:r>
          </a:p>
          <a:p>
            <a:r>
              <a:rPr lang="en-US" dirty="0"/>
              <a:t>Priority can be implemented by changing task order</a:t>
            </a:r>
          </a:p>
          <a:p>
            <a:pPr lvl="1"/>
            <a:r>
              <a:rPr lang="en-US" dirty="0"/>
              <a:t>Simple scheduler that maintains priority queues</a:t>
            </a:r>
          </a:p>
          <a:p>
            <a:endParaRPr lang="en-US" dirty="0"/>
          </a:p>
          <a:p>
            <a:r>
              <a:rPr lang="en-US" dirty="0"/>
              <a:t>Programmer has to ensure a single process does not hog all CPU time</a:t>
            </a:r>
          </a:p>
          <a:p>
            <a:r>
              <a:rPr lang="en-US" dirty="0"/>
              <a:t>Bugs in a single task jeopardize all others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2D605-D691-8371-06A1-5033C5ECC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9EC57A-E09A-FDB1-DBE5-7ABDAEB79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994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66F7-B507-7E1E-5371-81093546A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systems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AD2E7A-56D0-237A-742D-00EA7FA3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F079D-81EF-2436-4591-97C6CC82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ED8975-68E5-BE2E-8120-47155DABDC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Function and scheduling are usually orthogonal</a:t>
            </a:r>
          </a:p>
          <a:p>
            <a:r>
              <a:rPr lang="en-US" dirty="0"/>
              <a:t>Let programmer handle function</a:t>
            </a:r>
          </a:p>
          <a:p>
            <a:r>
              <a:rPr lang="en-US" dirty="0"/>
              <a:t>Operating system will handle the scheduling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11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77E4C-816E-4927-FF33-AAE78262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6934200" cy="1195386"/>
          </a:xfrm>
        </p:spPr>
        <p:txBody>
          <a:bodyPr/>
          <a:lstStyle/>
          <a:p>
            <a:r>
              <a:rPr lang="en-US" dirty="0"/>
              <a:t>Operating systems for</a:t>
            </a:r>
            <a:br>
              <a:rPr lang="en-US" dirty="0"/>
            </a:br>
            <a:r>
              <a:rPr lang="en-US" dirty="0"/>
              <a:t>conventional vs embedded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96DB0-6E4F-EF60-33F6-8BCF335BE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Conventional:</a:t>
            </a:r>
          </a:p>
          <a:p>
            <a:r>
              <a:rPr lang="en-US" dirty="0"/>
              <a:t>Multiple threads or processes</a:t>
            </a:r>
          </a:p>
          <a:p>
            <a:r>
              <a:rPr lang="en-US" dirty="0"/>
              <a:t>File system</a:t>
            </a:r>
          </a:p>
          <a:p>
            <a:r>
              <a:rPr lang="en-US" dirty="0"/>
              <a:t>Virtual memory and paging</a:t>
            </a:r>
          </a:p>
          <a:p>
            <a:r>
              <a:rPr lang="en-US" dirty="0"/>
              <a:t>I/O and interrupt handling</a:t>
            </a:r>
          </a:p>
          <a:p>
            <a:r>
              <a:rPr lang="en-US" dirty="0"/>
              <a:t>Resource allocation</a:t>
            </a:r>
          </a:p>
          <a:p>
            <a:r>
              <a:rPr lang="en-US" dirty="0"/>
              <a:t>Command interface for executing programs</a:t>
            </a:r>
          </a:p>
          <a:p>
            <a:pPr marL="0" indent="0">
              <a:buNone/>
            </a:pPr>
            <a:r>
              <a:rPr lang="en-US" dirty="0"/>
              <a:t>Embedded:</a:t>
            </a:r>
          </a:p>
          <a:p>
            <a:r>
              <a:rPr lang="en-US" dirty="0"/>
              <a:t>Lightweight threads</a:t>
            </a:r>
          </a:p>
          <a:p>
            <a:r>
              <a:rPr lang="en-US" dirty="0" err="1"/>
              <a:t>i</a:t>
            </a:r>
            <a:r>
              <a:rPr lang="en-US" dirty="0"/>
              <a:t>/o and interrupt handling</a:t>
            </a:r>
          </a:p>
          <a:p>
            <a:r>
              <a:rPr lang="en-US" dirty="0"/>
              <a:t>Real time guarantees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90B40-AB57-8DF9-5A8C-065F70E06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1A095-946C-E4F9-174F-19412F886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852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BD3B6-2112-849C-7CE6-34B1DF1E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operating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C5AB1-6B87-40BD-A3A2-1C6F5A362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Lightweight threads</a:t>
            </a:r>
          </a:p>
          <a:p>
            <a:r>
              <a:rPr lang="en-US" dirty="0"/>
              <a:t>Basic locks</a:t>
            </a:r>
          </a:p>
          <a:p>
            <a:r>
              <a:rPr lang="en-US" dirty="0"/>
              <a:t>Fast context switches</a:t>
            </a:r>
          </a:p>
          <a:p>
            <a:pPr marL="0" indent="0">
              <a:buNone/>
            </a:pPr>
            <a:r>
              <a:rPr lang="en-US" dirty="0"/>
              <a:t>Input / output</a:t>
            </a:r>
          </a:p>
          <a:p>
            <a:r>
              <a:rPr lang="en-US" dirty="0"/>
              <a:t>API for talking to devices</a:t>
            </a:r>
          </a:p>
          <a:p>
            <a:r>
              <a:rPr lang="en-US" dirty="0"/>
              <a:t>Buffering</a:t>
            </a:r>
          </a:p>
          <a:p>
            <a:pPr marL="0" indent="0">
              <a:buNone/>
            </a:pPr>
            <a:r>
              <a:rPr lang="en-US" dirty="0"/>
              <a:t>Interrupt handling</a:t>
            </a:r>
          </a:p>
          <a:p>
            <a:r>
              <a:rPr lang="en-US" dirty="0"/>
              <a:t>Translate interrupts to events handled by user code</a:t>
            </a:r>
          </a:p>
          <a:p>
            <a:r>
              <a:rPr lang="en-US" dirty="0"/>
              <a:t>Trigger new tasks to run</a:t>
            </a:r>
          </a:p>
          <a:p>
            <a:pPr marL="0" indent="0">
              <a:buNone/>
            </a:pPr>
            <a:r>
              <a:rPr lang="en-US" dirty="0"/>
              <a:t>Real time guarantees</a:t>
            </a:r>
          </a:p>
          <a:p>
            <a:r>
              <a:rPr lang="en-US" dirty="0"/>
              <a:t>Guarantee that a task is called at a certain rate</a:t>
            </a:r>
          </a:p>
          <a:p>
            <a:r>
              <a:rPr lang="en-US" dirty="0"/>
              <a:t>Guarantee interrupt handling time</a:t>
            </a:r>
          </a:p>
          <a:p>
            <a:r>
              <a:rPr lang="en-US" dirty="0"/>
              <a:t>Priority or deadline driven scheduling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053E3-BFFC-25B1-0650-8266ACED9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08887-C55F-2E22-6B55-7BEA852C6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934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10FCF-FF67-5B46-351B-E849A2033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real time constraints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7B1A8-228B-FE20-1A55-A2E496F62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 – miss deadline, total failure of system. Minor or major disaster (people may die?)</a:t>
            </a:r>
          </a:p>
          <a:p>
            <a:endParaRPr lang="en-US" dirty="0"/>
          </a:p>
          <a:p>
            <a:r>
              <a:rPr lang="en-US" dirty="0"/>
              <a:t>Firm – result no longer useful after deadline missed</a:t>
            </a:r>
          </a:p>
          <a:p>
            <a:endParaRPr lang="en-US" dirty="0"/>
          </a:p>
          <a:p>
            <a:r>
              <a:rPr lang="en-US" dirty="0"/>
              <a:t>Soft – results gradually less useful as deadline passes.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86BAF-88FD-29F0-D6A4-B486063F9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69499-FED6-3FF7-B218-B12E2954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769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13901-136A-8C33-7669-A78B561CE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factors make real-time hard?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AF23F-FCC8-AB40-078D-C983ABD48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Interrupts</a:t>
            </a:r>
            <a:r>
              <a:rPr lang="en-IN" dirty="0"/>
              <a:t> (timing disrupted by external event responses)</a:t>
            </a:r>
          </a:p>
          <a:p>
            <a:r>
              <a:rPr lang="en-IN" dirty="0"/>
              <a:t>Unpredictability of CPU execution</a:t>
            </a:r>
          </a:p>
          <a:p>
            <a:pPr lvl="1"/>
            <a:r>
              <a:rPr lang="en-IN" dirty="0"/>
              <a:t>Branch prediction, caches, power modes and clock frequency changes, memory management (page fault)</a:t>
            </a:r>
          </a:p>
          <a:p>
            <a:r>
              <a:rPr lang="en-IN" dirty="0"/>
              <a:t>Dynamic memory allocation and garbage collection</a:t>
            </a:r>
          </a:p>
          <a:p>
            <a:r>
              <a:rPr lang="en-IN" dirty="0"/>
              <a:t>Unpredictable hardware (e.g. network access)</a:t>
            </a:r>
          </a:p>
          <a:p>
            <a:r>
              <a:rPr lang="en-US" dirty="0"/>
              <a:t>Operating systems (scheduler, context switching)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So why do we use RTOSs?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2979D-D561-7090-025F-3D9B7683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5EADA-DC65-F9DB-86B7-B4B1859D7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685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6DD4-4D34-537A-CF32-1593A532C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time operating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F1ED6-7A70-7AE3-3BB3-CCC9ACABA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 latency of OS calls</a:t>
            </a:r>
          </a:p>
          <a:p>
            <a:r>
              <a:rPr lang="en-US" dirty="0"/>
              <a:t>Fast context switching</a:t>
            </a:r>
          </a:p>
          <a:p>
            <a:r>
              <a:rPr lang="en-US" dirty="0"/>
              <a:t>Main goal: meeting task deadlines</a:t>
            </a:r>
          </a:p>
          <a:p>
            <a:r>
              <a:rPr lang="en-US" dirty="0"/>
              <a:t>Goal is not fairness (unlike conventional OSes)</a:t>
            </a:r>
          </a:p>
          <a:p>
            <a:endParaRPr lang="en-US" dirty="0"/>
          </a:p>
          <a:p>
            <a:r>
              <a:rPr lang="en-US" dirty="0"/>
              <a:t>If you have five homework assignments, and one is due in an hour, you will work on that one!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4086B-2530-6A6E-74D6-59C243FB5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3DC894-DB20-07D5-049E-9A2CB04C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159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11A54-FC17-904C-9905-BC032DC59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RTOS Task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E1573-31AE-FA09-2B5D-C102D8C9A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8839200" cy="2287589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Each task a triplet: (execution time, period, deadline)</a:t>
            </a:r>
          </a:p>
          <a:p>
            <a:r>
              <a:rPr lang="en-US" sz="2800" dirty="0"/>
              <a:t>Execution time: how long the task takes to run</a:t>
            </a:r>
          </a:p>
          <a:p>
            <a:r>
              <a:rPr lang="en-US" sz="2800" dirty="0"/>
              <a:t>Period: how often the task must run</a:t>
            </a:r>
          </a:p>
          <a:p>
            <a:r>
              <a:rPr lang="en-US" sz="2800" dirty="0"/>
              <a:t>Dead</a:t>
            </a:r>
            <a:r>
              <a:rPr lang="en-US" sz="2800" b="1" dirty="0"/>
              <a:t>l</a:t>
            </a:r>
            <a:r>
              <a:rPr lang="en-US" sz="2800" dirty="0"/>
              <a:t>ine: relative to each period, when must task complete?</a:t>
            </a:r>
          </a:p>
          <a:p>
            <a:r>
              <a:rPr lang="en-US" sz="2800" dirty="0"/>
              <a:t>Usually: deadline = period</a:t>
            </a:r>
          </a:p>
          <a:p>
            <a:r>
              <a:rPr lang="en-US" sz="2800" dirty="0"/>
              <a:t>Can be initiated anytime during the period</a:t>
            </a:r>
            <a:endParaRPr lang="en-IN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D37D5-C883-0F93-AD94-E8C1CA0D9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EE3F2-6251-953D-B9B1-6B2D6658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411DEC-90C5-CDD2-75B8-CDF230B13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968" y="3810000"/>
            <a:ext cx="7078063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65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AE6F3-AB14-8828-F52E-C4732DD05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Periods can be very different for different tasks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1C2EF6-E9C8-BF8B-CB1A-A30AF48082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85356" y="1446213"/>
            <a:ext cx="7973288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39BDF-2D86-49D7-C197-72BA5EB45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4AE21-7101-04C2-39A0-7422B04CF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5121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23D74-6DB4-5890-2C37-B1ABBC9A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have period (T) different from deadline(D)?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E62BB-483D-0B01-1EC3-2B9693285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72C3E8"/>
                </a:solidFill>
              </a:rPr>
              <a:t>D &lt; T (constrained deadline)</a:t>
            </a:r>
          </a:p>
          <a:p>
            <a:r>
              <a:rPr lang="en-US" sz="2800" dirty="0"/>
              <a:t>Control loops based on sensor data (T = 10 </a:t>
            </a:r>
            <a:r>
              <a:rPr lang="en-US" sz="2800" dirty="0" err="1"/>
              <a:t>ms</a:t>
            </a:r>
            <a:r>
              <a:rPr lang="en-US" sz="2800" dirty="0"/>
              <a:t>, D = 5 </a:t>
            </a:r>
            <a:r>
              <a:rPr lang="en-US" sz="2800" dirty="0" err="1"/>
              <a:t>ms</a:t>
            </a:r>
            <a:r>
              <a:rPr lang="en-US" sz="2800" dirty="0"/>
              <a:t>)</a:t>
            </a:r>
          </a:p>
          <a:p>
            <a:pPr lvl="1"/>
            <a:r>
              <a:rPr lang="en-US" sz="2400" dirty="0"/>
              <a:t>Control must be applied early in each cycle</a:t>
            </a:r>
          </a:p>
          <a:p>
            <a:pPr lvl="1"/>
            <a:r>
              <a:rPr lang="en-US" sz="2400" dirty="0"/>
              <a:t>Remaining time for actuation delay, communication etc.</a:t>
            </a:r>
          </a:p>
          <a:p>
            <a:r>
              <a:rPr lang="en-IN" sz="2800" dirty="0"/>
              <a:t>In general</a:t>
            </a:r>
          </a:p>
          <a:p>
            <a:pPr lvl="1"/>
            <a:r>
              <a:rPr lang="en-IN" sz="2400" dirty="0"/>
              <a:t>Output must be produced early</a:t>
            </a:r>
          </a:p>
          <a:p>
            <a:pPr lvl="1"/>
            <a:r>
              <a:rPr lang="en-IN" sz="2400" dirty="0"/>
              <a:t>Downstream stages require time before next period starts</a:t>
            </a:r>
          </a:p>
          <a:p>
            <a:pPr marL="0" indent="0">
              <a:buNone/>
            </a:pPr>
            <a:r>
              <a:rPr lang="en-IN" sz="2800" dirty="0">
                <a:solidFill>
                  <a:srgbClr val="72C3E8"/>
                </a:solidFill>
              </a:rPr>
              <a:t>T &lt; D (arbitrary deadline)</a:t>
            </a:r>
          </a:p>
          <a:p>
            <a:r>
              <a:rPr lang="en-IN" sz="2800" dirty="0"/>
              <a:t>Logging / diagnostics (T = 50 </a:t>
            </a:r>
            <a:r>
              <a:rPr lang="en-IN" sz="2800" dirty="0" err="1"/>
              <a:t>ms</a:t>
            </a:r>
            <a:r>
              <a:rPr lang="en-IN" sz="2800" dirty="0"/>
              <a:t>, D = 100 </a:t>
            </a:r>
            <a:r>
              <a:rPr lang="en-IN" sz="2800" dirty="0" err="1"/>
              <a:t>ms</a:t>
            </a:r>
            <a:r>
              <a:rPr lang="en-IN" sz="2800" dirty="0"/>
              <a:t>)</a:t>
            </a:r>
          </a:p>
          <a:p>
            <a:pPr lvl="1"/>
            <a:r>
              <a:rPr lang="en-IN" sz="2400" dirty="0"/>
              <a:t>Logging is not urgent</a:t>
            </a:r>
          </a:p>
          <a:p>
            <a:pPr lvl="1"/>
            <a:r>
              <a:rPr lang="en-IN" sz="2400" dirty="0"/>
              <a:t>Batching improves efficiency</a:t>
            </a:r>
          </a:p>
          <a:p>
            <a:r>
              <a:rPr lang="en-IN" sz="2800" dirty="0"/>
              <a:t>In general, when buffering is allowed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D6C80-6DEA-A60A-DD86-E7158F922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AAF1E-F303-7882-A20E-147F4165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F440E1-EDF0-D06E-407D-BB9BE7861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596" y="3200400"/>
            <a:ext cx="3077004" cy="581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5DBE2C-5D3B-9CC4-305B-123490179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753" y="5311826"/>
            <a:ext cx="3200847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44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1B66-2D6C-5D20-D9FD-C17513420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AC93F-5C55-3F2B-FE7C-5ED5D90E8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E1199-7328-3515-77D3-C35EDF6B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F2E866-839A-00A7-E4F4-F38DE47C34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Given a set of tasks,</a:t>
            </a:r>
            <a:br>
              <a:rPr lang="en-US" dirty="0"/>
            </a:br>
            <a:br>
              <a:rPr lang="en-US" dirty="0"/>
            </a:br>
            <a:r>
              <a:rPr lang="en-US" dirty="0"/>
              <a:t>{(5, 10, 10), (2, 20, 8), (4, 10, 20)}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how should they be scheduled to ensure deadlines are never violated?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6183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2E17A-3F26-FBA4-16E1-5ED79A0B4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priority preemptive scheduling (FPPS)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3784C-61C6-A4FF-77B7-4F193030D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task has a fixed priority</a:t>
            </a:r>
          </a:p>
          <a:p>
            <a:r>
              <a:rPr lang="en-US" dirty="0"/>
              <a:t>Always run the highest priority runnable process</a:t>
            </a:r>
          </a:p>
          <a:p>
            <a:r>
              <a:rPr lang="en-US" dirty="0"/>
              <a:t>Continue running till process ends or higher priority process appears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A0BC7-7B0B-1B5A-D5CE-B1193632E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3AAC9-68A6-453A-4214-0B5D297D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C2C67E-0324-BB1E-BDD3-6B0CD0BCFB13}"/>
              </a:ext>
            </a:extLst>
          </p:cNvPr>
          <p:cNvSpPr txBox="1"/>
          <p:nvPr/>
        </p:nvSpPr>
        <p:spPr>
          <a:xfrm>
            <a:off x="27508" y="5380760"/>
            <a:ext cx="700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dirty="0">
                <a:effectLst/>
                <a:latin typeface="Arial" panose="020B0604020202020204" pitchFamily="34" charset="0"/>
              </a:rPr>
              <a:t>CPU</a:t>
            </a:r>
            <a:endParaRPr lang="en-IN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B7BF9CF-8E87-3591-2A82-145D93DD2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248928"/>
              </p:ext>
            </p:extLst>
          </p:nvPr>
        </p:nvGraphicFramePr>
        <p:xfrm>
          <a:off x="381000" y="3810000"/>
          <a:ext cx="8610600" cy="1576725"/>
        </p:xfrm>
        <a:graphic>
          <a:graphicData uri="http://schemas.openxmlformats.org/drawingml/2006/table">
            <a:tbl>
              <a:tblPr/>
              <a:tblGrid>
                <a:gridCol w="272270">
                  <a:extLst>
                    <a:ext uri="{9D8B030D-6E8A-4147-A177-3AD203B41FA5}">
                      <a16:colId xmlns:a16="http://schemas.microsoft.com/office/drawing/2014/main" val="1023624253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2994649562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2679229798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3079847425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1570634696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1939874951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934636932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697704330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1350819620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1289726995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299504939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1821008272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2817558638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2280967693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726705186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2130953610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505978461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809815290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876421291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900339990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2645156357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2689573455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628503707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3619618137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460346492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3206751012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1838239964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1110700343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2066258730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2327403989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3070195907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769537992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1008953382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1274381329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349001942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2885650028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2412413183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552954487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3072543450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3297529316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1604425699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3681338375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875901536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3815515927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3086878953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518901591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3421978688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3545677325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1136551963"/>
                    </a:ext>
                  </a:extLst>
                </a:gridCol>
                <a:gridCol w="170170">
                  <a:extLst>
                    <a:ext uri="{9D8B030D-6E8A-4147-A177-3AD203B41FA5}">
                      <a16:colId xmlns:a16="http://schemas.microsoft.com/office/drawing/2014/main" val="1719597470"/>
                    </a:ext>
                  </a:extLst>
                </a:gridCol>
              </a:tblGrid>
              <a:tr h="31534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l-GR" b="1">
                          <a:effectLst/>
                        </a:rPr>
                        <a:t>τ1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008198"/>
                  </a:ext>
                </a:extLst>
              </a:tr>
              <a:tr h="31534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080147"/>
                  </a:ext>
                </a:extLst>
              </a:tr>
              <a:tr h="31534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l-GR" b="1">
                          <a:effectLst/>
                        </a:rPr>
                        <a:t>τ2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 dirty="0">
                          <a:effectLst/>
                        </a:rPr>
                        <a:t>n0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154994"/>
                  </a:ext>
                </a:extLst>
              </a:tr>
              <a:tr h="31534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043320"/>
                  </a:ext>
                </a:extLst>
              </a:tr>
              <a:tr h="31534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l-GR" b="1">
                          <a:effectLst/>
                        </a:rPr>
                        <a:t>τ3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 dirty="0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4127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04FADE-5581-448F-256B-D72F16D77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192430"/>
              </p:ext>
            </p:extLst>
          </p:nvPr>
        </p:nvGraphicFramePr>
        <p:xfrm>
          <a:off x="654810" y="5410200"/>
          <a:ext cx="8336762" cy="283715"/>
        </p:xfrm>
        <a:graphic>
          <a:graphicData uri="http://schemas.openxmlformats.org/drawingml/2006/table">
            <a:tbl>
              <a:tblPr/>
              <a:tblGrid>
                <a:gridCol w="170138">
                  <a:extLst>
                    <a:ext uri="{9D8B030D-6E8A-4147-A177-3AD203B41FA5}">
                      <a16:colId xmlns:a16="http://schemas.microsoft.com/office/drawing/2014/main" val="894673066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1205160389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4080662863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1031295085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118899887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2074338204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3249821285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3197595676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1062941212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4013388655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3915377736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2720412639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1355562401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1281812924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2991948329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2541419136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2293011428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248066781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604092700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3530466372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2221241057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4165736464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4142109469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346458383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4066569356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3545758559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1650877713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1285757183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591691909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3114976752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598061979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220334249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435825149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219802493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3358222537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3063969171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963533790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2671807248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3195508042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1978160907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2459456601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4262137882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3112368742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1657483147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3964824673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1232873921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4085091265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65622955"/>
                    </a:ext>
                  </a:extLst>
                </a:gridCol>
                <a:gridCol w="170138">
                  <a:extLst>
                    <a:ext uri="{9D8B030D-6E8A-4147-A177-3AD203B41FA5}">
                      <a16:colId xmlns:a16="http://schemas.microsoft.com/office/drawing/2014/main" val="2844850284"/>
                    </a:ext>
                  </a:extLst>
                </a:gridCol>
              </a:tblGrid>
              <a:tr h="283715"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3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 dirty="0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78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346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3194A-E109-D3F9-CFE7-17F491A70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8E00D-910D-D3ED-35DF-320D169F2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What happens if you have multiple processes at the same priority?</a:t>
            </a:r>
          </a:p>
          <a:p>
            <a:endParaRPr lang="en-US" dirty="0"/>
          </a:p>
          <a:p>
            <a:r>
              <a:rPr lang="en-US" dirty="0"/>
              <a:t>Prohibit: each process has unique priority</a:t>
            </a:r>
          </a:p>
          <a:p>
            <a:endParaRPr lang="en-US" dirty="0"/>
          </a:p>
          <a:p>
            <a:r>
              <a:rPr lang="en-US" dirty="0"/>
              <a:t>Time-slice processes at the same priority</a:t>
            </a:r>
          </a:p>
          <a:p>
            <a:pPr lvl="1"/>
            <a:r>
              <a:rPr lang="en-US" dirty="0"/>
              <a:t>Extra context switching</a:t>
            </a:r>
          </a:p>
          <a:p>
            <a:pPr lvl="1"/>
            <a:r>
              <a:rPr lang="en-US" dirty="0"/>
              <a:t>No starvation within a priority level, everyone gets their turn</a:t>
            </a:r>
          </a:p>
          <a:p>
            <a:pPr lvl="1"/>
            <a:endParaRPr lang="en-US" dirty="0"/>
          </a:p>
          <a:p>
            <a:r>
              <a:rPr lang="en-US" dirty="0"/>
              <a:t>Processes at the same priority cannot preempt each other</a:t>
            </a:r>
          </a:p>
          <a:p>
            <a:pPr lvl="1"/>
            <a:r>
              <a:rPr lang="en-US" dirty="0"/>
              <a:t>Less context switching, so more efficient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D7889-2F8A-2E3C-CCCB-2119B6B0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CFA9B-82CF-3ABC-1C35-69CB2219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703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96343-628D-8039-6AB4-A45D59CA5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sets do not always have a feasible schedule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3E578-2B24-C877-2652-1712B268F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Consider the task model:</a:t>
            </a:r>
          </a:p>
          <a:p>
            <a:r>
              <a:rPr lang="en-US" dirty="0"/>
              <a:t>P1 = (10, 20, 20)</a:t>
            </a:r>
          </a:p>
          <a:p>
            <a:r>
              <a:rPr lang="en-US" dirty="0"/>
              <a:t>P2 = (5, 9, 9)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Write down the appropriate priority levels that ensure these two tasks always finish in time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Is there any way these two tasks can be scheduled to meet all deadlines?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 schedulable if tasks require more than 100% CPPU utilization!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E07FF-BD39-14BD-3639-6AD7B69A8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348A-DF9B-1A3A-F259-0C8F05A0A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11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1844A-CDDC-934E-F439-9C7C3BDC3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6477000" cy="1195386"/>
          </a:xfrm>
        </p:spPr>
        <p:txBody>
          <a:bodyPr/>
          <a:lstStyle/>
          <a:p>
            <a:r>
              <a:rPr lang="en-US" dirty="0"/>
              <a:t>Rate Monotonic Scheduling (RMS)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D6DA5-D155-0DDE-CD42-A5C98C9A2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Processes with shorter period given higher priority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Key result (Liu &amp; Layland, 1973 JACM):</a:t>
            </a:r>
            <a:br>
              <a:rPr lang="en-US" dirty="0"/>
            </a:br>
            <a:r>
              <a:rPr lang="en-US" dirty="0"/>
              <a:t>RMS is optimal</a:t>
            </a:r>
            <a:br>
              <a:rPr lang="en-US" dirty="0"/>
            </a:br>
            <a:r>
              <a:rPr lang="en-US" dirty="0"/>
              <a:t>“If there is fixed priority schedule that meets all deadlines, then RMS will produce a feasible schedule”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A5BAE-3538-D9FF-1B58-50E366EF4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035F9-716E-A203-387A-6659AD59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391ABC-F9EA-8128-E359-6EF737B2F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057400"/>
            <a:ext cx="322906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38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26CC230-BF5F-7A08-2055-46284C25DE92}"/>
              </a:ext>
            </a:extLst>
          </p:cNvPr>
          <p:cNvSpPr txBox="1">
            <a:spLocks/>
          </p:cNvSpPr>
          <p:nvPr/>
        </p:nvSpPr>
        <p:spPr bwMode="auto">
          <a:xfrm>
            <a:off x="188407" y="1524000"/>
            <a:ext cx="88392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US" dirty="0"/>
              <a:t>For the tasks shown:</a:t>
            </a:r>
            <a:br>
              <a:rPr lang="en-US" dirty="0"/>
            </a:br>
            <a:r>
              <a:rPr lang="en-US" dirty="0"/>
              <a:t>p1 = (10, 20, 20); p2 = (15, 30, 30)</a:t>
            </a:r>
          </a:p>
          <a:p>
            <a:pPr>
              <a:spcBef>
                <a:spcPts val="1000"/>
              </a:spcBef>
            </a:pPr>
            <a:r>
              <a:rPr lang="en-US" dirty="0">
                <a:solidFill>
                  <a:srgbClr val="FF0000"/>
                </a:solidFill>
              </a:rPr>
              <a:t>Is a schedule impossible?</a:t>
            </a:r>
          </a:p>
          <a:p>
            <a:pPr>
              <a:spcBef>
                <a:spcPts val="1000"/>
              </a:spcBef>
            </a:pPr>
            <a:r>
              <a:rPr lang="en-US" dirty="0">
                <a:solidFill>
                  <a:srgbClr val="FF0000"/>
                </a:solidFill>
              </a:rPr>
              <a:t>Is RMS able to give the schedule?</a:t>
            </a:r>
          </a:p>
          <a:p>
            <a:pPr>
              <a:spcBef>
                <a:spcPts val="1000"/>
              </a:spcBef>
            </a:pPr>
            <a:r>
              <a:rPr lang="en-US" dirty="0">
                <a:solidFill>
                  <a:srgbClr val="FF0000"/>
                </a:solidFill>
              </a:rPr>
              <a:t>Is </a:t>
            </a:r>
            <a:r>
              <a:rPr lang="en-US" i="1" dirty="0">
                <a:solidFill>
                  <a:srgbClr val="FF0000"/>
                </a:solidFill>
              </a:rPr>
              <a:t>any</a:t>
            </a:r>
            <a:r>
              <a:rPr lang="en-US" dirty="0">
                <a:solidFill>
                  <a:srgbClr val="FF0000"/>
                </a:solidFill>
              </a:rPr>
              <a:t> fixed priority able to give a schedule?</a:t>
            </a:r>
          </a:p>
          <a:p>
            <a:pPr>
              <a:spcBef>
                <a:spcPts val="1000"/>
              </a:spcBef>
            </a:pPr>
            <a:r>
              <a:rPr lang="en-US" dirty="0">
                <a:solidFill>
                  <a:srgbClr val="FF0000"/>
                </a:solidFill>
              </a:rPr>
              <a:t>Does CPU utilization, U &lt;= 1 guarantee feasible fixed priority schedule?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340302-AE90-5950-D173-035D42741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RMS example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B71D986-64AD-B09B-03E5-A0A4F30357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7877465"/>
              </p:ext>
            </p:extLst>
          </p:nvPr>
        </p:nvGraphicFramePr>
        <p:xfrm>
          <a:off x="304793" y="4724400"/>
          <a:ext cx="8382007" cy="1466850"/>
        </p:xfrm>
        <a:graphic>
          <a:graphicData uri="http://schemas.openxmlformats.org/drawingml/2006/table">
            <a:tbl>
              <a:tblPr/>
              <a:tblGrid>
                <a:gridCol w="259907">
                  <a:extLst>
                    <a:ext uri="{9D8B030D-6E8A-4147-A177-3AD203B41FA5}">
                      <a16:colId xmlns:a16="http://schemas.microsoft.com/office/drawing/2014/main" val="2089707505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2409684141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194404074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497304009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476966224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2725165320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623518394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3303630525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3186271318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2644668635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624410199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915821722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1959911938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201617633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1520473773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3039014634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2335632121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1000024315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71967366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1587011983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1533436220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409617072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2249017911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1380238052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1621156424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773557047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2383220834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1517288808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2953240187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3881853645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2364113997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1930937904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659231376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67842159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2399940424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2759026300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346569834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4119802059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3303248230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3995114662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1329661720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1795285122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2222378033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31973954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646950396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3543302501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1828332114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2498461127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4189654614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2913602481"/>
                    </a:ext>
                  </a:extLst>
                </a:gridCol>
                <a:gridCol w="162442">
                  <a:extLst>
                    <a:ext uri="{9D8B030D-6E8A-4147-A177-3AD203B41FA5}">
                      <a16:colId xmlns:a16="http://schemas.microsoft.com/office/drawing/2014/main" val="3346962029"/>
                    </a:ext>
                  </a:extLst>
                </a:gridCol>
              </a:tblGrid>
              <a:tr h="10001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l-GR" b="1">
                          <a:effectLst/>
                        </a:rPr>
                        <a:t>τ1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161687"/>
                  </a:ext>
                </a:extLst>
              </a:tr>
              <a:tr h="10001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746736"/>
                  </a:ext>
                </a:extLst>
              </a:tr>
              <a:tr h="10001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l-GR" b="1">
                          <a:effectLst/>
                        </a:rPr>
                        <a:t>τ2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494502"/>
                  </a:ext>
                </a:extLst>
              </a:tr>
              <a:tr h="10001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dirty="0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580442"/>
                  </a:ext>
                </a:extLst>
              </a:tr>
              <a:tr h="10001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b="1" dirty="0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 dirty="0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39886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3CCA0-8B11-B38C-24AA-9CDA0287E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0B742-9DC2-9859-B94D-B9D5B5C65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A2AE0D-DA98-2073-3E82-8A4190F1C977}"/>
              </a:ext>
            </a:extLst>
          </p:cNvPr>
          <p:cNvSpPr txBox="1"/>
          <p:nvPr/>
        </p:nvSpPr>
        <p:spPr>
          <a:xfrm>
            <a:off x="-76200" y="5879068"/>
            <a:ext cx="700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dirty="0">
                <a:effectLst/>
                <a:latin typeface="Arial" panose="020B0604020202020204" pitchFamily="34" charset="0"/>
              </a:rPr>
              <a:t>CPU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8933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DB4D-10FF-2E6D-5A3A-60BE1900E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6553200" cy="1195386"/>
          </a:xfrm>
        </p:spPr>
        <p:txBody>
          <a:bodyPr/>
          <a:lstStyle/>
          <a:p>
            <a:r>
              <a:rPr lang="en-US" dirty="0"/>
              <a:t>When is there an RMS schedule?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6A9CF-27F7-2E0D-758A-7C343AFF4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303838"/>
          </a:xfrm>
        </p:spPr>
        <p:txBody>
          <a:bodyPr>
            <a:normAutofit/>
          </a:bodyPr>
          <a:lstStyle/>
          <a:p>
            <a:r>
              <a:rPr lang="en-US" sz="2800" dirty="0"/>
              <a:t>U &gt; 1: no schedule possible</a:t>
            </a:r>
          </a:p>
          <a:p>
            <a:r>
              <a:rPr lang="en-US" sz="2800" dirty="0"/>
              <a:t>RMS schedule always exists if</a:t>
            </a:r>
            <a:br>
              <a:rPr lang="en-US" sz="2800" dirty="0"/>
            </a:br>
            <a:r>
              <a:rPr lang="en-US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 &lt; n (2</a:t>
            </a:r>
            <a:r>
              <a:rPr lang="en-US" sz="2800" baseline="30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1/n</a:t>
            </a:r>
            <a:r>
              <a:rPr lang="en-US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– 1)</a:t>
            </a:r>
          </a:p>
          <a:p>
            <a:endParaRPr lang="en-US" sz="2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800" dirty="0">
                <a:latin typeface="+mj-lt"/>
                <a:ea typeface="Cascadia Code" panose="020B0609020000020004" pitchFamily="49" charset="0"/>
                <a:cs typeface="Cascadia Code" panose="020B0609020000020004" pitchFamily="49" charset="0"/>
              </a:rPr>
              <a:t>If U &lt; 69%, RMS will </a:t>
            </a:r>
            <a:br>
              <a:rPr lang="en-US" sz="2800" dirty="0">
                <a:latin typeface="+mj-lt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latin typeface="+mj-lt"/>
                <a:ea typeface="Cascadia Code" panose="020B0609020000020004" pitchFamily="49" charset="0"/>
                <a:cs typeface="Cascadia Code" panose="020B0609020000020004" pitchFamily="49" charset="0"/>
              </a:rPr>
              <a:t>always give a schedule</a:t>
            </a:r>
          </a:p>
          <a:p>
            <a:endParaRPr lang="en-US" sz="2800" dirty="0">
              <a:latin typeface="+mj-lt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800" dirty="0">
                <a:latin typeface="+mj-lt"/>
                <a:ea typeface="Cascadia Code" panose="020B0609020000020004" pitchFamily="49" charset="0"/>
                <a:cs typeface="Cascadia Code" panose="020B0609020000020004" pitchFamily="49" charset="0"/>
              </a:rPr>
              <a:t>If U &gt; 69%, RMS </a:t>
            </a:r>
            <a:r>
              <a:rPr lang="en-US" sz="2800" i="1" dirty="0">
                <a:latin typeface="+mj-lt"/>
                <a:ea typeface="Cascadia Code" panose="020B0609020000020004" pitchFamily="49" charset="0"/>
                <a:cs typeface="Cascadia Code" panose="020B0609020000020004" pitchFamily="49" charset="0"/>
              </a:rPr>
              <a:t>may still</a:t>
            </a:r>
            <a:r>
              <a:rPr lang="en-US" sz="2800" dirty="0">
                <a:latin typeface="+mj-lt"/>
                <a:ea typeface="Cascadia Code" panose="020B0609020000020004" pitchFamily="49" charset="0"/>
                <a:cs typeface="Cascadia Code" panose="020B0609020000020004" pitchFamily="49" charset="0"/>
              </a:rPr>
              <a:t> give a valid schedule, but it is not guaranteed to work for all task models</a:t>
            </a:r>
          </a:p>
          <a:p>
            <a:r>
              <a:rPr lang="en-US" sz="2800" dirty="0">
                <a:latin typeface="+mj-lt"/>
                <a:ea typeface="Cascadia Code" panose="020B0609020000020004" pitchFamily="49" charset="0"/>
                <a:cs typeface="Cascadia Code" panose="020B0609020000020004" pitchFamily="49" charset="0"/>
              </a:rPr>
              <a:t>RMS is optimal when T = D. When D &lt; T: deadline monotonic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ED21E-91AF-931D-327A-2937BDD0E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B1394-C5C7-E659-63EF-9118AB3D5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36C3E8-B6F6-7FA4-C394-2B8D63E7F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286000"/>
            <a:ext cx="4528705" cy="242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6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FBB8A-097B-68F7-4C4D-03259652A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FB9346E-E3FA-7DBC-DC7B-7C852CCD1C97}"/>
              </a:ext>
            </a:extLst>
          </p:cNvPr>
          <p:cNvSpPr txBox="1">
            <a:spLocks/>
          </p:cNvSpPr>
          <p:nvPr/>
        </p:nvSpPr>
        <p:spPr bwMode="auto">
          <a:xfrm>
            <a:off x="188407" y="1524000"/>
            <a:ext cx="88392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US" dirty="0"/>
              <a:t>For the tasks shown:</a:t>
            </a:r>
            <a:br>
              <a:rPr lang="en-US" dirty="0"/>
            </a:br>
            <a:r>
              <a:rPr lang="en-US" dirty="0"/>
              <a:t>p1 = (10, 20, 20); p2 = (15, 30, 30)</a:t>
            </a:r>
          </a:p>
          <a:p>
            <a:pPr>
              <a:spcBef>
                <a:spcPts val="1000"/>
              </a:spcBef>
            </a:pPr>
            <a:r>
              <a:rPr lang="en-US" dirty="0"/>
              <a:t>No RMS schedule</a:t>
            </a:r>
          </a:p>
          <a:p>
            <a:pPr>
              <a:spcBef>
                <a:spcPts val="1000"/>
              </a:spcBef>
            </a:pPr>
            <a:r>
              <a:rPr lang="en-US" dirty="0">
                <a:solidFill>
                  <a:srgbClr val="FF0000"/>
                </a:solidFill>
              </a:rPr>
              <a:t>For what model will a schedule exist?</a:t>
            </a:r>
          </a:p>
          <a:p>
            <a:pPr>
              <a:spcBef>
                <a:spcPts val="1000"/>
              </a:spcBef>
            </a:pPr>
            <a:r>
              <a:rPr lang="en-US" dirty="0"/>
              <a:t>p2 = (10, 30, 30) gives U = 83% (within limit for n = 2)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25C6B-14BE-332F-521C-45867B58B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RMS example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94CE9-F6B8-3684-F7AA-8FE8C71D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707D4B-300B-18C9-5745-FBCA6987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315945-1B26-121B-FA30-7DEFF91D4C7A}"/>
              </a:ext>
            </a:extLst>
          </p:cNvPr>
          <p:cNvSpPr txBox="1"/>
          <p:nvPr/>
        </p:nvSpPr>
        <p:spPr>
          <a:xfrm>
            <a:off x="-76200" y="5879068"/>
            <a:ext cx="700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dirty="0">
                <a:effectLst/>
                <a:latin typeface="Arial" panose="020B0604020202020204" pitchFamily="34" charset="0"/>
              </a:rPr>
              <a:t>CPU</a:t>
            </a:r>
            <a:endParaRPr lang="en-IN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161D4D43-E6A3-31D5-DBC9-532E7562C7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5935747"/>
              </p:ext>
            </p:extLst>
          </p:nvPr>
        </p:nvGraphicFramePr>
        <p:xfrm>
          <a:off x="304817" y="4759036"/>
          <a:ext cx="8381983" cy="1466850"/>
        </p:xfrm>
        <a:graphic>
          <a:graphicData uri="http://schemas.openxmlformats.org/drawingml/2006/table">
            <a:tbl>
              <a:tblPr/>
              <a:tblGrid>
                <a:gridCol w="322383">
                  <a:extLst>
                    <a:ext uri="{9D8B030D-6E8A-4147-A177-3AD203B41FA5}">
                      <a16:colId xmlns:a16="http://schemas.microsoft.com/office/drawing/2014/main" val="2377568084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439665935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2119596371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3526647496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1638347232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2552379709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3605623600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1242059419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1389122675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1816991128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2794939581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1141343468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1768321119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2235433665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825991454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2201258704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1271188744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3352885132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188573138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735606787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289769449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443263525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243132847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3916518749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2444683568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1325951881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780533435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2864652141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3418820130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2606253144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4207221647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2439149741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4146944026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3685239798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1867389981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3178458850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1633448513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658775268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1211154265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3994220524"/>
                    </a:ext>
                  </a:extLst>
                </a:gridCol>
                <a:gridCol w="201490">
                  <a:extLst>
                    <a:ext uri="{9D8B030D-6E8A-4147-A177-3AD203B41FA5}">
                      <a16:colId xmlns:a16="http://schemas.microsoft.com/office/drawing/2014/main" val="943441419"/>
                    </a:ext>
                  </a:extLst>
                </a:gridCol>
              </a:tblGrid>
              <a:tr h="20458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l-GR" b="1" dirty="0">
                          <a:effectLst/>
                        </a:rPr>
                        <a:t>τ1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888326"/>
                  </a:ext>
                </a:extLst>
              </a:tr>
              <a:tr h="20458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dirty="0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98887"/>
                  </a:ext>
                </a:extLst>
              </a:tr>
              <a:tr h="20458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l-GR" b="1">
                          <a:effectLst/>
                        </a:rPr>
                        <a:t>τ2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009836"/>
                  </a:ext>
                </a:extLst>
              </a:tr>
              <a:tr h="20458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900746"/>
                  </a:ext>
                </a:extLst>
              </a:tr>
              <a:tr h="27284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b="1" dirty="0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 dirty="0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622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2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6ED0C-3553-C3F7-F77F-3DA39298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do better with dynamic priorities?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FC60A-7266-A0E8-4A02-0BB708DCA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7800"/>
            <a:ext cx="8839200" cy="50149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Earliest deadline first</a:t>
            </a:r>
          </a:p>
          <a:p>
            <a:r>
              <a:rPr lang="en-US" dirty="0"/>
              <a:t>Process with the earliest next deadline given highest priority</a:t>
            </a:r>
          </a:p>
          <a:p>
            <a:r>
              <a:rPr lang="en-US" dirty="0"/>
              <a:t>p1 = (10, 20, 20); p2 = (15, 30, 30) (U = 100%)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8CD5E-2F90-F188-69DF-A0C95EC4F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2F217-1F1E-472C-F66B-3BF05BC2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9EB75C-D198-9818-8600-91F88A20F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099254"/>
              </p:ext>
            </p:extLst>
          </p:nvPr>
        </p:nvGraphicFramePr>
        <p:xfrm>
          <a:off x="76215" y="4267200"/>
          <a:ext cx="8991569" cy="1405890"/>
        </p:xfrm>
        <a:graphic>
          <a:graphicData uri="http://schemas.openxmlformats.org/drawingml/2006/table">
            <a:tbl>
              <a:tblPr/>
              <a:tblGrid>
                <a:gridCol w="233549">
                  <a:extLst>
                    <a:ext uri="{9D8B030D-6E8A-4147-A177-3AD203B41FA5}">
                      <a16:colId xmlns:a16="http://schemas.microsoft.com/office/drawing/2014/main" val="3068350108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3223480375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4267847836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2608069717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561371011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3692186517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2991274060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920977540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325556699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201161196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146826750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1203248024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300120911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949559421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301588246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187746642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2348129480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1121586018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49582163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3399303445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2638036583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2614072422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653246810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3409517219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2615865482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2542468118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1806014164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1721479462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2579188799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2897151280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4019614255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2640372579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3211021999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963739958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476128341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3708018758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386552424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2152033750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571938384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664003630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3376954017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2132506574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4029688371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2934296199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3700163700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3562510176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172184862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1068241463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3778963483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1300774417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4193534856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76528187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285366981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843265228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341836444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3345062054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410854758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4015774529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3480118366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3700917559"/>
                    </a:ext>
                  </a:extLst>
                </a:gridCol>
                <a:gridCol w="145967">
                  <a:extLst>
                    <a:ext uri="{9D8B030D-6E8A-4147-A177-3AD203B41FA5}">
                      <a16:colId xmlns:a16="http://schemas.microsoft.com/office/drawing/2014/main" val="295149031"/>
                    </a:ext>
                  </a:extLst>
                </a:gridCol>
              </a:tblGrid>
              <a:tr h="22352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l-GR" sz="1600" b="1" dirty="0">
                          <a:effectLst/>
                        </a:rPr>
                        <a:t>τ1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127781"/>
                  </a:ext>
                </a:extLst>
              </a:tr>
              <a:tr h="24944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600" dirty="0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17099"/>
                  </a:ext>
                </a:extLst>
              </a:tr>
              <a:tr h="22352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l-GR" sz="1600" b="1" dirty="0">
                          <a:effectLst/>
                        </a:rPr>
                        <a:t>Τ2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0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933829"/>
                  </a:ext>
                </a:extLst>
              </a:tr>
              <a:tr h="24944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dirty="0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219978"/>
                  </a:ext>
                </a:extLst>
              </a:tr>
              <a:tr h="24944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b="1" dirty="0">
                        <a:effectLst/>
                      </a:endParaRP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2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N" sz="100" b="1" dirty="0">
                          <a:effectLst/>
                        </a:rPr>
                        <a:t>1</a:t>
                      </a:r>
                    </a:p>
                  </a:txBody>
                  <a:tcPr marL="14288" marR="14288" marT="9525" marB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87369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E98C8C1-6444-BD77-6547-E54FD96A0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5746409"/>
            <a:ext cx="2257942" cy="6413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D19C5B-9792-7177-D637-1A97F420DD51}"/>
              </a:ext>
            </a:extLst>
          </p:cNvPr>
          <p:cNvSpPr txBox="1"/>
          <p:nvPr/>
        </p:nvSpPr>
        <p:spPr>
          <a:xfrm>
            <a:off x="-76200" y="5372816"/>
            <a:ext cx="700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dirty="0">
                <a:effectLst/>
                <a:latin typeface="Arial" panose="020B0604020202020204" pitchFamily="34" charset="0"/>
              </a:rPr>
              <a:t>CPU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6649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35A3C-1AD2-9953-2862-0C5C39689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Earliest deadline first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103EC-F0E9-FC18-0527-DF1C1B05A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EDF is optimal</a:t>
            </a:r>
          </a:p>
          <a:p>
            <a:pPr lvl="1"/>
            <a:r>
              <a:rPr lang="en-US" dirty="0"/>
              <a:t>If a dynamic priority schedule exists, EDF will produce a feasible schedule</a:t>
            </a:r>
          </a:p>
          <a:p>
            <a:endParaRPr lang="en-US" dirty="0"/>
          </a:p>
          <a:p>
            <a:r>
              <a:rPr lang="en-US" dirty="0"/>
              <a:t>EDF is efficient</a:t>
            </a:r>
          </a:p>
          <a:p>
            <a:pPr lvl="1"/>
            <a:r>
              <a:rPr lang="en-US" dirty="0"/>
              <a:t>A dynamic priority schedule exists if and only if utilization is no greater than 100%</a:t>
            </a:r>
          </a:p>
          <a:p>
            <a:pPr lvl="1"/>
            <a:r>
              <a:rPr lang="en-US" dirty="0"/>
              <a:t>i.e. EDF is most efficient at getting every bit of CPU availability utilized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D3EEA-DF56-F27E-C323-F1911E8E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1EBBAE-B1A6-ACCA-D513-6F17DCAF9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038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73343-0C1F-4BE9-4A5D-A4965245E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Which is better – RMS or EDF?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50E95-CC02-4A9D-26FF-7DB4EE8CF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053C2-AC25-F9EC-D6E6-90A1F976D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90744A1-7043-1FBE-CE00-C23CD0B29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Scheduling overhead:</a:t>
            </a:r>
          </a:p>
          <a:p>
            <a:pPr lvl="1"/>
            <a:r>
              <a:rPr lang="en-US" dirty="0"/>
              <a:t>RMS: simple lookup of priorities: o(1)</a:t>
            </a:r>
          </a:p>
          <a:p>
            <a:pPr lvl="1"/>
            <a:r>
              <a:rPr lang="en-US" dirty="0"/>
              <a:t>EDF: sort tasks based on deadline every time: o(n)</a:t>
            </a:r>
          </a:p>
          <a:p>
            <a:r>
              <a:rPr lang="en-US" dirty="0"/>
              <a:t>Analysis:</a:t>
            </a:r>
          </a:p>
          <a:p>
            <a:pPr lvl="1"/>
            <a:r>
              <a:rPr lang="en-US" dirty="0"/>
              <a:t>RMS, with fixed priorities, is easier to analyze and debug for a system; more predictable</a:t>
            </a:r>
          </a:p>
          <a:p>
            <a:r>
              <a:rPr lang="en-IN" dirty="0"/>
              <a:t>Overload </a:t>
            </a:r>
            <a:r>
              <a:rPr lang="en-IN" dirty="0" err="1"/>
              <a:t>behavior</a:t>
            </a:r>
            <a:r>
              <a:rPr lang="en-IN" dirty="0"/>
              <a:t> (if more U than supported):</a:t>
            </a:r>
          </a:p>
          <a:p>
            <a:pPr lvl="1"/>
            <a:r>
              <a:rPr lang="en-IN" dirty="0"/>
              <a:t>RMS: Low priority tasks suffer, high priority are always safe</a:t>
            </a:r>
          </a:p>
          <a:p>
            <a:pPr lvl="1"/>
            <a:r>
              <a:rPr lang="en-IN" dirty="0"/>
              <a:t>EDF: All tasks are knocked off deadline</a:t>
            </a:r>
          </a:p>
        </p:txBody>
      </p:sp>
    </p:spTree>
    <p:extLst>
      <p:ext uri="{BB962C8B-B14F-4D97-AF65-F5344CB8AC3E}">
        <p14:creationId xmlns:p14="http://schemas.microsoft.com/office/powerpoint/2010/main" val="174842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4CD3B-6C7D-5B80-81F9-870C3C9E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inversion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2BF7-8187-0CE2-6D15-8092E5DB9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00129-325D-E881-961A-3CB9388ED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C03E9A-4E92-1C70-80F2-2276079F3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775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15844</TotalTime>
  <Words>2751</Words>
  <Application>Microsoft Office PowerPoint</Application>
  <PresentationFormat>On-screen Show (4:3)</PresentationFormat>
  <Paragraphs>1090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Cascadia Code</vt:lpstr>
      <vt:lpstr>Wingdings</vt:lpstr>
      <vt:lpstr>Office Theme</vt:lpstr>
      <vt:lpstr>Software for Embedded Systems</vt:lpstr>
      <vt:lpstr>Where we are</vt:lpstr>
      <vt:lpstr>Organization of the application layer</vt:lpstr>
      <vt:lpstr>Pattern I: Monolithic controller</vt:lpstr>
      <vt:lpstr>Pattern II: Coordinated controllers</vt:lpstr>
      <vt:lpstr>Pattern III: Event dispatcher</vt:lpstr>
      <vt:lpstr>Event ownership at application level</vt:lpstr>
      <vt:lpstr>Comparison of application level patterns</vt:lpstr>
      <vt:lpstr>Control flow visibility</vt:lpstr>
      <vt:lpstr>Ease of adding modules</vt:lpstr>
      <vt:lpstr>Final distinctions</vt:lpstr>
      <vt:lpstr>Where we are</vt:lpstr>
      <vt:lpstr>Execution model = Rules of Running</vt:lpstr>
      <vt:lpstr>Models and contexts</vt:lpstr>
      <vt:lpstr>The superloop</vt:lpstr>
      <vt:lpstr>Multitasking</vt:lpstr>
      <vt:lpstr>The cyclic executive model</vt:lpstr>
      <vt:lpstr>What do you do inside an interrupt service routine?</vt:lpstr>
      <vt:lpstr>Typical ISR</vt:lpstr>
      <vt:lpstr>CE + Interrupts</vt:lpstr>
      <vt:lpstr>Cooperative multitasking</vt:lpstr>
      <vt:lpstr>Operating systems</vt:lpstr>
      <vt:lpstr>Operating systems for conventional vs embedded systems</vt:lpstr>
      <vt:lpstr>Embedded operating systems</vt:lpstr>
      <vt:lpstr>Types of real time constraints</vt:lpstr>
      <vt:lpstr>What factors make real-time hard?</vt:lpstr>
      <vt:lpstr>Real time operating systems</vt:lpstr>
      <vt:lpstr>RTOS Task Model</vt:lpstr>
      <vt:lpstr>Periods can be very different for different tasks</vt:lpstr>
      <vt:lpstr>Can we have period (T) different from deadline(D)? </vt:lpstr>
      <vt:lpstr>Scheduling</vt:lpstr>
      <vt:lpstr>Fixed priority preemptive scheduling (FPPS)</vt:lpstr>
      <vt:lpstr>FPPS</vt:lpstr>
      <vt:lpstr>Task sets do not always have a feasible schedule</vt:lpstr>
      <vt:lpstr>Rate Monotonic Scheduling (RMS)</vt:lpstr>
      <vt:lpstr>RMS example</vt:lpstr>
      <vt:lpstr>When is there an RMS schedule?</vt:lpstr>
      <vt:lpstr>RMS example</vt:lpstr>
      <vt:lpstr>Can we do better with dynamic priorities?</vt:lpstr>
      <vt:lpstr>Earliest deadline first</vt:lpstr>
      <vt:lpstr>Which is better – RMS or EDF?</vt:lpstr>
      <vt:lpstr>Priority inversion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737</cp:revision>
  <dcterms:created xsi:type="dcterms:W3CDTF">2010-01-15T20:22:21Z</dcterms:created>
  <dcterms:modified xsi:type="dcterms:W3CDTF">2026-03-20T06:20:38Z</dcterms:modified>
</cp:coreProperties>
</file>