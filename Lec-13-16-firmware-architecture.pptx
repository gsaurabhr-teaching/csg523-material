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337" r:id="rId2"/>
    <p:sldId id="338" r:id="rId3"/>
    <p:sldId id="339" r:id="rId4"/>
    <p:sldId id="340" r:id="rId5"/>
    <p:sldId id="346" r:id="rId6"/>
    <p:sldId id="342" r:id="rId7"/>
    <p:sldId id="343" r:id="rId8"/>
    <p:sldId id="344" r:id="rId9"/>
    <p:sldId id="345" r:id="rId10"/>
    <p:sldId id="341" r:id="rId11"/>
    <p:sldId id="347" r:id="rId12"/>
    <p:sldId id="348" r:id="rId13"/>
    <p:sldId id="349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C3E8"/>
    <a:srgbClr val="EA3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2730" autoAdjust="0"/>
  </p:normalViewPr>
  <p:slideViewPr>
    <p:cSldViewPr>
      <p:cViewPr varScale="1">
        <p:scale>
          <a:sx n="84" d="100"/>
          <a:sy n="84" d="100"/>
        </p:scale>
        <p:origin x="81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2/5/2026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44638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D4032-0DCD-4B56-8C1A-A046DCFB4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7772400" cy="312420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2400" y="53975"/>
            <a:ext cx="63246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2400" y="1446211"/>
            <a:ext cx="8839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9238"/>
            <a:ext cx="1828800" cy="25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99238"/>
            <a:ext cx="28956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,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6599238"/>
            <a:ext cx="4572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B1A82462-8175-42D8-B46C-67766E05E74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id="{F71B9737-4DA8-4B8F-9335-5F2A7C906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2335E3-1C88-4FEB-B3EA-2686D6520BD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7711E8-77A4-4937-A983-1A5FDBFC08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1875C-BA0F-4B96-BF59-4025A49FA0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2B4447A-9437-4C8F-B654-838CD5BB86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377527-4981-49F2-8F12-B5DB6F06612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B94671-9EEF-4175-9164-57B69291B8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C7A3-548A-4998-81D6-DC9D9CECAA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C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Software for Embedded Systems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59F4A-9C12-46B1-B873-F11D3F5D5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Firmware architecture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BDEED-0F9F-4246-A8E8-B25CC65F4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0D6F2-DFFB-48F6-A130-E7D5A2E2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820CBC-7EE9-4906-820D-C0252DF89B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do we structure software so that the behavior we modeled </a:t>
            </a:r>
            <a:r>
              <a:rPr lang="en-US" b="1" i="1" dirty="0"/>
              <a:t>cannot be violated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2380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4D980-555D-4175-A410-5B3CEB304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firmware architecture?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A776E-93A4-4B3D-8CE9-9A69F2F71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dirty="0"/>
              <a:t>Firmware architecture defines:</a:t>
            </a:r>
          </a:p>
          <a:p>
            <a:pPr>
              <a:spcBef>
                <a:spcPts val="1200"/>
              </a:spcBef>
            </a:pPr>
            <a:r>
              <a:rPr lang="en-US" dirty="0"/>
              <a:t>Major software components</a:t>
            </a:r>
          </a:p>
          <a:p>
            <a:pPr>
              <a:spcBef>
                <a:spcPts val="1200"/>
              </a:spcBef>
            </a:pPr>
            <a:r>
              <a:rPr lang="en-US" dirty="0"/>
              <a:t>Their responsibilities</a:t>
            </a:r>
          </a:p>
          <a:p>
            <a:pPr>
              <a:spcBef>
                <a:spcPts val="1200"/>
              </a:spcBef>
            </a:pPr>
            <a:r>
              <a:rPr lang="en-US" dirty="0"/>
              <a:t>Allowed communication channels between components</a:t>
            </a:r>
          </a:p>
          <a:p>
            <a:pPr>
              <a:spcBef>
                <a:spcPts val="1200"/>
              </a:spcBef>
            </a:pPr>
            <a:r>
              <a:rPr lang="en-US" dirty="0"/>
              <a:t>Execution context boundaries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/>
              <a:t>It tells us:</a:t>
            </a:r>
          </a:p>
          <a:p>
            <a:pPr>
              <a:spcBef>
                <a:spcPts val="1200"/>
              </a:spcBef>
            </a:pPr>
            <a:r>
              <a:rPr lang="en-US" dirty="0"/>
              <a:t>Who runs where?</a:t>
            </a:r>
          </a:p>
          <a:p>
            <a:pPr>
              <a:spcBef>
                <a:spcPts val="1200"/>
              </a:spcBef>
            </a:pPr>
            <a:r>
              <a:rPr lang="en-US" dirty="0"/>
              <a:t>Who may call whom?</a:t>
            </a:r>
          </a:p>
          <a:p>
            <a:pPr>
              <a:spcBef>
                <a:spcPts val="1200"/>
              </a:spcBef>
            </a:pPr>
            <a:r>
              <a:rPr lang="en-US" dirty="0"/>
              <a:t>Who may block whom?</a:t>
            </a:r>
          </a:p>
          <a:p>
            <a:pPr>
              <a:spcBef>
                <a:spcPts val="1200"/>
              </a:spcBef>
            </a:pPr>
            <a:r>
              <a:rPr lang="en-US" dirty="0"/>
              <a:t>Who reacts to events?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4D999-4AC5-4636-90E1-D105EA4EE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411CFE-C81B-44A9-A56B-B386E000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400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B03BF-3CF0-4450-84FD-9AD829A9D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is more than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026E0-9AAA-4090-9940-0146F2FCC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misconception: architecture means</a:t>
            </a:r>
            <a:br>
              <a:rPr lang="en-US" dirty="0"/>
            </a:br>
            <a:r>
              <a:rPr lang="en-US" dirty="0"/>
              <a:t>HAL </a:t>
            </a:r>
            <a:r>
              <a:rPr lang="en-US" dirty="0">
                <a:sym typeface="Wingdings" panose="05000000000000000000" pitchFamily="2" charset="2"/>
              </a:rPr>
              <a:t> drivers  application</a:t>
            </a:r>
          </a:p>
          <a:p>
            <a:r>
              <a:rPr lang="en-US" dirty="0">
                <a:sym typeface="Wingdings" panose="05000000000000000000" pitchFamily="2" charset="2"/>
              </a:rPr>
              <a:t>HAL: Hardware Abstraction Layer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Layers do not enforce timing constraints</a:t>
            </a:r>
          </a:p>
          <a:p>
            <a:r>
              <a:rPr lang="en-US" dirty="0"/>
              <a:t>Layers do not prevent blocking</a:t>
            </a:r>
          </a:p>
          <a:p>
            <a:r>
              <a:rPr lang="en-US" dirty="0"/>
              <a:t>Layers do not encode safety-first design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E0936-CD1C-47C4-BE62-41F674A0A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99CA3-8D81-4402-B9B6-2AAC70F26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85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534E0-8784-4BF3-AB46-A0E2B9886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building blocks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EC1D52-8FEE-438F-9159-EB35B623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1B222-46F2-405C-B8AE-16D34A724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6EC33F-4719-4706-B032-0385C76B44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2590800"/>
            <a:ext cx="7772400" cy="3810000"/>
          </a:xfrm>
        </p:spPr>
        <p:txBody>
          <a:bodyPr>
            <a:normAutofit fontScale="77500" lnSpcReduction="20000"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b="1" dirty="0"/>
              <a:t>"Blocks"</a:t>
            </a:r>
            <a:r>
              <a:rPr lang="en-US" dirty="0"/>
              <a:t> are the modular, logical, and structural units that make up your system</a:t>
            </a:r>
          </a:p>
          <a:p>
            <a:pPr>
              <a:spcBef>
                <a:spcPts val="1200"/>
              </a:spcBef>
            </a:pPr>
            <a:r>
              <a:rPr lang="en-US" dirty="0"/>
              <a:t>Isolation: blocks represent independent components</a:t>
            </a:r>
          </a:p>
          <a:p>
            <a:pPr>
              <a:spcBef>
                <a:spcPts val="1200"/>
              </a:spcBef>
            </a:pPr>
            <a:r>
              <a:rPr lang="en-US" dirty="0"/>
              <a:t>Swap-ability</a:t>
            </a:r>
          </a:p>
          <a:p>
            <a:pPr>
              <a:spcBef>
                <a:spcPts val="1200"/>
              </a:spcBef>
            </a:pPr>
            <a:r>
              <a:rPr lang="en-US" dirty="0"/>
              <a:t>Testability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dirty="0"/>
              <a:t>A block is anything you can draw a box around in a diagram and define a clear 'Input' and 'Output' for. If you can't draw a box around your code, it's not an architecture; it's a script.</a:t>
            </a:r>
          </a:p>
        </p:txBody>
      </p:sp>
    </p:spTree>
    <p:extLst>
      <p:ext uri="{BB962C8B-B14F-4D97-AF65-F5344CB8AC3E}">
        <p14:creationId xmlns:p14="http://schemas.microsoft.com/office/powerpoint/2010/main" val="2791845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ABF7A-37F9-459A-908A-B09DFA75C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C5B8C-B3AC-4356-B9EF-1E6780C9C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5939698" cy="50149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Define where code lives</a:t>
            </a:r>
          </a:p>
          <a:p>
            <a:r>
              <a:rPr lang="en-US" dirty="0"/>
              <a:t>Hardware Abstraction Layer (HAL): the block that wraps registers</a:t>
            </a:r>
          </a:p>
          <a:p>
            <a:pPr lvl="1"/>
            <a:r>
              <a:rPr lang="en-US" dirty="0"/>
              <a:t>Turns </a:t>
            </a:r>
            <a:r>
              <a:rPr lang="en-US" i="1" dirty="0"/>
              <a:t>LPC_GPIO0-&gt;FIOPIN |= (1 &lt;&lt; 5)</a:t>
            </a:r>
            <a:r>
              <a:rPr lang="en-US" dirty="0"/>
              <a:t> into </a:t>
            </a:r>
            <a:r>
              <a:rPr lang="en-US" i="1" dirty="0" err="1"/>
              <a:t>Led_On</a:t>
            </a:r>
            <a:r>
              <a:rPr lang="en-US" i="1" dirty="0"/>
              <a:t>()</a:t>
            </a:r>
          </a:p>
          <a:p>
            <a:r>
              <a:rPr lang="en-US" dirty="0"/>
              <a:t>Drivers: Specialized blocks for external actors</a:t>
            </a:r>
          </a:p>
          <a:p>
            <a:r>
              <a:rPr lang="en-US" dirty="0"/>
              <a:t>Middleware: Heavy-duty blocks that provide generic services, such as file system handling</a:t>
            </a:r>
          </a:p>
          <a:p>
            <a:r>
              <a:rPr lang="en-US" dirty="0"/>
              <a:t>Application logic: High level logic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0564C-BF6A-4BC1-BA16-1D866A8E0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94FB6-C5D3-46FA-AF2B-0DD7452D1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8FB76C-1F82-4FA8-B82A-B770356F9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098" y="1446209"/>
            <a:ext cx="2899502" cy="501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8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207FE-CC82-40E3-96E1-8F67212CD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65015-6224-438E-9248-DB98AAB8C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6324600" cy="50149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Define how code runs and how CPU is shared</a:t>
            </a:r>
          </a:p>
          <a:p>
            <a:r>
              <a:rPr lang="en-US" sz="2800" dirty="0"/>
              <a:t>The main loop (</a:t>
            </a:r>
            <a:r>
              <a:rPr lang="en-US" sz="2800" dirty="0" err="1"/>
              <a:t>superloop</a:t>
            </a:r>
            <a:r>
              <a:rPr lang="en-US" sz="2800" dirty="0"/>
              <a:t>): simplest execution block that runs every task sequentially</a:t>
            </a:r>
          </a:p>
          <a:p>
            <a:r>
              <a:rPr lang="en-US" sz="2800" dirty="0"/>
              <a:t>Interrupt Service Routines: High priority blocks triggered by hardware events</a:t>
            </a:r>
          </a:p>
          <a:p>
            <a:pPr lvl="1"/>
            <a:r>
              <a:rPr lang="en-US" sz="2400" dirty="0"/>
              <a:t>Preempt whatever the CPU is doing</a:t>
            </a:r>
          </a:p>
          <a:p>
            <a:r>
              <a:rPr lang="en-US" sz="2800" dirty="0"/>
              <a:t>RTOS tasks / threads: Independent blocks of execution that have their own priority</a:t>
            </a:r>
          </a:p>
          <a:p>
            <a:pPr lvl="1"/>
            <a:r>
              <a:rPr lang="en-US" sz="2400" dirty="0"/>
              <a:t>A scheduler decides when the tasks run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F20A9-E7E1-4D5F-ACE9-1F121493D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8298CA-FD01-4F97-9E49-F23D7CA99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08F533-2FDD-4031-B261-92712268C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391657" y="2741355"/>
            <a:ext cx="4895088" cy="230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99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0418C-916C-4FEF-9C7B-A1674CC36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and sync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6EEA2-CB9E-4B5D-A70A-A7788239C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5181600" cy="501491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These blocks allow the other units to talk to each other without causing data corruption</a:t>
            </a:r>
          </a:p>
          <a:p>
            <a:r>
              <a:rPr lang="en-US" dirty="0"/>
              <a:t>Message queues: A mailbox block (task A drops a message into the queue, task B can pick it up when ready)</a:t>
            </a:r>
          </a:p>
          <a:p>
            <a:r>
              <a:rPr lang="en-US" dirty="0"/>
              <a:t>Semaphores / mutexes: Lock blocks, ensuring proper resource sharing and usage</a:t>
            </a:r>
          </a:p>
          <a:p>
            <a:r>
              <a:rPr lang="en-US" dirty="0"/>
              <a:t>Event flags: Simple signal blocks used to wake up sleeping tasks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5AD50-E81F-4ECA-9C07-EE22A5880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BAC86-DB68-4255-9DC7-F059FF4D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EF2BBA-80F3-4116-9313-2597BA0D7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114" y="1446211"/>
            <a:ext cx="3591969" cy="501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85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F8B69-FAE9-4111-BC67-1A7BEBBB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Behavioral and interface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5286D-0760-4A67-82AE-0538CA26C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6858000" cy="371774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State machines: The core logic block. Tracks the ‘state’ of the system and defines what events are allowed etc.</a:t>
            </a:r>
          </a:p>
          <a:p>
            <a:r>
              <a:rPr lang="en-US" dirty="0"/>
              <a:t>Fault handlers: The emergency block; code that runs when things go wrong</a:t>
            </a:r>
          </a:p>
          <a:p>
            <a:r>
              <a:rPr lang="en-US" dirty="0"/>
              <a:t>APIs: The "surface" of a block. It defines the header files and functions that other blocks are allowed to see and call.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4C666-B6CB-4266-B63A-4AEABC776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67F9FE-62D3-42E9-A03B-FADFFD606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EBE456-28FD-4440-9199-72039BF2D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719" y="1249361"/>
            <a:ext cx="2037041" cy="5181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6D3718-4CAA-486B-AB69-83CB84A66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5163959"/>
            <a:ext cx="7516274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129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F1399-D996-4092-A98C-004D769D7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975"/>
            <a:ext cx="6477000" cy="1195386"/>
          </a:xfrm>
        </p:spPr>
        <p:txBody>
          <a:bodyPr/>
          <a:lstStyle/>
          <a:p>
            <a:r>
              <a:rPr lang="en-US" dirty="0"/>
              <a:t>Encapsulation block: states </a:t>
            </a:r>
            <a:r>
              <a:rPr lang="en-US" dirty="0">
                <a:sym typeface="Wingdings" panose="05000000000000000000" pitchFamily="2" charset="2"/>
              </a:rPr>
              <a:t> modules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B56B1-7215-48E3-8CED-DE8CC5490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691605"/>
            <a:ext cx="8839200" cy="376951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Each concurrent region in a </a:t>
            </a:r>
            <a:r>
              <a:rPr lang="en-US" dirty="0" err="1"/>
              <a:t>statechart</a:t>
            </a:r>
            <a:r>
              <a:rPr lang="en-US" dirty="0"/>
              <a:t> must map to a separate architectural concern.</a:t>
            </a:r>
          </a:p>
          <a:p>
            <a:r>
              <a:rPr lang="en-US" dirty="0"/>
              <a:t>Each state owns its own data</a:t>
            </a:r>
          </a:p>
          <a:p>
            <a:r>
              <a:rPr lang="en-US" dirty="0"/>
              <a:t>Flow control </a:t>
            </a:r>
            <a:r>
              <a:rPr lang="en-US" dirty="0">
                <a:sym typeface="Wingdings" panose="05000000000000000000" pitchFamily="2" charset="2"/>
              </a:rPr>
              <a:t> control module</a:t>
            </a:r>
          </a:p>
          <a:p>
            <a:r>
              <a:rPr lang="en-US" dirty="0">
                <a:sym typeface="Wingdings" panose="05000000000000000000" pitchFamily="2" charset="2"/>
              </a:rPr>
              <a:t>Safety monitoring  safety module</a:t>
            </a:r>
          </a:p>
          <a:p>
            <a:r>
              <a:rPr lang="en-US" dirty="0">
                <a:sym typeface="Wingdings" panose="05000000000000000000" pitchFamily="2" charset="2"/>
              </a:rPr>
              <a:t>Logging  logging module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72DC1-3E3F-486B-B438-61B8CF152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285FD-324E-48CC-AE13-96D0A7B5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167BB5-C809-46A9-A174-A6F899D8B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417956"/>
            <a:ext cx="7421011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563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94296-298E-46F7-A782-376D5EF77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Dispatch block: transitions </a:t>
            </a:r>
            <a:r>
              <a:rPr lang="en-US" dirty="0">
                <a:sym typeface="Wingdings" panose="05000000000000000000" pitchFamily="2" charset="2"/>
              </a:rPr>
              <a:t> executable logic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8545C-3126-421D-B83D-346A6C1FB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5715000" cy="5014912"/>
          </a:xfrm>
        </p:spPr>
        <p:txBody>
          <a:bodyPr/>
          <a:lstStyle/>
          <a:p>
            <a:r>
              <a:rPr lang="en-US" dirty="0"/>
              <a:t>Decides which state transition logic to run based on the incoming event and current state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25901-BE07-446C-9CE5-64A68F07D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D4A564-D809-4121-8EF7-60B78F344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159014-46A2-4581-8434-58ED9138C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387476"/>
            <a:ext cx="2971800" cy="292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767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C75C6-32DD-45BA-8DD7-5B55F234F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ISR bridge: signals </a:t>
            </a:r>
            <a:r>
              <a:rPr lang="en-US" dirty="0">
                <a:sym typeface="Wingdings" panose="05000000000000000000" pitchFamily="2" charset="2"/>
              </a:rPr>
              <a:t> events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5E549-290A-445C-A301-2319CD15F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319429"/>
            <a:ext cx="8839200" cy="4141693"/>
          </a:xfrm>
        </p:spPr>
        <p:txBody>
          <a:bodyPr/>
          <a:lstStyle/>
          <a:p>
            <a:r>
              <a:rPr lang="en-US" dirty="0"/>
              <a:t>Sanitizes raw hardware pulses and turns them into events that the architecture understands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894BC-17B1-434A-AC92-EAE1F1258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FEFAD-AAF5-483B-A60F-D32374426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EE7B5E-9E57-4989-8E88-BD154FAD0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68" y="1446211"/>
            <a:ext cx="7440063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958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04277-4811-451D-A5E1-A386353FC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hooks: entry/exit/do </a:t>
            </a:r>
            <a:r>
              <a:rPr lang="en-US" dirty="0">
                <a:sym typeface="Wingdings" panose="05000000000000000000" pitchFamily="2" charset="2"/>
              </a:rPr>
              <a:t> hardware commands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DD177-2E41-4DD9-B6D6-96AFB64A4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Ensures hardware is initialized and cleaned up during state changes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216A9-7F47-44DF-9E78-6E3919BFF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0BB72C-FA7E-4F31-A6A1-7DD73C691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F59F7B-CA23-4D2B-A81E-B2F49BB2D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923" y="3109782"/>
            <a:ext cx="3864154" cy="335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562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13250</TotalTime>
  <Words>572</Words>
  <Application>Microsoft Office PowerPoint</Application>
  <PresentationFormat>On-screen Show (4:3)</PresentationFormat>
  <Paragraphs>88</Paragraphs>
  <Slides>13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Software for Embedded Systems</vt:lpstr>
      <vt:lpstr>Firmware architecture</vt:lpstr>
      <vt:lpstr>What is firmware architecture?</vt:lpstr>
      <vt:lpstr>Architecture is more than layers</vt:lpstr>
      <vt:lpstr>Architectural building blocks</vt:lpstr>
      <vt:lpstr>Structural blocks</vt:lpstr>
      <vt:lpstr>Execution blocks</vt:lpstr>
      <vt:lpstr>Communication and sync blocks</vt:lpstr>
      <vt:lpstr>Behavioral and interface blocks</vt:lpstr>
      <vt:lpstr>Encapsulation block: states  modules</vt:lpstr>
      <vt:lpstr>Dispatch block: transitions  executable logic</vt:lpstr>
      <vt:lpstr>ISR bridge: signals  events</vt:lpstr>
      <vt:lpstr>Action hooks: entry/exit/do  hardware commands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683</cp:revision>
  <dcterms:created xsi:type="dcterms:W3CDTF">2010-01-15T20:22:21Z</dcterms:created>
  <dcterms:modified xsi:type="dcterms:W3CDTF">2026-02-05T06:30:29Z</dcterms:modified>
</cp:coreProperties>
</file>