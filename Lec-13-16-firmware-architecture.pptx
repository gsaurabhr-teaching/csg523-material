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337" r:id="rId2"/>
    <p:sldId id="354" r:id="rId3"/>
    <p:sldId id="355" r:id="rId4"/>
    <p:sldId id="356" r:id="rId5"/>
    <p:sldId id="338" r:id="rId6"/>
    <p:sldId id="339" r:id="rId7"/>
    <p:sldId id="357" r:id="rId8"/>
    <p:sldId id="358" r:id="rId9"/>
    <p:sldId id="359" r:id="rId10"/>
    <p:sldId id="360" r:id="rId11"/>
    <p:sldId id="350" r:id="rId12"/>
    <p:sldId id="361" r:id="rId13"/>
    <p:sldId id="362" r:id="rId14"/>
    <p:sldId id="363" r:id="rId15"/>
    <p:sldId id="364" r:id="rId16"/>
    <p:sldId id="366" r:id="rId17"/>
    <p:sldId id="367" r:id="rId18"/>
    <p:sldId id="369" r:id="rId19"/>
    <p:sldId id="368" r:id="rId20"/>
    <p:sldId id="370" r:id="rId21"/>
    <p:sldId id="365" r:id="rId22"/>
    <p:sldId id="342" r:id="rId23"/>
    <p:sldId id="343" r:id="rId24"/>
    <p:sldId id="344" r:id="rId25"/>
    <p:sldId id="345" r:id="rId26"/>
    <p:sldId id="341" r:id="rId27"/>
    <p:sldId id="347" r:id="rId28"/>
    <p:sldId id="348" r:id="rId29"/>
    <p:sldId id="349" r:id="rId30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2C3E8"/>
    <a:srgbClr val="EA3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2730" autoAdjust="0"/>
  </p:normalViewPr>
  <p:slideViewPr>
    <p:cSldViewPr>
      <p:cViewPr varScale="1">
        <p:scale>
          <a:sx n="84" d="100"/>
          <a:sy n="84" d="100"/>
        </p:scale>
        <p:origin x="816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555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9BA1A87E-813F-AF0F-041D-CE232B7A18C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90A33BCA-FF2B-904A-6ACB-421B4697E71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fld id="{864C4CF4-219F-4C78-A5BA-B2F154A2CDD2}" type="datetimeFigureOut">
              <a:rPr lang="en-US"/>
              <a:pPr>
                <a:defRPr/>
              </a:pPr>
              <a:t>2/6/2026</a:t>
            </a:fld>
            <a:endParaRPr lang="en-US"/>
          </a:p>
        </p:txBody>
      </p:sp>
      <p:sp>
        <p:nvSpPr>
          <p:cNvPr id="19460" name="Rectangle 4">
            <a:extLst>
              <a:ext uri="{FF2B5EF4-FFF2-40B4-BE49-F238E27FC236}">
                <a16:creationId xmlns:a16="http://schemas.microsoft.com/office/drawing/2014/main" id="{E6881BB2-A257-BEB2-B237-5C60E2FE8C7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133" name="Rectangle 5">
            <a:extLst>
              <a:ext uri="{FF2B5EF4-FFF2-40B4-BE49-F238E27FC236}">
                <a16:creationId xmlns:a16="http://schemas.microsoft.com/office/drawing/2014/main" id="{84E1F9B0-0E05-EEE3-8B09-3292F5E58FDD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8134" name="Rectangle 6">
            <a:extLst>
              <a:ext uri="{FF2B5EF4-FFF2-40B4-BE49-F238E27FC236}">
                <a16:creationId xmlns:a16="http://schemas.microsoft.com/office/drawing/2014/main" id="{FD94DB07-1FBF-48D8-BE9B-EAD1CA85602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8135" name="Rectangle 7">
            <a:extLst>
              <a:ext uri="{FF2B5EF4-FFF2-40B4-BE49-F238E27FC236}">
                <a16:creationId xmlns:a16="http://schemas.microsoft.com/office/drawing/2014/main" id="{B2D67A9F-79F1-685B-B7CE-85E68E027A3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082BB320-F13B-41AF-BB84-306DCE9224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>
            <a:extLst>
              <a:ext uri="{FF2B5EF4-FFF2-40B4-BE49-F238E27FC236}">
                <a16:creationId xmlns:a16="http://schemas.microsoft.com/office/drawing/2014/main" id="{44FFA8F6-8FBE-2312-B2D6-012FDBF058E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>
            <a:extLst>
              <a:ext uri="{FF2B5EF4-FFF2-40B4-BE49-F238E27FC236}">
                <a16:creationId xmlns:a16="http://schemas.microsoft.com/office/drawing/2014/main" id="{60994F52-302D-250C-116C-52081CB94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1508" name="Slide Number Placeholder 3">
            <a:extLst>
              <a:ext uri="{FF2B5EF4-FFF2-40B4-BE49-F238E27FC236}">
                <a16:creationId xmlns:a16="http://schemas.microsoft.com/office/drawing/2014/main" id="{B92E2681-B4AB-B23F-9CED-5892333F86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9A8604D-9FA4-4914-BD57-93266632D9AF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module</a:t>
            </a:r>
            <a:r>
              <a:rPr lang="en-US" dirty="0"/>
              <a:t> is about </a:t>
            </a:r>
            <a:r>
              <a:rPr lang="en-US" i="1" dirty="0"/>
              <a:t>responsibility</a:t>
            </a:r>
            <a:r>
              <a:rPr lang="en-US" dirty="0"/>
              <a:t>, not files</a:t>
            </a:r>
          </a:p>
          <a:p>
            <a:r>
              <a:rPr lang="en-US" dirty="0"/>
              <a:t>An </a:t>
            </a:r>
            <a:r>
              <a:rPr lang="en-US" b="1" dirty="0"/>
              <a:t>interface</a:t>
            </a:r>
            <a:r>
              <a:rPr lang="en-US" dirty="0"/>
              <a:t> is about </a:t>
            </a:r>
            <a:r>
              <a:rPr lang="en-US" i="1" dirty="0"/>
              <a:t>permission</a:t>
            </a:r>
            <a:r>
              <a:rPr lang="en-US" dirty="0"/>
              <a:t>, not convenience</a:t>
            </a:r>
          </a:p>
          <a:p>
            <a:r>
              <a:rPr lang="en-US" dirty="0"/>
              <a:t>A </a:t>
            </a:r>
            <a:r>
              <a:rPr lang="en-US" b="1" dirty="0"/>
              <a:t>task</a:t>
            </a:r>
            <a:r>
              <a:rPr lang="en-US" dirty="0"/>
              <a:t> owns </a:t>
            </a:r>
            <a:r>
              <a:rPr lang="en-US" i="1" dirty="0"/>
              <a:t>time</a:t>
            </a:r>
            <a:endParaRPr lang="en-US" dirty="0"/>
          </a:p>
          <a:p>
            <a:r>
              <a:rPr lang="en-US" dirty="0"/>
              <a:t>An </a:t>
            </a:r>
            <a:r>
              <a:rPr lang="en-US" b="1" dirty="0"/>
              <a:t>interrupt</a:t>
            </a:r>
            <a:r>
              <a:rPr lang="en-US" dirty="0"/>
              <a:t> owns </a:t>
            </a:r>
            <a:r>
              <a:rPr lang="en-US" i="1" dirty="0"/>
              <a:t>urgency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state machine</a:t>
            </a:r>
            <a:r>
              <a:rPr lang="en-US" dirty="0"/>
              <a:t> owns </a:t>
            </a:r>
            <a:r>
              <a:rPr lang="en-US" i="1" dirty="0"/>
              <a:t>legality</a:t>
            </a:r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driver</a:t>
            </a:r>
            <a:r>
              <a:rPr lang="en-US" dirty="0"/>
              <a:t> owns </a:t>
            </a:r>
            <a:r>
              <a:rPr lang="en-US" i="1" dirty="0"/>
              <a:t>hardware access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82BB320-F13B-41AF-BB84-306DCE92248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21895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0210E9-01D5-7472-677A-3B0AA2AD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D2DDE-7A51-A1A8-5C34-99C6FAA2B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D8106-2EFE-B03C-0DCC-E1803F83D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7F5451D-6138-4BA6-B687-6C9F908488A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832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C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E8660-BD03-9DBA-9F27-92B95359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0716-1DFD-E96E-77AC-224DB37B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94D3-6482-D516-F215-AAD295B6F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887A73-1AE0-46F8-856A-18EA1CF30A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56230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44638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E40EF-D719-C1DF-C21A-2CF2ACF9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4D67-7283-208E-229E-EF4878C71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FBDCE-B7CC-6ED6-F37D-087059BBC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9D9D01-1391-45E0-A9C5-C04635A436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FD4032-0DCD-4B56-8C1A-A046DCFB4D2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7772400" cy="3124200"/>
          </a:xfrm>
        </p:spPr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8803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8A1B8B84-BA43-81F2-03D3-23F157EDD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C23C139-D613-6FE7-8352-A2E3C1C6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763CA6A-FAB2-9598-5FD6-5C5FFE4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877344-E1C7-49F4-9630-5A0F623202D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2023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AC99FE01-5AE9-7CCB-1DBD-1304A57A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A2B8239-FCBD-23CF-FA37-CDC50DB05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E3DACE7-853A-4CB8-B825-278E151B1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D20D7B-F2AF-465A-8627-050A33B6A2E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979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0E68BBE-9DA8-9C9C-D822-7FC9D3829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BD6A7CF-E35D-4F42-293C-8BAB3F13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D87C34F-2852-49F1-C32D-490DE9743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B3AC73-65EA-4970-A755-094E5C634C8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99387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25E5740-931D-F5B1-D23F-DCBD0C38C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F48D1279-085F-FADC-9335-EE951FC2F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CD80BA-8A05-EF30-056C-D3B895E35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5AE7E5-2F0D-40CB-89DC-60190FE7F7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259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B0265D46-A9C7-CD06-5134-985F83276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8A55F7D-AFEF-402F-45C6-533ED83EF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F7864CC-5912-595A-947D-86ED4368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8715581-CD01-4CEC-BC8F-7353CE82685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0446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E467ABF-5DBD-0F44-6269-D1296B669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1729259-95EB-ABB4-8CC1-6AAA526DC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62D7086-DF65-36F8-E6B6-082068B3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2052F0-E69A-488D-AA78-DE7ABB9591C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650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9C7B9-97C1-73C5-069B-8304F71A5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4205D-B0EA-B535-1BCB-C052B27F3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810C2-A27B-66A7-0574-10C22519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29212A-F0D7-4AFF-A386-0ACFB0AAC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984123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9E6BE-7F7F-94ED-1232-D89436C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9733A2-CB01-A6CE-B5D3-DB2ECAFBB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21FBA-0C17-A4B8-E194-E3AAE057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9BE82-4715-4ACA-919F-DBB11A70F4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57081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FBFFBE-14B2-F0AF-F4AC-4976B5EA7B3E}"/>
              </a:ext>
            </a:extLst>
          </p:cNvPr>
          <p:cNvSpPr/>
          <p:nvPr userDrawn="1"/>
        </p:nvSpPr>
        <p:spPr>
          <a:xfrm>
            <a:off x="0" y="3352800"/>
            <a:ext cx="8686800" cy="2743200"/>
          </a:xfrm>
          <a:prstGeom prst="rect">
            <a:avLst/>
          </a:prstGeom>
          <a:solidFill>
            <a:srgbClr val="101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76F73-2534-EA66-9BA3-389159441E1E}"/>
              </a:ext>
            </a:extLst>
          </p:cNvPr>
          <p:cNvSpPr/>
          <p:nvPr userDrawn="1"/>
        </p:nvSpPr>
        <p:spPr>
          <a:xfrm>
            <a:off x="2895600" y="6096000"/>
            <a:ext cx="2895600" cy="76200"/>
          </a:xfrm>
          <a:prstGeom prst="rect">
            <a:avLst/>
          </a:prstGeom>
          <a:solidFill>
            <a:srgbClr val="76C2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143B4A-14C2-1094-BE58-15BD80B6D446}"/>
              </a:ext>
            </a:extLst>
          </p:cNvPr>
          <p:cNvSpPr/>
          <p:nvPr userDrawn="1"/>
        </p:nvSpPr>
        <p:spPr>
          <a:xfrm>
            <a:off x="0" y="6096000"/>
            <a:ext cx="2895600" cy="76200"/>
          </a:xfrm>
          <a:prstGeom prst="rect">
            <a:avLst/>
          </a:prstGeom>
          <a:solidFill>
            <a:srgbClr val="FCB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D759AA-21D7-ABA4-D5D7-76848EAA814B}"/>
              </a:ext>
            </a:extLst>
          </p:cNvPr>
          <p:cNvSpPr/>
          <p:nvPr userDrawn="1"/>
        </p:nvSpPr>
        <p:spPr>
          <a:xfrm>
            <a:off x="5791200" y="6096000"/>
            <a:ext cx="2895600" cy="7620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/>
          </a:p>
        </p:txBody>
      </p:sp>
      <p:pic>
        <p:nvPicPr>
          <p:cNvPr id="8" name="Picture 10" descr="BITS_university_logo_whitevert.png">
            <a:extLst>
              <a:ext uri="{FF2B5EF4-FFF2-40B4-BE49-F238E27FC236}">
                <a16:creationId xmlns:a16="http://schemas.microsoft.com/office/drawing/2014/main" id="{4AC502B5-9275-C45A-F485-E98B733254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28592"/>
          <a:stretch>
            <a:fillRect/>
          </a:stretch>
        </p:blipFill>
        <p:spPr bwMode="auto">
          <a:xfrm>
            <a:off x="76200" y="3352800"/>
            <a:ext cx="2057400" cy="1979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90F2E-DD9A-35C4-D90C-49EB0FD21D5D}"/>
              </a:ext>
            </a:extLst>
          </p:cNvPr>
          <p:cNvSpPr txBox="1"/>
          <p:nvPr userDrawn="1"/>
        </p:nvSpPr>
        <p:spPr>
          <a:xfrm>
            <a:off x="-76200" y="5257800"/>
            <a:ext cx="2209800" cy="55403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en-US" sz="2900" b="1" spc="-150" dirty="0">
                <a:solidFill>
                  <a:schemeClr val="bg1"/>
                </a:solidFill>
                <a:latin typeface="Arial"/>
                <a:cs typeface="Arial"/>
              </a:rPr>
              <a:t>BITS</a:t>
            </a:r>
            <a:r>
              <a:rPr lang="en-US" sz="2900" spc="-150" dirty="0">
                <a:solidFill>
                  <a:schemeClr val="bg1"/>
                </a:solidFill>
                <a:latin typeface="Arial"/>
                <a:cs typeface="Arial"/>
              </a:rPr>
              <a:t> Pilani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35B97-BCD1-B200-8B0C-6E7F31A5DD6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52400" y="5667375"/>
            <a:ext cx="1905000" cy="2762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US" sz="1200">
                <a:solidFill>
                  <a:srgbClr val="FFFFFF"/>
                </a:solidFill>
                <a:cs typeface="Arial" charset="0"/>
              </a:rPr>
              <a:t>Pilani Campus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2514600" y="5410200"/>
            <a:ext cx="6019800" cy="533400"/>
          </a:xfrm>
        </p:spPr>
        <p:txBody>
          <a:bodyPr anchor="b">
            <a:noAutofit/>
          </a:bodyPr>
          <a:lstStyle>
            <a:lvl1pPr marL="0" indent="0" algn="r">
              <a:lnSpc>
                <a:spcPts val="1800"/>
              </a:lnSpc>
              <a:spcBef>
                <a:spcPts val="0"/>
              </a:spcBef>
              <a:buNone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4600" y="3810000"/>
            <a:ext cx="6019800" cy="1524000"/>
          </a:xfrm>
        </p:spPr>
        <p:txBody>
          <a:bodyPr>
            <a:noAutofit/>
          </a:bodyPr>
          <a:lstStyle>
            <a:lvl1pPr algn="l">
              <a:lnSpc>
                <a:spcPts val="4000"/>
              </a:lnSpc>
              <a:defRPr sz="44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371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BA203AAE-04EA-FB40-EB07-8B5C207984B1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52400" y="53975"/>
            <a:ext cx="6324600" cy="1195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B0F4528A-9CB7-CDAF-ED2B-34ED9244113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52400" y="1446211"/>
            <a:ext cx="8839200" cy="5014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94811-E68F-A5B1-AEDA-C6AFA290A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99238"/>
            <a:ext cx="1828800" cy="2587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10422-B7F7-81EF-261E-27508681B4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6599238"/>
            <a:ext cx="28956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200">
                <a:solidFill>
                  <a:srgbClr val="898989"/>
                </a:solidFill>
                <a:latin typeface="Calibri" pitchFamily="34" charset="0"/>
              </a:defRPr>
            </a:lvl1pPr>
          </a:lstStyle>
          <a:p>
            <a:pPr>
              <a:defRPr/>
            </a:pPr>
            <a:r>
              <a:rPr lang="en-US" b="1" dirty="0">
                <a:solidFill>
                  <a:srgbClr val="101141"/>
                </a:solidFill>
                <a:cs typeface="Arial" charset="0"/>
              </a:rPr>
              <a:t>BITS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, </a:t>
            </a:r>
            <a:r>
              <a:rPr lang="en-US" dirty="0" err="1">
                <a:solidFill>
                  <a:srgbClr val="101141"/>
                </a:solidFill>
                <a:cs typeface="Arial" charset="0"/>
              </a:rPr>
              <a:t>Pilani</a:t>
            </a:r>
            <a:r>
              <a:rPr lang="en-US" dirty="0">
                <a:solidFill>
                  <a:srgbClr val="101141"/>
                </a:solidFill>
                <a:cs typeface="Arial" charset="0"/>
              </a:rPr>
              <a:t> Campus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938BB7-5B9C-07D9-CEF5-0333C5055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86800" y="6599238"/>
            <a:ext cx="457200" cy="258762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75A4CA-FE82-4068-9563-37A5A44B58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7" name="Picture 11" descr="Picture 7.png">
            <a:extLst>
              <a:ext uri="{FF2B5EF4-FFF2-40B4-BE49-F238E27FC236}">
                <a16:creationId xmlns:a16="http://schemas.microsoft.com/office/drawing/2014/main" id="{B1A82462-8175-42D8-B46C-67766E05E74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b="5336"/>
          <a:stretch>
            <a:fillRect/>
          </a:stretch>
        </p:blipFill>
        <p:spPr bwMode="auto">
          <a:xfrm>
            <a:off x="6629400" y="0"/>
            <a:ext cx="2193925" cy="69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18">
            <a:extLst>
              <a:ext uri="{FF2B5EF4-FFF2-40B4-BE49-F238E27FC236}">
                <a16:creationId xmlns:a16="http://schemas.microsoft.com/office/drawing/2014/main" id="{F71B9737-4DA8-4B8F-9335-5F2A7C906531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2133600" y="6553200"/>
            <a:ext cx="7010400" cy="46038"/>
            <a:chOff x="1905000" y="6553200"/>
            <a:chExt cx="7010400" cy="4571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2335E3-1C88-4FEB-B3EA-2686D6520BDF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7711E8-77A4-4937-A983-1A5FDBFC0894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C71875C-BA0F-4B96-BF59-4025A49FA021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12" name="Group 22">
            <a:extLst>
              <a:ext uri="{FF2B5EF4-FFF2-40B4-BE49-F238E27FC236}">
                <a16:creationId xmlns:a16="http://schemas.microsoft.com/office/drawing/2014/main" id="{C2B4447A-9437-4C8F-B654-838CD5BB8615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0" y="1295400"/>
            <a:ext cx="7010400" cy="46038"/>
            <a:chOff x="1905000" y="6553200"/>
            <a:chExt cx="7010400" cy="4571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377527-4981-49F2-8F12-B5DB6F066126}"/>
                </a:ext>
              </a:extLst>
            </p:cNvPr>
            <p:cNvSpPr/>
            <p:nvPr/>
          </p:nvSpPr>
          <p:spPr>
            <a:xfrm>
              <a:off x="4267200" y="6553200"/>
              <a:ext cx="2328863" cy="45719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5B94671-9EEF-4175-9164-57B69291B8A6}"/>
                </a:ext>
              </a:extLst>
            </p:cNvPr>
            <p:cNvSpPr/>
            <p:nvPr/>
          </p:nvSpPr>
          <p:spPr>
            <a:xfrm>
              <a:off x="1905000" y="6553200"/>
              <a:ext cx="2362200" cy="45719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2EC7A3-548A-4998-81D6-DC9D9CECAAD8}"/>
                </a:ext>
              </a:extLst>
            </p:cNvPr>
            <p:cNvSpPr/>
            <p:nvPr userDrawn="1"/>
          </p:nvSpPr>
          <p:spPr>
            <a:xfrm>
              <a:off x="6586538" y="6553200"/>
              <a:ext cx="2328862" cy="45719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>
                <a:solidFill>
                  <a:prstClr val="white"/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4833" r:id="rId1"/>
    <p:sldLayoutId id="2147484834" r:id="rId2"/>
    <p:sldLayoutId id="2147484835" r:id="rId3"/>
    <p:sldLayoutId id="2147484836" r:id="rId4"/>
    <p:sldLayoutId id="2147484837" r:id="rId5"/>
    <p:sldLayoutId id="2147484838" r:id="rId6"/>
    <p:sldLayoutId id="2147484839" r:id="rId7"/>
    <p:sldLayoutId id="2147484840" r:id="rId8"/>
    <p:sldLayoutId id="2147484841" r:id="rId9"/>
    <p:sldLayoutId id="2147484842" r:id="rId10"/>
    <p:sldLayoutId id="2147484843" r:id="rId11"/>
    <p:sldLayoutId id="2147484844" r:id="rId12"/>
  </p:sldLayoutIdLst>
  <p:hf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 b="1" kern="1200">
          <a:solidFill>
            <a:srgbClr val="FFC000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>
            <a:extLst>
              <a:ext uri="{FF2B5EF4-FFF2-40B4-BE49-F238E27FC236}">
                <a16:creationId xmlns:a16="http://schemas.microsoft.com/office/drawing/2014/main" id="{82CCF8E8-8D44-B829-5D34-BCFE6E2C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en-US" dirty="0"/>
              <a:t>Software for Embedded Systems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BD772D-9840-4762-E3C3-128057D3E9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000" dirty="0"/>
              <a:t>Prof. Saurabh Gandhi (EEE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3BC96-6B6F-455B-9267-7A9A8F7D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we 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4F1298-8DB9-40F4-9213-90B2123C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5440E-C2A5-49A4-AEB3-A6D4021B8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pic>
        <p:nvPicPr>
          <p:cNvPr id="6" name="Picture 2" descr="Image of the V-model software development lifecycle">
            <a:extLst>
              <a:ext uri="{FF2B5EF4-FFF2-40B4-BE49-F238E27FC236}">
                <a16:creationId xmlns:a16="http://schemas.microsoft.com/office/drawing/2014/main" id="{271C45B4-1A09-446B-AE73-B370A426DEB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978" y="1446213"/>
            <a:ext cx="7434044" cy="501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A36A2D3-D99D-41CD-AD1F-234CE51C6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900" y="1547814"/>
            <a:ext cx="1150188" cy="1066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051A37-ACC9-4E57-82A2-4A2B45172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1905000"/>
            <a:ext cx="600769" cy="5572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E6FCE3B-FD51-4119-AAB5-8C6EDFBBB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590230"/>
            <a:ext cx="1150188" cy="10668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F5E200-FF0D-4719-B619-403E24A3A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863" y="2743200"/>
            <a:ext cx="600769" cy="55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4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C9D16-4AB8-4F4F-8B63-889D2F128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has given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ABE0-D3E0-426A-AFFC-67234E13D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Functional completeness of system</a:t>
            </a:r>
          </a:p>
          <a:p>
            <a:r>
              <a:rPr lang="en-US" dirty="0"/>
              <a:t>Correct behavioral flow (no missing states or transitions)</a:t>
            </a:r>
          </a:p>
          <a:p>
            <a:r>
              <a:rPr lang="en-US" dirty="0"/>
              <a:t>Explicit safety states</a:t>
            </a:r>
          </a:p>
          <a:p>
            <a:r>
              <a:rPr lang="en-US" dirty="0"/>
              <a:t>Valid and ordered interactions between components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Provided we are able to implement the system that we modeled!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0192E-39C4-4BEE-ABA5-50BDF0D8E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D9FBC6-28A3-43CF-AE5A-7F4D7617E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8795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BAB0-5F2F-46CF-A3B4-DF7109BB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UML does not decide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B16DC-36A3-4868-B180-FCBF0F1FEC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The actual implementation</a:t>
            </a:r>
          </a:p>
          <a:p>
            <a:r>
              <a:rPr lang="en-US" dirty="0"/>
              <a:t>Relationship with the hardware</a:t>
            </a:r>
          </a:p>
          <a:p>
            <a:r>
              <a:rPr lang="en-US" dirty="0"/>
              <a:t>Where each piece of code lives</a:t>
            </a:r>
          </a:p>
          <a:p>
            <a:r>
              <a:rPr lang="en-US" dirty="0"/>
              <a:t>What part of code performs what action</a:t>
            </a:r>
          </a:p>
          <a:p>
            <a:r>
              <a:rPr lang="en-US" dirty="0"/>
              <a:t>How hardware resources are shared</a:t>
            </a:r>
          </a:p>
          <a:p>
            <a:endParaRPr lang="en-US" dirty="0"/>
          </a:p>
          <a:p>
            <a:r>
              <a:rPr lang="en-US" dirty="0"/>
              <a:t>UML models are deliberately hardware agnostic (so we can focus on behavior first)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What should happen?</a:t>
            </a:r>
            <a:endParaRPr lang="en-US" dirty="0">
              <a:solidFill>
                <a:srgbClr val="72C3E8"/>
              </a:solidFill>
            </a:endParaRPr>
          </a:p>
          <a:p>
            <a:r>
              <a:rPr lang="en-US" dirty="0"/>
              <a:t>But now, we need to think about implementation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72C3E8"/>
                </a:solidFill>
                <a:sym typeface="Wingdings" panose="05000000000000000000" pitchFamily="2" charset="2"/>
              </a:rPr>
              <a:t>How to make it happen?</a:t>
            </a:r>
            <a:endParaRPr lang="en-US" dirty="0">
              <a:solidFill>
                <a:srgbClr val="72C3E8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CD9F5-9400-46D1-A7C9-8921B76A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A7D885-3F5E-4E96-B1E5-23C79FAC2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370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59F4A-9C12-46B1-B873-F11D3F5D5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Firmware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6BDEED-0F9F-4246-A8E8-B25CC65F4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0D6F2-DFFB-48F6-A130-E7D5A2E2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20CBC-7EE9-4906-820D-C0252DF89B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structure software so that the behavior we modeled </a:t>
            </a:r>
            <a:r>
              <a:rPr lang="en-US" b="1" i="1" dirty="0"/>
              <a:t>cannot be violated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2380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4D980-555D-4175-A410-5B3CEB304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firmware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A776E-93A4-4B3D-8CE9-9A69F2F71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dirty="0"/>
              <a:t>Firmware architecture defines:</a:t>
            </a:r>
          </a:p>
          <a:p>
            <a:pPr>
              <a:spcBef>
                <a:spcPts val="1200"/>
              </a:spcBef>
            </a:pPr>
            <a:r>
              <a:rPr lang="en-US" dirty="0"/>
              <a:t>Major software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Their responsibilities</a:t>
            </a:r>
          </a:p>
          <a:p>
            <a:pPr>
              <a:spcBef>
                <a:spcPts val="1200"/>
              </a:spcBef>
            </a:pPr>
            <a:r>
              <a:rPr lang="en-US" dirty="0"/>
              <a:t>Allowed communication channels between components</a:t>
            </a:r>
          </a:p>
          <a:p>
            <a:pPr>
              <a:spcBef>
                <a:spcPts val="1200"/>
              </a:spcBef>
            </a:pPr>
            <a:r>
              <a:rPr lang="en-US" dirty="0"/>
              <a:t>Execution context boundaries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dirty="0"/>
              <a:t>It tells us:</a:t>
            </a:r>
          </a:p>
          <a:p>
            <a:pPr>
              <a:spcBef>
                <a:spcPts val="1200"/>
              </a:spcBef>
            </a:pPr>
            <a:r>
              <a:rPr lang="en-US" dirty="0"/>
              <a:t>Who runs where?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call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may block whom?</a:t>
            </a:r>
          </a:p>
          <a:p>
            <a:pPr>
              <a:spcBef>
                <a:spcPts val="1200"/>
              </a:spcBef>
            </a:pPr>
            <a:r>
              <a:rPr lang="en-US" dirty="0"/>
              <a:t>Who reacts to events?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A4D999-4AC5-4636-90E1-D105EA4EE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11CFE-C81B-44A9-A56B-B386E000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4003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979B-654E-46A8-9E7E-DABDA12A6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building blocks of a software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3273C-9841-492B-AE71-B05416052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5BF3FB-7634-4968-9CC2-B273E4C2B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3D52E29-7543-4084-BB9F-914BDAB89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b="77176"/>
          <a:stretch/>
        </p:blipFill>
        <p:spPr>
          <a:xfrm>
            <a:off x="651470" y="1446213"/>
            <a:ext cx="7841060" cy="1144587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F4C299F0-78C5-4E00-AC61-49A4F5ECE88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" b="63500"/>
          <a:stretch/>
        </p:blipFill>
        <p:spPr bwMode="auto">
          <a:xfrm>
            <a:off x="651470" y="1446213"/>
            <a:ext cx="7841060" cy="1830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83D86EAA-6521-4D03-9411-B42558020E8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48304"/>
          <a:stretch/>
        </p:blipFill>
        <p:spPr bwMode="auto">
          <a:xfrm>
            <a:off x="651470" y="1446213"/>
            <a:ext cx="784106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7880A5F0-6B18-45E9-A236-E8E82DFFE9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" b="33109"/>
          <a:stretch/>
        </p:blipFill>
        <p:spPr bwMode="auto">
          <a:xfrm>
            <a:off x="651470" y="1446212"/>
            <a:ext cx="7841060" cy="3354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Content Placeholder 10">
            <a:extLst>
              <a:ext uri="{FF2B5EF4-FFF2-40B4-BE49-F238E27FC236}">
                <a16:creationId xmlns:a16="http://schemas.microsoft.com/office/drawing/2014/main" id="{C53C87E4-B8C5-474D-93B2-5C405E997F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4877"/>
          <a:stretch/>
        </p:blipFill>
        <p:spPr bwMode="auto">
          <a:xfrm>
            <a:off x="651470" y="1446212"/>
            <a:ext cx="7841060" cy="4268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FD5B0870-A5D9-46DD-8153-22ED885A22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202"/>
          <a:stretch/>
        </p:blipFill>
        <p:spPr bwMode="auto">
          <a:xfrm>
            <a:off x="651470" y="1446212"/>
            <a:ext cx="7841060" cy="495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451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9524-5822-4ED8-AE0C-406852159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Are Units of Responsibility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EB4BB-5C39-4BDF-AE37-6ECDE1C960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module has</a:t>
            </a:r>
          </a:p>
          <a:p>
            <a:r>
              <a:rPr lang="en-US" dirty="0"/>
              <a:t>One responsibility</a:t>
            </a:r>
          </a:p>
          <a:p>
            <a:r>
              <a:rPr lang="en-US" dirty="0"/>
              <a:t>A public interface</a:t>
            </a:r>
          </a:p>
          <a:p>
            <a:r>
              <a:rPr lang="en-US" dirty="0"/>
              <a:t>Hidden state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Motor module</a:t>
            </a:r>
          </a:p>
          <a:p>
            <a:pPr lvl="1"/>
            <a:r>
              <a:rPr lang="en-US" dirty="0"/>
              <a:t>handles motor operations</a:t>
            </a:r>
          </a:p>
          <a:p>
            <a:pPr lvl="1"/>
            <a:r>
              <a:rPr lang="en-US" dirty="0"/>
              <a:t>exposes start() and stop() on its interface</a:t>
            </a:r>
          </a:p>
          <a:p>
            <a:pPr lvl="1"/>
            <a:r>
              <a:rPr lang="en-US" dirty="0"/>
              <a:t>hides states of internal registers required for function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DF247-1ADE-4347-88F9-6EA9708F3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1F5D7-4131-47C2-8241-DDA77F88F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657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5BDDD-0F4B-4345-849E-7DB838198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 of time and urgency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37D99-735E-43F0-B416-23B372B55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Tasks:</a:t>
            </a:r>
          </a:p>
          <a:p>
            <a:r>
              <a:rPr lang="en-US" dirty="0"/>
              <a:t>Own execution flow</a:t>
            </a:r>
          </a:p>
          <a:p>
            <a:r>
              <a:rPr lang="en-US" dirty="0"/>
              <a:t>Run independently</a:t>
            </a:r>
          </a:p>
          <a:p>
            <a:pPr marL="0" indent="0">
              <a:buNone/>
            </a:pPr>
            <a:r>
              <a:rPr lang="en-US" dirty="0"/>
              <a:t>Interrupts:</a:t>
            </a:r>
          </a:p>
          <a:p>
            <a:r>
              <a:rPr lang="en-US" dirty="0"/>
              <a:t>Preempt tasks</a:t>
            </a:r>
          </a:p>
          <a:p>
            <a:r>
              <a:rPr lang="en-US" dirty="0"/>
              <a:t>Detect emergencies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Therapy task controls infusion</a:t>
            </a:r>
          </a:p>
          <a:p>
            <a:r>
              <a:rPr lang="en-US" dirty="0"/>
              <a:t>Pressure interrupt detects occlusion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29B11-CE7B-4C7B-957E-38AB3B953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599D56-6986-44B8-AFD8-E9B4AFADA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1248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EA674-8A50-461A-9635-58A32963B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decides vs who executes?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C6982-E064-42F3-9B40-B49FAC189C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 machine decides what (action) is allowed</a:t>
            </a:r>
          </a:p>
          <a:p>
            <a:r>
              <a:rPr lang="en-US" dirty="0"/>
              <a:t>Driver executes the action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State machine enters ‘alarm’ state</a:t>
            </a:r>
          </a:p>
          <a:p>
            <a:r>
              <a:rPr lang="en-US" dirty="0"/>
              <a:t>Motor driver stops motor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46CFD-199C-4991-8CD2-810C2BB92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D4D50-A42B-4945-B0B2-9E3D0988C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4406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0E56-2D91-49A5-9E4A-113ECE3DE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Architecture: How do we arrange these blocks?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8944C5-5846-47A4-BFB2-AD9C258AB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ACF54-639E-4F97-80E8-BE248A68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9D9D01-1391-45E0-A9C5-C04635A43651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659EA9-1988-4C14-B276-D80258B792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5800" y="3048000"/>
            <a:ext cx="8305800" cy="3124200"/>
          </a:xfrm>
        </p:spPr>
        <p:txBody>
          <a:bodyPr/>
          <a:lstStyle/>
          <a:p>
            <a:r>
              <a:rPr lang="en-US" dirty="0"/>
              <a:t>So that behavior is realized?</a:t>
            </a:r>
          </a:p>
          <a:p>
            <a:r>
              <a:rPr lang="en-US" dirty="0"/>
              <a:t>Which module decides? Executes?</a:t>
            </a:r>
          </a:p>
          <a:p>
            <a:r>
              <a:rPr lang="en-US" dirty="0"/>
              <a:t>Who can override whom?</a:t>
            </a:r>
          </a:p>
          <a:p>
            <a:r>
              <a:rPr lang="en-US" dirty="0"/>
              <a:t>A critical concern: shared resources</a:t>
            </a:r>
          </a:p>
          <a:p>
            <a:pPr marL="0" indent="0">
              <a:buNone/>
            </a:pPr>
            <a:r>
              <a:rPr lang="en-US" dirty="0">
                <a:solidFill>
                  <a:srgbClr val="72C3E8"/>
                </a:solidFill>
              </a:rPr>
              <a:t>Where do we start building our actual software?</a:t>
            </a:r>
          </a:p>
        </p:txBody>
      </p:sp>
    </p:spTree>
    <p:extLst>
      <p:ext uri="{BB962C8B-B14F-4D97-AF65-F5344CB8AC3E}">
        <p14:creationId xmlns:p14="http://schemas.microsoft.com/office/powerpoint/2010/main" val="3296141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4ED2-B862-4D1C-A2E3-C55FD7B2A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diagrams!</a:t>
            </a:r>
            <a:br>
              <a:rPr lang="en-US" dirty="0"/>
            </a:br>
            <a:r>
              <a:rPr lang="en-US" dirty="0"/>
              <a:t>Creating system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5AFB3-B345-4EED-AC60-23B90ECE9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Why make more diagrams?</a:t>
            </a:r>
          </a:p>
          <a:p>
            <a:r>
              <a:rPr lang="en-US" dirty="0"/>
              <a:t>Identify shared resources</a:t>
            </a:r>
          </a:p>
          <a:p>
            <a:r>
              <a:rPr lang="en-US" dirty="0"/>
              <a:t>Find difficult code components</a:t>
            </a:r>
          </a:p>
          <a:p>
            <a:r>
              <a:rPr lang="en-US" dirty="0"/>
              <a:t>How to balance complexity, flexibility, ease of implementation?</a:t>
            </a:r>
          </a:p>
          <a:p>
            <a:r>
              <a:rPr lang="en-US" dirty="0"/>
              <a:t>Delegate development tasks within teams</a:t>
            </a:r>
          </a:p>
          <a:p>
            <a:r>
              <a:rPr lang="en-US" dirty="0"/>
              <a:t>Reduce interdependencies between modules</a:t>
            </a:r>
          </a:p>
          <a:p>
            <a:r>
              <a:rPr lang="en-US" dirty="0"/>
              <a:t>Protect modules from each other</a:t>
            </a:r>
          </a:p>
          <a:p>
            <a:r>
              <a:rPr lang="en-US" dirty="0"/>
              <a:t>Identify interfaces</a:t>
            </a:r>
          </a:p>
          <a:p>
            <a:r>
              <a:rPr lang="en-US" dirty="0"/>
              <a:t>Define precise tests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074C5-2E4F-4530-BB12-10CF1BA28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AD034-75C9-45C7-8CC2-723017497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664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3759F-43E2-4128-8996-F59827182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2090-457E-407E-AFE2-CD32B36FD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399" y="1446211"/>
            <a:ext cx="5772931" cy="501491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Start with the physical objects in your system – the microcontroller and peripherals</a:t>
            </a:r>
          </a:p>
          <a:p>
            <a:r>
              <a:rPr lang="en-US" dirty="0"/>
              <a:t>How do you talk to these?</a:t>
            </a:r>
          </a:p>
          <a:p>
            <a:pPr lvl="1"/>
            <a:r>
              <a:rPr lang="en-US" dirty="0"/>
              <a:t>Communication goes inside the processor box (part of software)</a:t>
            </a:r>
          </a:p>
          <a:p>
            <a:r>
              <a:rPr lang="en-US" dirty="0"/>
              <a:t>How do you control the peripheral?</a:t>
            </a:r>
          </a:p>
          <a:p>
            <a:pPr lvl="1"/>
            <a:r>
              <a:rPr lang="en-US" dirty="0"/>
              <a:t>Add another box, a driver</a:t>
            </a:r>
          </a:p>
          <a:p>
            <a:r>
              <a:rPr lang="en-US" dirty="0"/>
              <a:t>What are you using the peripheral for?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860BE-B1B7-493C-8DEA-536776BAB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0FF6A-0997-45C5-AB3A-A491C3FAC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74F212-A91B-4B4A-9E1F-0A0AAA7786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56"/>
          <a:stretch/>
        </p:blipFill>
        <p:spPr>
          <a:xfrm>
            <a:off x="5925331" y="0"/>
            <a:ext cx="3210560" cy="15727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CC5872-FBF1-4BD1-88D5-70AC2D19E7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188"/>
          <a:stretch/>
        </p:blipFill>
        <p:spPr>
          <a:xfrm>
            <a:off x="5925331" y="0"/>
            <a:ext cx="3210560" cy="281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978881-AB11-4E2F-8C54-913B13B0A7F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/>
          <a:stretch/>
        </p:blipFill>
        <p:spPr>
          <a:xfrm>
            <a:off x="5936488" y="-1"/>
            <a:ext cx="3210560" cy="40386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E75BB4-4C3E-44C6-A180-2B07968AE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9536" y="4149334"/>
            <a:ext cx="3052066" cy="1426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5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C8965-FFBD-4836-99DC-E7B18E99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1: block diagrams</a:t>
            </a:r>
            <a:br>
              <a:rPr lang="en-US" dirty="0"/>
            </a:br>
            <a:r>
              <a:rPr lang="en-US" dirty="0"/>
              <a:t>What exists in the system?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D0DA5BC-FC29-40AC-808D-905662781A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599" y="1472060"/>
            <a:ext cx="8792802" cy="496321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7FFAE-EAA7-4826-AC7F-5BDFB4958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1292E-0FFE-470D-B74E-CF7333AA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35151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F7C40-EA7D-4F79-91A6-10A189FA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2: Hierarchy of Control</a:t>
            </a:r>
            <a:br>
              <a:rPr lang="en-US" dirty="0"/>
            </a:br>
            <a:r>
              <a:rPr lang="en-US" dirty="0"/>
              <a:t>Who controls whom?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758B437-EB72-4177-BE4D-F2362D378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77" t="3070" r="2077" b="87813"/>
          <a:stretch/>
        </p:blipFill>
        <p:spPr>
          <a:xfrm>
            <a:off x="1132332" y="1505329"/>
            <a:ext cx="5486400" cy="457200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D8E5D-B8A9-4E06-9F26-2781BB82D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F0E2EB-1C2D-4A00-B80A-DF40A7820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C76C6D29-66BF-4CAB-8B63-27935B0E74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68059"/>
          <a:stretch/>
        </p:blipFill>
        <p:spPr bwMode="auto">
          <a:xfrm>
            <a:off x="1132332" y="1505329"/>
            <a:ext cx="5486400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0DEBE898-4270-4EDA-BDAB-4F9A2339C69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70" r="2077" b="55903"/>
          <a:stretch/>
        </p:blipFill>
        <p:spPr bwMode="auto">
          <a:xfrm>
            <a:off x="1132332" y="1505329"/>
            <a:ext cx="5486400" cy="2057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AF820C05-69F5-44E4-8F24-814BAD23D5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77" t="3069" r="2077" b="36150"/>
          <a:stretch/>
        </p:blipFill>
        <p:spPr bwMode="auto">
          <a:xfrm>
            <a:off x="1132332" y="1505329"/>
            <a:ext cx="5486400" cy="30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Content Placeholder 6">
            <a:extLst>
              <a:ext uri="{FF2B5EF4-FFF2-40B4-BE49-F238E27FC236}">
                <a16:creationId xmlns:a16="http://schemas.microsoft.com/office/drawing/2014/main" id="{BAFB3E27-C4F2-49F0-BF16-121005BA62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586" t="29" r="746" b="-318"/>
          <a:stretch/>
        </p:blipFill>
        <p:spPr bwMode="auto">
          <a:xfrm>
            <a:off x="979932" y="1352929"/>
            <a:ext cx="5715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BD85582-107B-48A8-A930-40CA7024D84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932" y="1352928"/>
            <a:ext cx="7184136" cy="51427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9392A87-E4AD-43B4-84DA-844EF923B597}"/>
              </a:ext>
            </a:extLst>
          </p:cNvPr>
          <p:cNvGrpSpPr/>
          <p:nvPr/>
        </p:nvGrpSpPr>
        <p:grpSpPr>
          <a:xfrm>
            <a:off x="2362200" y="4096897"/>
            <a:ext cx="3594654" cy="1726688"/>
            <a:chOff x="2959608" y="4366419"/>
            <a:chExt cx="3594654" cy="1726688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1C86703-647F-4484-9868-342280C98F3A}"/>
                </a:ext>
              </a:extLst>
            </p:cNvPr>
            <p:cNvSpPr/>
            <p:nvPr/>
          </p:nvSpPr>
          <p:spPr>
            <a:xfrm>
              <a:off x="2959608" y="4366419"/>
              <a:ext cx="1600200" cy="1447800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68AC67B-2EEC-4AE7-903D-C92B7286F92A}"/>
                </a:ext>
              </a:extLst>
            </p:cNvPr>
            <p:cNvSpPr txBox="1"/>
            <p:nvPr/>
          </p:nvSpPr>
          <p:spPr>
            <a:xfrm>
              <a:off x="4343400" y="5446776"/>
              <a:ext cx="22108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Sharing resources</a:t>
              </a:r>
            </a:p>
            <a:p>
              <a:r>
                <a:rPr lang="en-US" b="1" dirty="0">
                  <a:solidFill>
                    <a:srgbClr val="FF0000"/>
                  </a:solidFill>
                </a:rPr>
                <a:t>Be careful!!!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014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3A2A-FA67-4829-BA2E-38565BFB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7696200" cy="1195386"/>
          </a:xfrm>
        </p:spPr>
        <p:txBody>
          <a:bodyPr/>
          <a:lstStyle/>
          <a:p>
            <a:r>
              <a:rPr lang="en-US" dirty="0"/>
              <a:t>View 3: the layered view</a:t>
            </a:r>
            <a:br>
              <a:rPr lang="en-US" dirty="0"/>
            </a:br>
            <a:r>
              <a:rPr lang="en-US" dirty="0"/>
              <a:t>Size and relationship between objects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BF7E1-F1D7-4597-8F28-DC4976F7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4419599"/>
            <a:ext cx="8839200" cy="2041523"/>
          </a:xfrm>
        </p:spPr>
        <p:txBody>
          <a:bodyPr/>
          <a:lstStyle/>
          <a:p>
            <a:r>
              <a:rPr lang="en-US" dirty="0"/>
              <a:t>Start at the bottom with peripherals (not shown)</a:t>
            </a:r>
          </a:p>
          <a:p>
            <a:r>
              <a:rPr lang="en-US" dirty="0"/>
              <a:t>Move up while adding blocks as layers</a:t>
            </a:r>
          </a:p>
          <a:p>
            <a:pPr lvl="1"/>
            <a:r>
              <a:rPr lang="en-US" dirty="0"/>
              <a:t>Size proportional to complexity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E7931-2833-4B7B-A767-AAABDDE53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BFBA94-B59A-4343-A0B9-CF62DEC00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CF182E-8A15-4961-B5C2-802ECD07F3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19" t="8766" r="1919" b="17257"/>
          <a:stretch/>
        </p:blipFill>
        <p:spPr>
          <a:xfrm>
            <a:off x="85344" y="1524000"/>
            <a:ext cx="8973312" cy="2610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77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Simplifying the system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1A953E-1FFA-41E7-B0A4-58E1D7373C80}"/>
              </a:ext>
            </a:extLst>
          </p:cNvPr>
          <p:cNvSpPr/>
          <p:nvPr/>
        </p:nvSpPr>
        <p:spPr>
          <a:xfrm>
            <a:off x="6781800" y="4724400"/>
            <a:ext cx="609600" cy="304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614921-871C-409B-952D-27CE7DCB7E43}"/>
              </a:ext>
            </a:extLst>
          </p:cNvPr>
          <p:cNvSpPr/>
          <p:nvPr/>
        </p:nvSpPr>
        <p:spPr>
          <a:xfrm>
            <a:off x="7968996" y="4416552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C7F4BD-0CF2-4AB7-A92A-118D420ECAB6}"/>
              </a:ext>
            </a:extLst>
          </p:cNvPr>
          <p:cNvSpPr/>
          <p:nvPr/>
        </p:nvSpPr>
        <p:spPr>
          <a:xfrm>
            <a:off x="7709916" y="5903976"/>
            <a:ext cx="609600" cy="61264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849B0C-BE1D-4C98-9CF6-8D8B87F433BE}"/>
              </a:ext>
            </a:extLst>
          </p:cNvPr>
          <p:cNvSpPr/>
          <p:nvPr/>
        </p:nvSpPr>
        <p:spPr>
          <a:xfrm>
            <a:off x="5542194" y="5917533"/>
            <a:ext cx="1544406" cy="4070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446211"/>
            <a:ext cx="6066065" cy="5014912"/>
          </a:xfrm>
        </p:spPr>
        <p:txBody>
          <a:bodyPr/>
          <a:lstStyle/>
          <a:p>
            <a:r>
              <a:rPr lang="en-US" sz="2400" dirty="0"/>
              <a:t>Difficult code components – boxes that are very different across views!</a:t>
            </a:r>
          </a:p>
          <a:p>
            <a:r>
              <a:rPr lang="en-US" sz="2400" dirty="0"/>
              <a:t>Resource sharing: what peripherals can we keep independent?</a:t>
            </a:r>
          </a:p>
          <a:p>
            <a:r>
              <a:rPr lang="en-US" sz="2400" dirty="0"/>
              <a:t>Can any boxes be combined?</a:t>
            </a:r>
          </a:p>
          <a:p>
            <a:pPr lvl="1"/>
            <a:r>
              <a:rPr lang="en-US" sz="2000" dirty="0"/>
              <a:t>In hierarchy: objects used by only one other object</a:t>
            </a:r>
          </a:p>
          <a:p>
            <a:pPr lvl="1"/>
            <a:r>
              <a:rPr lang="en-US" sz="2000" dirty="0"/>
              <a:t>In layers: objects in a layer that are always used together (shared connections above and below)</a:t>
            </a:r>
          </a:p>
          <a:p>
            <a:r>
              <a:rPr lang="en-US" sz="2400" dirty="0"/>
              <a:t>What boxes need splitting?</a:t>
            </a:r>
          </a:p>
          <a:p>
            <a:pPr lvl="1"/>
            <a:r>
              <a:rPr lang="en-US" sz="2000" dirty="0"/>
              <a:t>Several modules that touch the same</a:t>
            </a:r>
            <a:br>
              <a:rPr lang="en-US" sz="2000" dirty="0"/>
            </a:br>
            <a:r>
              <a:rPr lang="en-US" sz="2000" dirty="0"/>
              <a:t>lower module: can we break it up?</a:t>
            </a:r>
          </a:p>
          <a:p>
            <a:pPr lvl="1"/>
            <a:r>
              <a:rPr lang="en-US" sz="2000" dirty="0"/>
              <a:t>For example: logging can use flash only</a:t>
            </a:r>
            <a:br>
              <a:rPr lang="en-US" sz="2000" dirty="0"/>
            </a:br>
            <a:r>
              <a:rPr lang="en-US" sz="2000" dirty="0"/>
              <a:t>at the start to read serial no, and never again!</a:t>
            </a:r>
          </a:p>
        </p:txBody>
      </p:sp>
    </p:spTree>
    <p:extLst>
      <p:ext uri="{BB962C8B-B14F-4D97-AF65-F5344CB8AC3E}">
        <p14:creationId xmlns:p14="http://schemas.microsoft.com/office/powerpoint/2010/main" val="387372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8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B46BA-E9CF-41F5-AE81-C17A7106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system diagrams:</a:t>
            </a:r>
            <a:br>
              <a:rPr lang="en-US" dirty="0"/>
            </a:br>
            <a:r>
              <a:rPr lang="en-US" dirty="0"/>
              <a:t>Delegation of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C1B59-AF91-494F-B0B5-D1BD56DC5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D5B08-33D8-4A37-87D1-F6226620F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6CAFA09-72D8-4019-9607-EF5BECDF4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141" y="1343249"/>
            <a:ext cx="2378419" cy="20386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5A514-0AD8-4A21-B659-65BEEB64CA6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l="2270" t="3327" r="2270" b="9252"/>
          <a:stretch/>
        </p:blipFill>
        <p:spPr>
          <a:xfrm>
            <a:off x="6207588" y="3429000"/>
            <a:ext cx="2905932" cy="1905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8ECA51-42BE-4CB0-8B50-A6ED12FFCAA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19" t="8766" r="1919" b="17257"/>
          <a:stretch/>
        </p:blipFill>
        <p:spPr>
          <a:xfrm>
            <a:off x="5152502" y="5411789"/>
            <a:ext cx="3961018" cy="1152296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F35C6F-6DA5-4498-B054-87C8BEBB9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" y="1371600"/>
            <a:ext cx="6066065" cy="5014912"/>
          </a:xfrm>
        </p:spPr>
        <p:txBody>
          <a:bodyPr/>
          <a:lstStyle/>
          <a:p>
            <a:r>
              <a:rPr lang="en-US" sz="2000" dirty="0"/>
              <a:t>How would you split tasks within the team?</a:t>
            </a:r>
          </a:p>
          <a:p>
            <a:pPr lvl="1"/>
            <a:r>
              <a:rPr lang="en-US" sz="1600" dirty="0"/>
              <a:t>Assign entire blocks / groups of blocks</a:t>
            </a:r>
          </a:p>
          <a:p>
            <a:pPr lvl="1"/>
            <a:r>
              <a:rPr lang="en-US" sz="1600" dirty="0"/>
              <a:t>Assign hierarchy branches</a:t>
            </a:r>
          </a:p>
          <a:p>
            <a:r>
              <a:rPr lang="en-US" sz="2000" dirty="0"/>
              <a:t>Reduce interdependencies</a:t>
            </a:r>
          </a:p>
          <a:p>
            <a:pPr lvl="1"/>
            <a:r>
              <a:rPr lang="en-US" sz="1600" dirty="0"/>
              <a:t>How interdependent are the tasks of different team members?</a:t>
            </a:r>
          </a:p>
          <a:p>
            <a:pPr lvl="1"/>
            <a:r>
              <a:rPr lang="en-US" sz="1600" dirty="0"/>
              <a:t>Too much interdependency </a:t>
            </a:r>
            <a:r>
              <a:rPr lang="en-US" sz="1600" dirty="0">
                <a:sym typeface="Wingdings" panose="05000000000000000000" pitchFamily="2" charset="2"/>
              </a:rPr>
              <a:t> complex, buggy, fragile software</a:t>
            </a:r>
          </a:p>
          <a:p>
            <a:r>
              <a:rPr lang="en-US" sz="2000" dirty="0">
                <a:sym typeface="Wingdings" panose="05000000000000000000" pitchFamily="2" charset="2"/>
              </a:rPr>
              <a:t>Identify interfaces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Scope for delegation  scope for splitting + interface</a:t>
            </a:r>
          </a:p>
          <a:p>
            <a:r>
              <a:rPr lang="en-US" sz="2000" dirty="0">
                <a:sym typeface="Wingdings" panose="05000000000000000000" pitchFamily="2" charset="2"/>
              </a:rPr>
              <a:t>Protection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Think of your module can be protected from mistakes by other modules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Will adding a box to your group reduce data sharing?</a:t>
            </a:r>
          </a:p>
          <a:p>
            <a:r>
              <a:rPr lang="en-US" sz="2000" dirty="0">
                <a:sym typeface="Wingdings" panose="05000000000000000000" pitchFamily="2" charset="2"/>
              </a:rPr>
              <a:t>Testing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inputs, outputs and function of each module</a:t>
            </a:r>
          </a:p>
          <a:p>
            <a:pPr lvl="1"/>
            <a:r>
              <a:rPr lang="en-US" sz="1600" dirty="0">
                <a:sym typeface="Wingdings" panose="05000000000000000000" pitchFamily="2" charset="2"/>
              </a:rPr>
              <a:t>Define tests to confirm this behavior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7377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670E0-83B8-4261-B2C0-72521E6C9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54497-8AF4-4345-BCF7-968C3EBFD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FDBCD-6154-423B-8859-741232D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51327-CFBB-4E8C-8F16-E37212301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879695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5828-B82B-44E1-A9B1-0AC83E3F7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88B2-3B2E-4F6C-A817-E26E54A1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F6088-9C95-4574-AB7D-62D692727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B67A67-80D3-4FAF-A68C-EAC1126E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23485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7AB5D-D1EF-4D24-AAF6-174B5003C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diagrams to file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EB26E-359F-4C3A-BB1D-DE45F0750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922FA-89D7-46E4-8040-F0F0FCF95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73F040-6F26-4420-941B-4564D793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9535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ABF7A-37F9-459A-908A-B09DFA75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Structural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C5B8C-B3AC-4356-B9EF-1E6780C9C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939698" cy="501491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Define where code lives</a:t>
            </a:r>
          </a:p>
          <a:p>
            <a:r>
              <a:rPr lang="en-US" dirty="0"/>
              <a:t>Hardware Abstraction Layer (HAL): the block that wraps registers</a:t>
            </a:r>
          </a:p>
          <a:p>
            <a:pPr lvl="1"/>
            <a:r>
              <a:rPr lang="en-US" dirty="0"/>
              <a:t>Turns </a:t>
            </a:r>
            <a:r>
              <a:rPr lang="en-US" i="1" dirty="0"/>
              <a:t>LPC_GPIO0-&gt;FIOPIN |= (1 &lt;&lt; 5)</a:t>
            </a:r>
            <a:r>
              <a:rPr lang="en-US" dirty="0"/>
              <a:t> into </a:t>
            </a:r>
            <a:r>
              <a:rPr lang="en-US" i="1" dirty="0" err="1"/>
              <a:t>Led_On</a:t>
            </a:r>
            <a:r>
              <a:rPr lang="en-US" i="1" dirty="0"/>
              <a:t>()</a:t>
            </a:r>
          </a:p>
          <a:p>
            <a:r>
              <a:rPr lang="en-US" dirty="0"/>
              <a:t>Drivers: Specialized blocks for external actors</a:t>
            </a:r>
          </a:p>
          <a:p>
            <a:r>
              <a:rPr lang="en-US" dirty="0"/>
              <a:t>Middleware: Heavy-duty blocks that provide generic services, such as file system handling</a:t>
            </a:r>
          </a:p>
          <a:p>
            <a:r>
              <a:rPr lang="en-US" dirty="0"/>
              <a:t>Application logic: High level logic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0564C-BF6A-4BC1-BA16-1D866A8E0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C94FB6-C5D3-46FA-AF2B-0DD7452D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8FB76C-1F82-4FA8-B82A-B770356F9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098" y="1446209"/>
            <a:ext cx="2899502" cy="501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8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07FE-CC82-40E3-96E1-8F67212CD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65015-6224-438E-9248-DB98AAB8C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324600" cy="501491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dirty="0"/>
              <a:t>Define how code runs and how CPU is shared</a:t>
            </a:r>
          </a:p>
          <a:p>
            <a:r>
              <a:rPr lang="en-US" sz="2800" dirty="0"/>
              <a:t>The main loop (</a:t>
            </a:r>
            <a:r>
              <a:rPr lang="en-US" sz="2800" dirty="0" err="1"/>
              <a:t>superloop</a:t>
            </a:r>
            <a:r>
              <a:rPr lang="en-US" sz="2800" dirty="0"/>
              <a:t>): simplest execution block that runs every task sequentially</a:t>
            </a:r>
          </a:p>
          <a:p>
            <a:r>
              <a:rPr lang="en-US" sz="2800" dirty="0"/>
              <a:t>Interrupt Service Routines: High priority blocks triggered by hardware events</a:t>
            </a:r>
          </a:p>
          <a:p>
            <a:pPr lvl="1"/>
            <a:r>
              <a:rPr lang="en-US" sz="2400" dirty="0"/>
              <a:t>Preempt whatever the CPU is doing</a:t>
            </a:r>
          </a:p>
          <a:p>
            <a:r>
              <a:rPr lang="en-US" sz="2800" dirty="0"/>
              <a:t>RTOS tasks / threads: Independent blocks of execution that have their own priority</a:t>
            </a:r>
          </a:p>
          <a:p>
            <a:pPr lvl="1"/>
            <a:r>
              <a:rPr lang="en-US" sz="2400" dirty="0"/>
              <a:t>A scheduler decides when the tasks run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F20A9-E7E1-4D5F-ACE9-1F121493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8298CA-FD01-4F97-9E49-F23D7CA99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8F533-2FDD-4031-B261-92712268C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391657" y="2741355"/>
            <a:ext cx="4895088" cy="230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990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0418C-916C-4FEF-9C7B-A1674CC36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 and sync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6EEA2-CB9E-4B5D-A70A-A7788239C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181600" cy="5014912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These blocks allow the other units to talk to each other without causing data corruption</a:t>
            </a:r>
          </a:p>
          <a:p>
            <a:r>
              <a:rPr lang="en-US" dirty="0"/>
              <a:t>Message queues: A mailbox block (task A drops a message into the queue, task B can pick it up when ready)</a:t>
            </a:r>
          </a:p>
          <a:p>
            <a:r>
              <a:rPr lang="en-US" dirty="0"/>
              <a:t>Semaphores / mutexes: Lock blocks, ensuring proper resource sharing and usage</a:t>
            </a:r>
          </a:p>
          <a:p>
            <a:r>
              <a:rPr lang="en-US" dirty="0"/>
              <a:t>Event flags: Simple signal blocks used to wake up sleeping tasks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5AD50-E81F-4ECA-9C07-EE22A5880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BAC86-DB68-4255-9DC7-F059FF4D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EF2BBA-80F3-4116-9313-2597BA0D7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7114" y="1446211"/>
            <a:ext cx="3591969" cy="50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85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8B69-FAE9-4111-BC67-1A7BEBBB4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Behavioral and interface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5286D-0760-4A67-82AE-0538CA26C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6858000" cy="371774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State machines: The core logic block. Tracks the ‘state’ of the system and defines what events are allowed etc.</a:t>
            </a:r>
          </a:p>
          <a:p>
            <a:r>
              <a:rPr lang="en-US" dirty="0"/>
              <a:t>Fault handlers: The emergency block; code that runs when things go wrong</a:t>
            </a:r>
          </a:p>
          <a:p>
            <a:r>
              <a:rPr lang="en-US" dirty="0"/>
              <a:t>APIs: The "surface" of a block. It defines the header files and functions that other blocks are allowed to see and call.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74C666-B6CB-4266-B63A-4AEABC776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67F9FE-62D3-42E9-A03B-FADFFD606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EBE456-28FD-4440-9199-72039BF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19" y="1249361"/>
            <a:ext cx="2037041" cy="5181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6D3718-4CAA-486B-AB69-83CB84A66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" y="5163959"/>
            <a:ext cx="7516274" cy="126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2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F1399-D996-4092-A98C-004D769D7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53975"/>
            <a:ext cx="6477000" cy="1195386"/>
          </a:xfrm>
        </p:spPr>
        <p:txBody>
          <a:bodyPr/>
          <a:lstStyle/>
          <a:p>
            <a:r>
              <a:rPr lang="en-US" dirty="0"/>
              <a:t>Encapsulation block: states </a:t>
            </a:r>
            <a:r>
              <a:rPr lang="en-US" dirty="0">
                <a:sym typeface="Wingdings" panose="05000000000000000000" pitchFamily="2" charset="2"/>
              </a:rPr>
              <a:t> modules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B56B1-7215-48E3-8CED-DE8CC5490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691605"/>
            <a:ext cx="8839200" cy="376951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Each concurrent region in a </a:t>
            </a:r>
            <a:r>
              <a:rPr lang="en-US" dirty="0" err="1"/>
              <a:t>statechart</a:t>
            </a:r>
            <a:r>
              <a:rPr lang="en-US" dirty="0"/>
              <a:t> must map to a separate architectural concern.</a:t>
            </a:r>
          </a:p>
          <a:p>
            <a:r>
              <a:rPr lang="en-US" dirty="0"/>
              <a:t>Each state owns its own data</a:t>
            </a:r>
          </a:p>
          <a:p>
            <a:r>
              <a:rPr lang="en-US" dirty="0"/>
              <a:t>Flow control </a:t>
            </a:r>
            <a:r>
              <a:rPr lang="en-US" dirty="0">
                <a:sym typeface="Wingdings" panose="05000000000000000000" pitchFamily="2" charset="2"/>
              </a:rPr>
              <a:t> control module</a:t>
            </a:r>
          </a:p>
          <a:p>
            <a:r>
              <a:rPr lang="en-US" dirty="0">
                <a:sym typeface="Wingdings" panose="05000000000000000000" pitchFamily="2" charset="2"/>
              </a:rPr>
              <a:t>Safety monitoring  safety module</a:t>
            </a:r>
          </a:p>
          <a:p>
            <a:r>
              <a:rPr lang="en-US" dirty="0">
                <a:sym typeface="Wingdings" panose="05000000000000000000" pitchFamily="2" charset="2"/>
              </a:rPr>
              <a:t>Logging  logging module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572DC1-3E3F-486B-B438-61B8CF152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5285FD-324E-48CC-AE13-96D0A7B5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167BB5-C809-46A9-A174-A6F899D8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417956"/>
            <a:ext cx="742101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63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94296-298E-46F7-A782-376D5EF7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Dispatch block: transitions </a:t>
            </a:r>
            <a:r>
              <a:rPr lang="en-US" dirty="0">
                <a:sym typeface="Wingdings" panose="05000000000000000000" pitchFamily="2" charset="2"/>
              </a:rPr>
              <a:t> executable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8545C-3126-421D-B83D-346A6C1FB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446211"/>
            <a:ext cx="5715000" cy="5014912"/>
          </a:xfrm>
        </p:spPr>
        <p:txBody>
          <a:bodyPr/>
          <a:lstStyle/>
          <a:p>
            <a:r>
              <a:rPr lang="en-US" dirty="0"/>
              <a:t>Decides which state transition logic to run based on the incoming event and current state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25901-BE07-446C-9CE5-64A68F07D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D4A564-D809-4121-8EF7-60B78F344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159014-46A2-4581-8434-58ED9138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1387476"/>
            <a:ext cx="2971800" cy="2925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7670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C75C6-32DD-45BA-8DD7-5B55F234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ISR bridge: signals </a:t>
            </a:r>
            <a:r>
              <a:rPr lang="en-US" dirty="0">
                <a:sym typeface="Wingdings" panose="05000000000000000000" pitchFamily="2" charset="2"/>
              </a:rPr>
              <a:t> events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5E549-290A-445C-A301-2319CD15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2319429"/>
            <a:ext cx="8839200" cy="4141693"/>
          </a:xfrm>
        </p:spPr>
        <p:txBody>
          <a:bodyPr/>
          <a:lstStyle/>
          <a:p>
            <a:r>
              <a:rPr lang="en-US" dirty="0"/>
              <a:t>Sanitizes raw hardware pulses and turns them into events that the architecture understands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894BC-17B1-434A-AC92-EAE1F1258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FFEFAD-AAF5-483B-A60F-D3237442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EE7B5E-9E57-4989-8E88-BD154FAD0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968" y="1446211"/>
            <a:ext cx="7440063" cy="67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9584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4277-4811-451D-A5E1-A386353FC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hooks: entry/exit/do </a:t>
            </a:r>
            <a:r>
              <a:rPr lang="en-US" dirty="0">
                <a:sym typeface="Wingdings" panose="05000000000000000000" pitchFamily="2" charset="2"/>
              </a:rPr>
              <a:t> hardware commands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ADD177-2E41-4DD9-B6D6-96AFB64A4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Ensures hardware is initialized and cleaned up during state changes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16A9-7F47-44DF-9E78-6E3919BFF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21/12/2020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BB72C-FA7E-4F31-A6A1-7DD73C691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887A73-1AE0-46F8-856A-18EA1CF30A1B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59F7B-CA23-4D2B-A81E-B2F49BB2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923" y="3109782"/>
            <a:ext cx="3864154" cy="335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562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pptA48A.tmp</Template>
  <TotalTime>13583</TotalTime>
  <Words>1175</Words>
  <Application>Microsoft Office PowerPoint</Application>
  <PresentationFormat>On-screen Show (4:3)</PresentationFormat>
  <Paragraphs>217</Paragraphs>
  <Slides>29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Software for Embedded Systems</vt:lpstr>
      <vt:lpstr>Where we are</vt:lpstr>
      <vt:lpstr>What UML has given us</vt:lpstr>
      <vt:lpstr>What UML does not decide</vt:lpstr>
      <vt:lpstr>Firmware architecture</vt:lpstr>
      <vt:lpstr>What is firmware architecture?</vt:lpstr>
      <vt:lpstr>The building blocks of a software</vt:lpstr>
      <vt:lpstr>Modules Are Units of Responsibility</vt:lpstr>
      <vt:lpstr>Owners of time and urgency</vt:lpstr>
      <vt:lpstr>Who decides vs who executes?</vt:lpstr>
      <vt:lpstr>Architecture: How do we arrange these blocks?</vt:lpstr>
      <vt:lpstr>Back to diagrams! Creating system diagrams</vt:lpstr>
      <vt:lpstr>View 1: block diagrams What exists in the system?</vt:lpstr>
      <vt:lpstr>View 1: block diagrams What exists in the system?</vt:lpstr>
      <vt:lpstr>View 2: Hierarchy of Control Who controls whom?</vt:lpstr>
      <vt:lpstr>View 3: the layered view Size and relationship between objects</vt:lpstr>
      <vt:lpstr>Using system diagrams: Simplifying the system</vt:lpstr>
      <vt:lpstr>Using system diagrams: Delegation of tasks</vt:lpstr>
      <vt:lpstr>Building interfaces</vt:lpstr>
      <vt:lpstr>PowerPoint Presentation</vt:lpstr>
      <vt:lpstr>From diagrams to file structures</vt:lpstr>
      <vt:lpstr>Structural blocks</vt:lpstr>
      <vt:lpstr>Execution blocks</vt:lpstr>
      <vt:lpstr>Communication and sync blocks</vt:lpstr>
      <vt:lpstr>Behavioral and interface blocks</vt:lpstr>
      <vt:lpstr>Encapsulation block: states  modules</vt:lpstr>
      <vt:lpstr>Dispatch block: transitions  executable logic</vt:lpstr>
      <vt:lpstr>ISR bridge: signals  events</vt:lpstr>
      <vt:lpstr>Action hooks: entry/exit/do  hardware commands</vt:lpstr>
    </vt:vector>
  </TitlesOfParts>
  <Company>bits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Systems</dc:title>
  <dc:creator>a</dc:creator>
  <cp:lastModifiedBy>Saurabh Gandhi</cp:lastModifiedBy>
  <cp:revision>696</cp:revision>
  <dcterms:created xsi:type="dcterms:W3CDTF">2010-01-15T20:22:21Z</dcterms:created>
  <dcterms:modified xsi:type="dcterms:W3CDTF">2026-02-06T05:42:18Z</dcterms:modified>
</cp:coreProperties>
</file>