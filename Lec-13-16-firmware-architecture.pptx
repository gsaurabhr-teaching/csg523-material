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sldIdLst>
    <p:sldId id="337" r:id="rId2"/>
    <p:sldId id="354" r:id="rId3"/>
    <p:sldId id="355" r:id="rId4"/>
    <p:sldId id="356" r:id="rId5"/>
    <p:sldId id="338" r:id="rId6"/>
    <p:sldId id="339" r:id="rId7"/>
    <p:sldId id="357" r:id="rId8"/>
    <p:sldId id="358" r:id="rId9"/>
    <p:sldId id="359" r:id="rId10"/>
    <p:sldId id="360" r:id="rId11"/>
    <p:sldId id="350" r:id="rId12"/>
    <p:sldId id="361" r:id="rId13"/>
    <p:sldId id="362" r:id="rId14"/>
    <p:sldId id="363" r:id="rId15"/>
    <p:sldId id="364" r:id="rId16"/>
    <p:sldId id="366" r:id="rId17"/>
    <p:sldId id="367" r:id="rId18"/>
    <p:sldId id="369" r:id="rId19"/>
    <p:sldId id="368" r:id="rId20"/>
    <p:sldId id="371" r:id="rId21"/>
    <p:sldId id="372" r:id="rId22"/>
    <p:sldId id="373" r:id="rId23"/>
    <p:sldId id="374" r:id="rId24"/>
    <p:sldId id="381" r:id="rId25"/>
    <p:sldId id="375" r:id="rId26"/>
    <p:sldId id="376" r:id="rId27"/>
    <p:sldId id="370" r:id="rId28"/>
    <p:sldId id="377" r:id="rId29"/>
    <p:sldId id="378" r:id="rId30"/>
    <p:sldId id="379" r:id="rId31"/>
    <p:sldId id="380" r:id="rId32"/>
    <p:sldId id="365" r:id="rId33"/>
    <p:sldId id="342" r:id="rId34"/>
    <p:sldId id="343" r:id="rId35"/>
    <p:sldId id="344" r:id="rId36"/>
    <p:sldId id="345" r:id="rId37"/>
    <p:sldId id="341" r:id="rId38"/>
    <p:sldId id="347" r:id="rId39"/>
    <p:sldId id="348" r:id="rId40"/>
    <p:sldId id="349" r:id="rId41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3F26"/>
    <a:srgbClr val="72C3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81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2/12/2026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module</a:t>
            </a:r>
            <a:r>
              <a:rPr lang="en-US" dirty="0"/>
              <a:t> is about </a:t>
            </a:r>
            <a:r>
              <a:rPr lang="en-US" i="1" dirty="0"/>
              <a:t>responsibility</a:t>
            </a:r>
            <a:r>
              <a:rPr lang="en-US" dirty="0"/>
              <a:t>, not files</a:t>
            </a:r>
          </a:p>
          <a:p>
            <a:r>
              <a:rPr lang="en-US" dirty="0"/>
              <a:t>An </a:t>
            </a:r>
            <a:r>
              <a:rPr lang="en-US" b="1" dirty="0"/>
              <a:t>interface</a:t>
            </a:r>
            <a:r>
              <a:rPr lang="en-US" dirty="0"/>
              <a:t> is about </a:t>
            </a:r>
            <a:r>
              <a:rPr lang="en-US" i="1" dirty="0"/>
              <a:t>permission</a:t>
            </a:r>
            <a:r>
              <a:rPr lang="en-US" dirty="0"/>
              <a:t>, not convenience</a:t>
            </a:r>
          </a:p>
          <a:p>
            <a:r>
              <a:rPr lang="en-US" dirty="0"/>
              <a:t>A </a:t>
            </a:r>
            <a:r>
              <a:rPr lang="en-US" b="1" dirty="0"/>
              <a:t>task</a:t>
            </a:r>
            <a:r>
              <a:rPr lang="en-US" dirty="0"/>
              <a:t> owns </a:t>
            </a:r>
            <a:r>
              <a:rPr lang="en-US" i="1" dirty="0"/>
              <a:t>time</a:t>
            </a:r>
            <a:endParaRPr lang="en-US" dirty="0"/>
          </a:p>
          <a:p>
            <a:r>
              <a:rPr lang="en-US" dirty="0"/>
              <a:t>An </a:t>
            </a:r>
            <a:r>
              <a:rPr lang="en-US" b="1" dirty="0"/>
              <a:t>interrupt</a:t>
            </a:r>
            <a:r>
              <a:rPr lang="en-US" dirty="0"/>
              <a:t> owns </a:t>
            </a:r>
            <a:r>
              <a:rPr lang="en-US" i="1" dirty="0"/>
              <a:t>urgency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state machine</a:t>
            </a:r>
            <a:r>
              <a:rPr lang="en-US" dirty="0"/>
              <a:t> owns </a:t>
            </a:r>
            <a:r>
              <a:rPr lang="en-US" i="1" dirty="0"/>
              <a:t>legality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driver</a:t>
            </a:r>
            <a:r>
              <a:rPr lang="en-US" dirty="0"/>
              <a:t> owns </a:t>
            </a:r>
            <a:r>
              <a:rPr lang="en-US" i="1" dirty="0"/>
              <a:t>hardware access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1895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code.google.com/p/google-styleguide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3BC96-6B6F-455B-9267-7A9A8F7D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F1298-8DB9-40F4-9213-90B2123C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5440E-C2A5-49A4-AEB3-A6D4021B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pic>
        <p:nvPicPr>
          <p:cNvPr id="6" name="Picture 2" descr="Image of the V-model software development lifecycle">
            <a:extLst>
              <a:ext uri="{FF2B5EF4-FFF2-40B4-BE49-F238E27FC236}">
                <a16:creationId xmlns:a16="http://schemas.microsoft.com/office/drawing/2014/main" id="{271C45B4-1A09-446B-AE73-B370A426DEB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78" y="1446213"/>
            <a:ext cx="7434044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36A2D3-D99D-41CD-AD1F-234CE51C6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00" y="1547814"/>
            <a:ext cx="1150188" cy="1066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051A37-ACC9-4E57-82A2-4A2B45172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1905000"/>
            <a:ext cx="600769" cy="55721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E6FCE3B-FD51-4119-AAB5-8C6EDFBBB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590230"/>
            <a:ext cx="1150188" cy="1066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F5E200-FF0D-4719-B619-403E24A3A5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863" y="2743200"/>
            <a:ext cx="600769" cy="55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4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C9D16-4AB8-4F4F-8B63-889D2F128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has given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ABE0-D3E0-426A-AFFC-67234E13D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Functional completeness of system</a:t>
            </a:r>
          </a:p>
          <a:p>
            <a:r>
              <a:rPr lang="en-US" dirty="0"/>
              <a:t>Correct behavioral flow (no missing states or transitions)</a:t>
            </a:r>
          </a:p>
          <a:p>
            <a:r>
              <a:rPr lang="en-US" dirty="0"/>
              <a:t>Explicit safety states</a:t>
            </a:r>
          </a:p>
          <a:p>
            <a:r>
              <a:rPr lang="en-US" dirty="0"/>
              <a:t>Valid and ordered interactions between components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Provided we are able to implement the system that we modeled!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0192E-39C4-4BEE-ABA5-50BDF0D8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D9FBC6-28A3-43CF-AE5A-7F4D7617E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8795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BAB0-5F2F-46CF-A3B4-DF7109BB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does not decide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B16DC-36A3-4868-B180-FCBF0F1FE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The actual implementation</a:t>
            </a:r>
          </a:p>
          <a:p>
            <a:r>
              <a:rPr lang="en-US" dirty="0"/>
              <a:t>Relationship with the hardware</a:t>
            </a:r>
          </a:p>
          <a:p>
            <a:r>
              <a:rPr lang="en-US" dirty="0"/>
              <a:t>Where each piece of code lives</a:t>
            </a:r>
          </a:p>
          <a:p>
            <a:r>
              <a:rPr lang="en-US" dirty="0"/>
              <a:t>What part of code performs what action</a:t>
            </a:r>
          </a:p>
          <a:p>
            <a:r>
              <a:rPr lang="en-US" dirty="0"/>
              <a:t>How hardware resources are shared</a:t>
            </a:r>
          </a:p>
          <a:p>
            <a:endParaRPr lang="en-US" dirty="0"/>
          </a:p>
          <a:p>
            <a:r>
              <a:rPr lang="en-US" dirty="0"/>
              <a:t>UML models are deliberately hardware agnostic (so we can focus on behavior first)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What should happen?</a:t>
            </a:r>
            <a:endParaRPr lang="en-US" dirty="0">
              <a:solidFill>
                <a:srgbClr val="72C3E8"/>
              </a:solidFill>
            </a:endParaRPr>
          </a:p>
          <a:p>
            <a:r>
              <a:rPr lang="en-US" dirty="0"/>
              <a:t>But now, we need to think about implementation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How to make it happen?</a:t>
            </a:r>
            <a:endParaRPr lang="en-US" dirty="0">
              <a:solidFill>
                <a:srgbClr val="72C3E8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CD9F5-9400-46D1-A7C9-8921B76A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A7D885-3F5E-4E96-B1E5-23C79FAC2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3370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59F4A-9C12-46B1-B873-F11D3F5D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Firmware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6BDEED-0F9F-4246-A8E8-B25CC65F4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0D6F2-DFFB-48F6-A130-E7D5A2E2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820CBC-7EE9-4906-820D-C0252DF89B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structure software so that the behavior we modeled </a:t>
            </a:r>
            <a:r>
              <a:rPr lang="en-US" b="1" i="1" dirty="0"/>
              <a:t>cannot be violated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2380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4D980-555D-4175-A410-5B3CEB304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firmware architecture?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A776E-93A4-4B3D-8CE9-9A69F2F71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dirty="0"/>
              <a:t>Firmware architecture defines:</a:t>
            </a:r>
          </a:p>
          <a:p>
            <a:pPr>
              <a:spcBef>
                <a:spcPts val="1200"/>
              </a:spcBef>
            </a:pPr>
            <a:r>
              <a:rPr lang="en-US" dirty="0"/>
              <a:t>Major software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Their responsibilities</a:t>
            </a:r>
          </a:p>
          <a:p>
            <a:pPr>
              <a:spcBef>
                <a:spcPts val="1200"/>
              </a:spcBef>
            </a:pPr>
            <a:r>
              <a:rPr lang="en-US" dirty="0"/>
              <a:t>Allowed communication channels between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Execution context boundaries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dirty="0"/>
              <a:t>It tells us:</a:t>
            </a:r>
          </a:p>
          <a:p>
            <a:pPr>
              <a:spcBef>
                <a:spcPts val="1200"/>
              </a:spcBef>
            </a:pPr>
            <a:r>
              <a:rPr lang="en-US" dirty="0"/>
              <a:t>Who runs where?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call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block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reacts to events?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4D999-4AC5-4636-90E1-D105EA4EE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11CFE-C81B-44A9-A56B-B386E000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400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979B-654E-46A8-9E7E-DABDA12A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building blocks of a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3273C-9841-492B-AE71-B05416052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BF3FB-7634-4968-9CC2-B273E4C2B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3D52E29-7543-4084-BB9F-914BDAB89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77176"/>
          <a:stretch/>
        </p:blipFill>
        <p:spPr>
          <a:xfrm>
            <a:off x="651470" y="1446213"/>
            <a:ext cx="7841060" cy="1144587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F4C299F0-78C5-4E00-AC61-49A4F5ECE8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63500"/>
          <a:stretch/>
        </p:blipFill>
        <p:spPr bwMode="auto">
          <a:xfrm>
            <a:off x="651470" y="1446213"/>
            <a:ext cx="7841060" cy="1830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83D86EAA-6521-4D03-9411-B42558020E8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48304"/>
          <a:stretch/>
        </p:blipFill>
        <p:spPr bwMode="auto">
          <a:xfrm>
            <a:off x="651470" y="1446213"/>
            <a:ext cx="7841060" cy="2592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7880A5F0-6B18-45E9-A236-E8E82DFFE9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33109"/>
          <a:stretch/>
        </p:blipFill>
        <p:spPr bwMode="auto">
          <a:xfrm>
            <a:off x="651470" y="1446212"/>
            <a:ext cx="7841060" cy="3354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Content Placeholder 10">
            <a:extLst>
              <a:ext uri="{FF2B5EF4-FFF2-40B4-BE49-F238E27FC236}">
                <a16:creationId xmlns:a16="http://schemas.microsoft.com/office/drawing/2014/main" id="{C53C87E4-B8C5-474D-93B2-5C405E997F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877"/>
          <a:stretch/>
        </p:blipFill>
        <p:spPr bwMode="auto">
          <a:xfrm>
            <a:off x="651470" y="1446212"/>
            <a:ext cx="7841060" cy="426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FD5B0870-A5D9-46DD-8153-22ED885A22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202"/>
          <a:stretch/>
        </p:blipFill>
        <p:spPr bwMode="auto">
          <a:xfrm>
            <a:off x="651470" y="1446212"/>
            <a:ext cx="7841060" cy="495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451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9524-5822-4ED8-AE0C-406852159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Are Units of Responsibility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EB4BB-5C39-4BDF-AE37-6ECDE1C96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module has</a:t>
            </a:r>
          </a:p>
          <a:p>
            <a:r>
              <a:rPr lang="en-US" dirty="0"/>
              <a:t>One responsibility</a:t>
            </a:r>
          </a:p>
          <a:p>
            <a:r>
              <a:rPr lang="en-US" dirty="0"/>
              <a:t>A public interface</a:t>
            </a:r>
          </a:p>
          <a:p>
            <a:r>
              <a:rPr lang="en-US" dirty="0"/>
              <a:t>Hidden state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Motor module</a:t>
            </a:r>
          </a:p>
          <a:p>
            <a:pPr lvl="1"/>
            <a:r>
              <a:rPr lang="en-US" dirty="0"/>
              <a:t>handles motor operations</a:t>
            </a:r>
          </a:p>
          <a:p>
            <a:pPr lvl="1"/>
            <a:r>
              <a:rPr lang="en-US" dirty="0"/>
              <a:t>exposes start() and stop() on its interface</a:t>
            </a:r>
          </a:p>
          <a:p>
            <a:pPr lvl="1"/>
            <a:r>
              <a:rPr lang="en-US" dirty="0"/>
              <a:t>hides states of internal registers required for function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DF247-1ADE-4347-88F9-6EA9708F3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1F5D7-4131-47C2-8241-DDA77F88F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657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5BDDD-0F4B-4345-849E-7DB838198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 of time and urgency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37D99-735E-43F0-B416-23B372B55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Tasks:</a:t>
            </a:r>
          </a:p>
          <a:p>
            <a:r>
              <a:rPr lang="en-US" dirty="0"/>
              <a:t>Own execution flow</a:t>
            </a:r>
          </a:p>
          <a:p>
            <a:r>
              <a:rPr lang="en-US" dirty="0"/>
              <a:t>Run independently</a:t>
            </a:r>
          </a:p>
          <a:p>
            <a:pPr marL="0" indent="0">
              <a:buNone/>
            </a:pPr>
            <a:r>
              <a:rPr lang="en-US" dirty="0"/>
              <a:t>Interrupts:</a:t>
            </a:r>
          </a:p>
          <a:p>
            <a:r>
              <a:rPr lang="en-US" dirty="0"/>
              <a:t>Preempt tasks</a:t>
            </a:r>
          </a:p>
          <a:p>
            <a:r>
              <a:rPr lang="en-US" dirty="0"/>
              <a:t>Detect emergencies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Therapy task controls infusion</a:t>
            </a:r>
          </a:p>
          <a:p>
            <a:r>
              <a:rPr lang="en-US" dirty="0"/>
              <a:t>Pressure interrupt detects occlusion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29B11-CE7B-4C7B-957E-38AB3B953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599D56-6986-44B8-AFD8-E9B4AFAD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12483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674-8A50-461A-9635-58A32963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decides vs who executes?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C6982-E064-42F3-9B40-B49FAC189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machine decides what (action) is allowed</a:t>
            </a:r>
          </a:p>
          <a:p>
            <a:r>
              <a:rPr lang="en-US" dirty="0"/>
              <a:t>Driver executes the action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State machine enters ‘alarm’ state</a:t>
            </a:r>
          </a:p>
          <a:p>
            <a:r>
              <a:rPr lang="en-US" dirty="0"/>
              <a:t>Motor driver stops motor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46CFD-199C-4991-8CD2-810C2BB92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D4D50-A42B-4945-B0B2-9E3D0988C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4406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0E56-2D91-49A5-9E4A-113ECE3D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Architecture: How do we arrange these blocks?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8944C5-5846-47A4-BFB2-AD9C258AB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ACF54-639E-4F97-80E8-BE248A686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659EA9-1988-4C14-B276-D80258B792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8305800" cy="3124200"/>
          </a:xfrm>
        </p:spPr>
        <p:txBody>
          <a:bodyPr/>
          <a:lstStyle/>
          <a:p>
            <a:r>
              <a:rPr lang="en-US" dirty="0"/>
              <a:t>So that behavior is realized?</a:t>
            </a:r>
          </a:p>
          <a:p>
            <a:r>
              <a:rPr lang="en-US" dirty="0"/>
              <a:t>Which module decides? Executes?</a:t>
            </a:r>
          </a:p>
          <a:p>
            <a:r>
              <a:rPr lang="en-US" dirty="0"/>
              <a:t>Who can override whom?</a:t>
            </a:r>
          </a:p>
          <a:p>
            <a:r>
              <a:rPr lang="en-US" dirty="0"/>
              <a:t>A critical concern: shared resources</a:t>
            </a:r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Where do we start building our actual software?</a:t>
            </a:r>
          </a:p>
        </p:txBody>
      </p:sp>
    </p:spTree>
    <p:extLst>
      <p:ext uri="{BB962C8B-B14F-4D97-AF65-F5344CB8AC3E}">
        <p14:creationId xmlns:p14="http://schemas.microsoft.com/office/powerpoint/2010/main" val="329614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4ED2-B862-4D1C-A2E3-C55FD7B2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diagrams!</a:t>
            </a:r>
            <a:br>
              <a:rPr lang="en-US" dirty="0"/>
            </a:br>
            <a:r>
              <a:rPr lang="en-US" dirty="0"/>
              <a:t>Creating system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5AFB3-B345-4EED-AC60-23B90ECE9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Why make more diagrams?</a:t>
            </a:r>
          </a:p>
          <a:p>
            <a:r>
              <a:rPr lang="en-US" dirty="0"/>
              <a:t>Identify shared resources</a:t>
            </a:r>
          </a:p>
          <a:p>
            <a:r>
              <a:rPr lang="en-US" dirty="0"/>
              <a:t>Find difficult code components</a:t>
            </a:r>
          </a:p>
          <a:p>
            <a:r>
              <a:rPr lang="en-US" dirty="0"/>
              <a:t>How to balance complexity, flexibility, ease of implementation?</a:t>
            </a:r>
          </a:p>
          <a:p>
            <a:r>
              <a:rPr lang="en-US" dirty="0"/>
              <a:t>Delegate development tasks within teams</a:t>
            </a:r>
          </a:p>
          <a:p>
            <a:r>
              <a:rPr lang="en-US" dirty="0"/>
              <a:t>Reduce interdependencies between modules</a:t>
            </a:r>
          </a:p>
          <a:p>
            <a:r>
              <a:rPr lang="en-US" dirty="0"/>
              <a:t>Protect modules from each other</a:t>
            </a:r>
          </a:p>
          <a:p>
            <a:r>
              <a:rPr lang="en-US" dirty="0"/>
              <a:t>Identify interfaces</a:t>
            </a:r>
          </a:p>
          <a:p>
            <a:r>
              <a:rPr lang="en-US" dirty="0"/>
              <a:t>Define precise tests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074C5-2E4F-4530-BB12-10CF1BA28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3AD034-75C9-45C7-8CC2-723017497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664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3759F-43E2-4128-8996-F59827182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2090-457E-407E-AFE2-CD32B36FD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446211"/>
            <a:ext cx="5772931" cy="501491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Start with the physical objects in your system – the microcontroller and peripherals</a:t>
            </a:r>
          </a:p>
          <a:p>
            <a:r>
              <a:rPr lang="en-US" dirty="0"/>
              <a:t>How do you talk to these?</a:t>
            </a:r>
          </a:p>
          <a:p>
            <a:pPr lvl="1"/>
            <a:r>
              <a:rPr lang="en-US" dirty="0"/>
              <a:t>Communication goes inside the processor box (part of software)</a:t>
            </a:r>
          </a:p>
          <a:p>
            <a:r>
              <a:rPr lang="en-US" dirty="0"/>
              <a:t>How do you control the peripheral?</a:t>
            </a:r>
          </a:p>
          <a:p>
            <a:pPr lvl="1"/>
            <a:r>
              <a:rPr lang="en-US" dirty="0"/>
              <a:t>Add another box, a driver</a:t>
            </a:r>
          </a:p>
          <a:p>
            <a:r>
              <a:rPr lang="en-US" dirty="0"/>
              <a:t>What are you using the peripheral for?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860BE-B1B7-493C-8DEA-536776BAB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0FF6A-0997-45C5-AB3A-A491C3FA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74F212-A91B-4B4A-9E1F-0A0AAA7786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056"/>
          <a:stretch/>
        </p:blipFill>
        <p:spPr>
          <a:xfrm>
            <a:off x="5925331" y="914401"/>
            <a:ext cx="3210560" cy="15727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CC5872-FBF1-4BD1-88D5-70AC2D19E7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188"/>
          <a:stretch/>
        </p:blipFill>
        <p:spPr>
          <a:xfrm>
            <a:off x="5925331" y="914401"/>
            <a:ext cx="3210560" cy="281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978881-AB11-4E2F-8C54-913B13B0A7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5936488" y="914400"/>
            <a:ext cx="3210560" cy="40386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E75BB4-4C3E-44C6-A180-2B07968AE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536" y="5063735"/>
            <a:ext cx="3052066" cy="142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5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C8965-FFBD-4836-99DC-E7B18E99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D0DA5BC-FC29-40AC-808D-905662781A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599" y="1472060"/>
            <a:ext cx="8792802" cy="496321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7FFAE-EAA7-4826-AC7F-5BDFB4958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1292E-0FFE-470D-B74E-CF7333AA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35151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F7C40-EA7D-4F79-91A6-10A189FA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2: Hierarchy of Control</a:t>
            </a:r>
            <a:br>
              <a:rPr lang="en-US" dirty="0"/>
            </a:br>
            <a:r>
              <a:rPr lang="en-US" dirty="0"/>
              <a:t>Who controls whom?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758B437-EB72-4177-BE4D-F2362D3789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77" t="3070" r="2077" b="87813"/>
          <a:stretch/>
        </p:blipFill>
        <p:spPr>
          <a:xfrm>
            <a:off x="1132332" y="1505329"/>
            <a:ext cx="5486400" cy="4572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D8E5D-B8A9-4E06-9F26-2781BB82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F0E2EB-1C2D-4A00-B80A-DF40A782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C76C6D29-66BF-4CAB-8B63-27935B0E74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68059"/>
          <a:stretch/>
        </p:blipFill>
        <p:spPr bwMode="auto">
          <a:xfrm>
            <a:off x="1132332" y="1505329"/>
            <a:ext cx="548640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0DEBE898-4270-4EDA-BDAB-4F9A2339C69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55903"/>
          <a:stretch/>
        </p:blipFill>
        <p:spPr bwMode="auto">
          <a:xfrm>
            <a:off x="1132332" y="1505329"/>
            <a:ext cx="5486400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AF820C05-69F5-44E4-8F24-814BAD23D5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69" r="2077" b="36150"/>
          <a:stretch/>
        </p:blipFill>
        <p:spPr bwMode="auto">
          <a:xfrm>
            <a:off x="1132332" y="1505329"/>
            <a:ext cx="5486400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BAFB3E27-C4F2-49F0-BF16-121005BA62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586" t="29" r="746" b="-318"/>
          <a:stretch/>
        </p:blipFill>
        <p:spPr bwMode="auto">
          <a:xfrm>
            <a:off x="979932" y="1352929"/>
            <a:ext cx="5715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BD85582-107B-48A8-A930-40CA7024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932" y="1352928"/>
            <a:ext cx="7184136" cy="514274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9392A87-E4AD-43B4-84DA-844EF923B597}"/>
              </a:ext>
            </a:extLst>
          </p:cNvPr>
          <p:cNvGrpSpPr/>
          <p:nvPr/>
        </p:nvGrpSpPr>
        <p:grpSpPr>
          <a:xfrm>
            <a:off x="2362200" y="4096897"/>
            <a:ext cx="3594654" cy="1922903"/>
            <a:chOff x="2959608" y="4366419"/>
            <a:chExt cx="3594654" cy="1922903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C86703-647F-4484-9868-342280C98F3A}"/>
                </a:ext>
              </a:extLst>
            </p:cNvPr>
            <p:cNvSpPr/>
            <p:nvPr/>
          </p:nvSpPr>
          <p:spPr>
            <a:xfrm>
              <a:off x="2959608" y="4366419"/>
              <a:ext cx="1600200" cy="1447800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8AC67B-2EEC-4AE7-903D-C92B7286F92A}"/>
                </a:ext>
              </a:extLst>
            </p:cNvPr>
            <p:cNvSpPr txBox="1"/>
            <p:nvPr/>
          </p:nvSpPr>
          <p:spPr>
            <a:xfrm>
              <a:off x="4343400" y="5642991"/>
              <a:ext cx="22108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Sharing resources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Be careful!!!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014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53A2A-FA67-4829-BA2E-38565BFB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7696200" cy="1195386"/>
          </a:xfrm>
        </p:spPr>
        <p:txBody>
          <a:bodyPr/>
          <a:lstStyle/>
          <a:p>
            <a:r>
              <a:rPr lang="en-US" dirty="0"/>
              <a:t>View 3: the layered view</a:t>
            </a:r>
            <a:br>
              <a:rPr lang="en-US" dirty="0"/>
            </a:br>
            <a:r>
              <a:rPr lang="en-US" dirty="0"/>
              <a:t>Size and relationship between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BF7E1-F1D7-4597-8F28-DC4976F77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4419599"/>
            <a:ext cx="8839200" cy="2041523"/>
          </a:xfrm>
        </p:spPr>
        <p:txBody>
          <a:bodyPr/>
          <a:lstStyle/>
          <a:p>
            <a:r>
              <a:rPr lang="en-US" dirty="0"/>
              <a:t>Start at the bottom with peripherals (not shown)</a:t>
            </a:r>
          </a:p>
          <a:p>
            <a:r>
              <a:rPr lang="en-US" dirty="0"/>
              <a:t>Move up while adding blocks as layers</a:t>
            </a:r>
          </a:p>
          <a:p>
            <a:pPr lvl="1"/>
            <a:r>
              <a:rPr lang="en-US" dirty="0"/>
              <a:t>Size proportional to complexity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E7931-2833-4B7B-A767-AAABDDE53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BFBA94-B59A-4343-A0B9-CF62DEC00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CF182E-8A15-4961-B5C2-802ECD07F3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19" t="8766" r="1919" b="17257"/>
          <a:stretch/>
        </p:blipFill>
        <p:spPr>
          <a:xfrm>
            <a:off x="85344" y="1524000"/>
            <a:ext cx="8973312" cy="2610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77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Simplifying the system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E1A953E-1FFA-41E7-B0A4-58E1D7373C80}"/>
              </a:ext>
            </a:extLst>
          </p:cNvPr>
          <p:cNvSpPr/>
          <p:nvPr/>
        </p:nvSpPr>
        <p:spPr>
          <a:xfrm>
            <a:off x="6781800" y="4724400"/>
            <a:ext cx="609600" cy="304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614921-871C-409B-952D-27CE7DCB7E43}"/>
              </a:ext>
            </a:extLst>
          </p:cNvPr>
          <p:cNvSpPr/>
          <p:nvPr/>
        </p:nvSpPr>
        <p:spPr>
          <a:xfrm>
            <a:off x="7968996" y="4416552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C7F4BD-0CF2-4AB7-A92A-118D420ECAB6}"/>
              </a:ext>
            </a:extLst>
          </p:cNvPr>
          <p:cNvSpPr/>
          <p:nvPr/>
        </p:nvSpPr>
        <p:spPr>
          <a:xfrm>
            <a:off x="7709916" y="5903976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849B0C-BE1D-4C98-9CF6-8D8B87F433BE}"/>
              </a:ext>
            </a:extLst>
          </p:cNvPr>
          <p:cNvSpPr/>
          <p:nvPr/>
        </p:nvSpPr>
        <p:spPr>
          <a:xfrm>
            <a:off x="5542194" y="5917533"/>
            <a:ext cx="1544406" cy="407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446211"/>
            <a:ext cx="6066065" cy="5014912"/>
          </a:xfrm>
        </p:spPr>
        <p:txBody>
          <a:bodyPr/>
          <a:lstStyle/>
          <a:p>
            <a:r>
              <a:rPr lang="en-US" sz="2400" dirty="0"/>
              <a:t>Difficult code components – boxes that are very different across views!</a:t>
            </a:r>
          </a:p>
          <a:p>
            <a:r>
              <a:rPr lang="en-US" sz="2400" dirty="0"/>
              <a:t>Resource sharing: what peripherals can we keep independent?</a:t>
            </a:r>
          </a:p>
          <a:p>
            <a:r>
              <a:rPr lang="en-US" sz="2400" dirty="0"/>
              <a:t>Can any boxes be combined?</a:t>
            </a:r>
          </a:p>
          <a:p>
            <a:pPr lvl="1"/>
            <a:r>
              <a:rPr lang="en-US" sz="2000" dirty="0"/>
              <a:t>In hierarchy: objects used by only one other object</a:t>
            </a:r>
          </a:p>
          <a:p>
            <a:pPr lvl="1"/>
            <a:r>
              <a:rPr lang="en-US" sz="2000" dirty="0"/>
              <a:t>In layers: objects in a layer that are always used together (shared connections above and below)</a:t>
            </a:r>
          </a:p>
          <a:p>
            <a:r>
              <a:rPr lang="en-US" sz="2400" dirty="0"/>
              <a:t>What boxes need splitting?</a:t>
            </a:r>
          </a:p>
          <a:p>
            <a:pPr lvl="1"/>
            <a:r>
              <a:rPr lang="en-US" sz="2000" dirty="0"/>
              <a:t>Several modules that touch the same</a:t>
            </a:r>
            <a:br>
              <a:rPr lang="en-US" sz="2000" dirty="0"/>
            </a:br>
            <a:r>
              <a:rPr lang="en-US" sz="2000" dirty="0"/>
              <a:t>lower module: can we break it up?</a:t>
            </a:r>
          </a:p>
          <a:p>
            <a:pPr lvl="1"/>
            <a:r>
              <a:rPr lang="en-US" sz="2000" dirty="0"/>
              <a:t>For example: logging can use flash only</a:t>
            </a:r>
            <a:br>
              <a:rPr lang="en-US" sz="2000" dirty="0"/>
            </a:br>
            <a:r>
              <a:rPr lang="en-US" sz="2000" dirty="0"/>
              <a:t>at the start to read serial no, and never again!</a:t>
            </a:r>
          </a:p>
        </p:txBody>
      </p:sp>
    </p:spTree>
    <p:extLst>
      <p:ext uri="{BB962C8B-B14F-4D97-AF65-F5344CB8AC3E}">
        <p14:creationId xmlns:p14="http://schemas.microsoft.com/office/powerpoint/2010/main" val="3873724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8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Delegation of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371600"/>
            <a:ext cx="6066065" cy="5014912"/>
          </a:xfrm>
        </p:spPr>
        <p:txBody>
          <a:bodyPr/>
          <a:lstStyle/>
          <a:p>
            <a:r>
              <a:rPr lang="en-US" sz="2000" dirty="0"/>
              <a:t>How would you split tasks within the team?</a:t>
            </a:r>
          </a:p>
          <a:p>
            <a:pPr lvl="1"/>
            <a:r>
              <a:rPr lang="en-US" sz="1600" dirty="0"/>
              <a:t>Assign entire blocks / groups of blocks</a:t>
            </a:r>
          </a:p>
          <a:p>
            <a:pPr lvl="1"/>
            <a:r>
              <a:rPr lang="en-US" sz="1600" dirty="0"/>
              <a:t>Assign hierarchy branches</a:t>
            </a:r>
          </a:p>
          <a:p>
            <a:r>
              <a:rPr lang="en-US" sz="2000" dirty="0"/>
              <a:t>Reduce interdependencies</a:t>
            </a:r>
          </a:p>
          <a:p>
            <a:pPr lvl="1"/>
            <a:r>
              <a:rPr lang="en-US" sz="1600" dirty="0"/>
              <a:t>How interdependent are the tasks of different team members?</a:t>
            </a:r>
          </a:p>
          <a:p>
            <a:pPr lvl="1"/>
            <a:r>
              <a:rPr lang="en-US" sz="1600" dirty="0"/>
              <a:t>Too much interdependency </a:t>
            </a:r>
            <a:r>
              <a:rPr lang="en-US" sz="1600" dirty="0">
                <a:sym typeface="Wingdings" panose="05000000000000000000" pitchFamily="2" charset="2"/>
              </a:rPr>
              <a:t> complex, buggy, fragile software</a:t>
            </a:r>
          </a:p>
          <a:p>
            <a:r>
              <a:rPr lang="en-US" sz="2000" dirty="0">
                <a:sym typeface="Wingdings" panose="05000000000000000000" pitchFamily="2" charset="2"/>
              </a:rPr>
              <a:t>Identify interfaces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Scope for delegation  scope for splitting + interface</a:t>
            </a:r>
          </a:p>
          <a:p>
            <a:r>
              <a:rPr lang="en-US" sz="2000" dirty="0">
                <a:sym typeface="Wingdings" panose="05000000000000000000" pitchFamily="2" charset="2"/>
              </a:rPr>
              <a:t>Protection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Think of your module can be protected from mistakes by other modules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Will adding a box to your group reduce data sharing?</a:t>
            </a:r>
          </a:p>
          <a:p>
            <a:r>
              <a:rPr lang="en-US" sz="2000" dirty="0">
                <a:sym typeface="Wingdings" panose="05000000000000000000" pitchFamily="2" charset="2"/>
              </a:rPr>
              <a:t>Testing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inputs, outputs and function of each module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tests to confirm this behavior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73772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70E0-83B8-4261-B2C0-72521E6C9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Encapsulating modules and building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54497-8AF4-4345-BCF7-968C3EBFD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465824" cy="501491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Making interfaces between modules that do not depend specifically on what is inside the modules</a:t>
            </a:r>
          </a:p>
          <a:p>
            <a:r>
              <a:rPr lang="en-US" dirty="0"/>
              <a:t>POSIX / Unix driver standard</a:t>
            </a:r>
          </a:p>
          <a:p>
            <a:pPr lvl="1"/>
            <a:r>
              <a:rPr lang="en-US" dirty="0"/>
              <a:t>open() and close(): initialize and clean up</a:t>
            </a:r>
          </a:p>
          <a:p>
            <a:pPr marL="457200" lvl="1" indent="0">
              <a:buNone/>
            </a:pPr>
            <a:r>
              <a:rPr lang="en-US" dirty="0"/>
              <a:t>	open() is often replaced by </a:t>
            </a:r>
            <a:r>
              <a:rPr lang="en-US" dirty="0" err="1"/>
              <a:t>init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read() and write(): move data</a:t>
            </a:r>
          </a:p>
          <a:p>
            <a:pPr lvl="1"/>
            <a:r>
              <a:rPr lang="en-US" dirty="0" err="1"/>
              <a:t>ioctl</a:t>
            </a:r>
            <a:r>
              <a:rPr lang="en-US" dirty="0"/>
              <a:t>(): handle device-specific features</a:t>
            </a:r>
          </a:p>
          <a:p>
            <a:r>
              <a:rPr lang="en-US" dirty="0"/>
              <a:t>Convert ungainly hardware interfaces into consistent software APIs for higher level clients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FDBCD-6154-423B-8859-741232D66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51327-CFBB-4E8C-8F16-E37212301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BCC69F-CD5A-4C13-A7B4-0609B56C1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7744" y="1446211"/>
            <a:ext cx="3391664" cy="361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96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D52E1-BC02-4622-BFD9-E668CF994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Driver interface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C472C-4EA2-4FE5-A494-38A24218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spi.open</a:t>
            </a:r>
            <a:r>
              <a:rPr lang="en-US" dirty="0"/>
              <a:t>()</a:t>
            </a:r>
          </a:p>
          <a:p>
            <a:r>
              <a:rPr lang="en-US" dirty="0" err="1"/>
              <a:t>spi_open</a:t>
            </a:r>
            <a:r>
              <a:rPr lang="en-US" dirty="0"/>
              <a:t>()</a:t>
            </a:r>
          </a:p>
          <a:p>
            <a:r>
              <a:rPr lang="en-US" dirty="0" err="1"/>
              <a:t>SpiOpen</a:t>
            </a:r>
            <a:r>
              <a:rPr lang="en-US" dirty="0"/>
              <a:t>(WITH_LOCK)</a:t>
            </a:r>
          </a:p>
          <a:p>
            <a:r>
              <a:rPr lang="en-US" dirty="0" err="1"/>
              <a:t>spi.ioctl_change_frequency</a:t>
            </a:r>
            <a:r>
              <a:rPr lang="en-US" dirty="0"/>
              <a:t>(</a:t>
            </a:r>
            <a:r>
              <a:rPr lang="en-US" dirty="0" err="1"/>
              <a:t>THIRTY_MHz</a:t>
            </a:r>
            <a:r>
              <a:rPr lang="en-US" dirty="0"/>
              <a:t>)</a:t>
            </a:r>
          </a:p>
          <a:p>
            <a:r>
              <a:rPr lang="en-US" dirty="0" err="1"/>
              <a:t>SpiIoctl</a:t>
            </a:r>
            <a:r>
              <a:rPr lang="en-US" dirty="0"/>
              <a:t>(</a:t>
            </a:r>
            <a:r>
              <a:rPr lang="en-US" dirty="0" err="1"/>
              <a:t>kChangeFrequency</a:t>
            </a:r>
            <a:r>
              <a:rPr lang="en-US" dirty="0"/>
              <a:t>, </a:t>
            </a:r>
            <a:r>
              <a:rPr lang="en-US" dirty="0" err="1"/>
              <a:t>THIRTY_MHz</a:t>
            </a:r>
            <a:r>
              <a:rPr lang="en-US" dirty="0"/>
              <a:t>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These are a few representative coding styles. BUT they are very important (save time debugging by following a consistent style). See </a:t>
            </a:r>
            <a:r>
              <a:rPr lang="en-US" dirty="0">
                <a:hlinkClick r:id="rId2"/>
              </a:rPr>
              <a:t>Google’s suggestions.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092CD-9940-42B6-A154-CB2D05353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69E19C-7280-4CAE-BE44-2A8E30E58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520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28329-E9F1-4704-9E04-B2D93ACA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Drivers can (and should) be stackable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62502B3-2275-47E2-B7CA-680497DC71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2331" y="1418779"/>
            <a:ext cx="3620605" cy="50149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07669-3FDA-4FEA-9461-AF4E2D18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1F8FB6-06B4-4A7C-AD76-19D82846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D4CD53B-B0F6-44CE-AF36-B7C249B82D11}"/>
              </a:ext>
            </a:extLst>
          </p:cNvPr>
          <p:cNvSpPr txBox="1">
            <a:spLocks/>
          </p:cNvSpPr>
          <p:nvPr/>
        </p:nvSpPr>
        <p:spPr bwMode="auto">
          <a:xfrm>
            <a:off x="152399" y="1446211"/>
            <a:ext cx="5239931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Each interface offered by a lower layer contains:</a:t>
            </a:r>
          </a:p>
          <a:p>
            <a:r>
              <a:rPr lang="en-US" dirty="0" err="1"/>
              <a:t>init</a:t>
            </a:r>
            <a:r>
              <a:rPr lang="en-US" dirty="0"/>
              <a:t>() or open(), close(), read(), write()</a:t>
            </a:r>
          </a:p>
          <a:p>
            <a:r>
              <a:rPr lang="en-US" dirty="0"/>
              <a:t>Or equivalently, </a:t>
            </a:r>
            <a:r>
              <a:rPr lang="en-US" dirty="0" err="1"/>
              <a:t>get_image_data</a:t>
            </a:r>
            <a:r>
              <a:rPr lang="en-US" dirty="0"/>
              <a:t>() etc.</a:t>
            </a:r>
          </a:p>
          <a:p>
            <a:r>
              <a:rPr lang="en-US" b="1" dirty="0"/>
              <a:t>test()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should a good </a:t>
            </a:r>
            <a:r>
              <a:rPr lang="en-US" i="1" dirty="0" err="1"/>
              <a:t>init</a:t>
            </a:r>
            <a:r>
              <a:rPr lang="en-US" i="1" dirty="0"/>
              <a:t>()</a:t>
            </a:r>
            <a:r>
              <a:rPr lang="en-US" dirty="0"/>
              <a:t> be like / do?</a:t>
            </a:r>
          </a:p>
          <a:p>
            <a:r>
              <a:rPr lang="en-US" dirty="0"/>
              <a:t>Initialize all modules below it in the hierarchy</a:t>
            </a:r>
          </a:p>
          <a:p>
            <a:r>
              <a:rPr lang="en-US" dirty="0"/>
              <a:t>OK to be called multiple times</a:t>
            </a:r>
          </a:p>
          <a:p>
            <a:r>
              <a:rPr lang="en-US" dirty="0"/>
              <a:t>Resets system to a known state in case of partial failure</a:t>
            </a:r>
          </a:p>
        </p:txBody>
      </p:sp>
    </p:spTree>
    <p:extLst>
      <p:ext uri="{BB962C8B-B14F-4D97-AF65-F5344CB8AC3E}">
        <p14:creationId xmlns:p14="http://schemas.microsoft.com/office/powerpoint/2010/main" val="12768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751C-871B-4448-B966-1FE5195C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Model-View-Controller (MVC)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EAB79-75AB-47E4-8AFB-46113EE21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500" dirty="0"/>
              <a:t>Purpose: isolate the algorithm (the gooey center of the application) from the UI for independent development and testing</a:t>
            </a:r>
          </a:p>
          <a:p>
            <a:r>
              <a:rPr lang="en-US" sz="2500" dirty="0"/>
              <a:t>View: interface to the user (or other hardware), including input from sensors or output to actuators</a:t>
            </a:r>
          </a:p>
          <a:p>
            <a:r>
              <a:rPr lang="en-US" sz="2500" dirty="0"/>
              <a:t>Model: domain-specific data and logic</a:t>
            </a:r>
          </a:p>
          <a:p>
            <a:r>
              <a:rPr lang="en-US" sz="2500" dirty="0"/>
              <a:t>Controller: glue between Model and View</a:t>
            </a:r>
          </a:p>
          <a:p>
            <a:pPr lvl="1"/>
            <a:r>
              <a:rPr lang="en-US" sz="2100" dirty="0"/>
              <a:t>Handles how to get the inputs to the model for processing and outputs from the model for display / communication</a:t>
            </a:r>
          </a:p>
          <a:p>
            <a:pPr marL="0" indent="0">
              <a:buNone/>
            </a:pPr>
            <a:r>
              <a:rPr lang="en-US" sz="2500" dirty="0"/>
              <a:t>Why?</a:t>
            </a:r>
          </a:p>
          <a:p>
            <a:r>
              <a:rPr lang="en-US" sz="2500" dirty="0"/>
              <a:t>Replace views with virtual / file-based inputs and outputs</a:t>
            </a:r>
          </a:p>
          <a:p>
            <a:r>
              <a:rPr lang="en-US" sz="2500" dirty="0"/>
              <a:t>Test the core (model) under a variety of conditions</a:t>
            </a:r>
          </a:p>
          <a:p>
            <a:r>
              <a:rPr lang="en-US" sz="2500" dirty="0"/>
              <a:t>Portability – application core is independent of externals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29707-944C-421E-8421-85448B881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317A7D-4955-4640-A7BB-93941BB52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933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CC8E0-77E1-4549-8E57-C94EE679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in your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C1EDC-08AD-4077-8A18-1D652B0CCB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6211"/>
            <a:ext cx="9144000" cy="5014912"/>
          </a:xfrm>
        </p:spPr>
        <p:txBody>
          <a:bodyPr/>
          <a:lstStyle/>
          <a:p>
            <a:r>
              <a:rPr lang="en-US" sz="2400" dirty="0"/>
              <a:t>View is the UART (interface to the user)</a:t>
            </a:r>
          </a:p>
          <a:p>
            <a:r>
              <a:rPr lang="en-US" sz="2400" dirty="0"/>
              <a:t>Controller: a small module that you will write to supply UART inputs to the core logic and extract logic outputs over UART to your PC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5A948-3D66-4D3D-8A49-94D324216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F83720-9613-4976-B95F-9D455AECB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68DAFD-A14E-4715-B289-2D6360C80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2895600"/>
            <a:ext cx="8198780" cy="1066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E26EF6-8C34-474D-9E86-14B8E174C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355" y="4724400"/>
            <a:ext cx="7239381" cy="1122482"/>
          </a:xfrm>
          <a:prstGeom prst="rect">
            <a:avLst/>
          </a:prstGeom>
        </p:spPr>
      </p:pic>
      <p:sp>
        <p:nvSpPr>
          <p:cNvPr id="10" name="Arrow: Bent-Up 9">
            <a:extLst>
              <a:ext uri="{FF2B5EF4-FFF2-40B4-BE49-F238E27FC236}">
                <a16:creationId xmlns:a16="http://schemas.microsoft.com/office/drawing/2014/main" id="{91F1E4DB-0C51-40FA-BBA8-90E29E4A0FC2}"/>
              </a:ext>
            </a:extLst>
          </p:cNvPr>
          <p:cNvSpPr/>
          <p:nvPr/>
        </p:nvSpPr>
        <p:spPr>
          <a:xfrm rot="5400000">
            <a:off x="686943" y="4218686"/>
            <a:ext cx="850392" cy="731520"/>
          </a:xfrm>
          <a:prstGeom prst="bent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03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3BAAD-F9BD-40DA-8E0D-D67198789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Organizing your code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BC5826-832E-4DA5-BA23-B8A021158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4114A-2FEB-4AAF-9C91-2C2C2A522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34F1AF-A082-479E-BD7E-0DD8842845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1236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1E22F8D-4B4D-4D74-BCE6-F3A9BA2F53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" b="58875"/>
          <a:stretch/>
        </p:blipFill>
        <p:spPr bwMode="auto">
          <a:xfrm>
            <a:off x="176784" y="1908591"/>
            <a:ext cx="8839200" cy="1640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D135F828-9547-46D2-B3F8-9BF31F32C7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27335"/>
          <a:stretch/>
        </p:blipFill>
        <p:spPr bwMode="auto">
          <a:xfrm>
            <a:off x="152400" y="1902496"/>
            <a:ext cx="8839200" cy="2898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5A673820-B16E-48E8-938D-B8720ADD5E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-3233"/>
          <a:stretch/>
        </p:blipFill>
        <p:spPr bwMode="auto">
          <a:xfrm>
            <a:off x="176784" y="1902496"/>
            <a:ext cx="8839200" cy="4117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5CA19D-CB9F-421A-9F7A-F5449892A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many ways to blink an LED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65DC40-4AC0-4D08-A612-9590942DDE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57103" b="89900"/>
          <a:stretch/>
        </p:blipFill>
        <p:spPr>
          <a:xfrm>
            <a:off x="170688" y="1908592"/>
            <a:ext cx="3791712" cy="40283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8B2B8-35BC-483D-9AF9-2288804CB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08A46-63CC-45A9-A39B-AE0D3B487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F17FD713-3275-4629-8D35-2E203C65D2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54" r="50276" b="75099"/>
          <a:stretch/>
        </p:blipFill>
        <p:spPr bwMode="auto">
          <a:xfrm>
            <a:off x="176784" y="2311422"/>
            <a:ext cx="4395216" cy="584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CC0AD16-6AB2-44D9-93A6-349A3AFB84AD}"/>
              </a:ext>
            </a:extLst>
          </p:cNvPr>
          <p:cNvSpPr txBox="1"/>
          <p:nvPr/>
        </p:nvSpPr>
        <p:spPr>
          <a:xfrm>
            <a:off x="4038600" y="5239434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EA3F26"/>
                </a:solidFill>
              </a:rPr>
              <a:t>Read – Modify – Write 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A3F26"/>
                </a:solidFill>
              </a:rPr>
              <a:t>Must be atomic, i.e. complete as a single unit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A3F26"/>
                </a:solidFill>
              </a:rPr>
              <a:t>Otherwise: unintended consequences!</a:t>
            </a:r>
          </a:p>
        </p:txBody>
      </p:sp>
      <p:pic>
        <p:nvPicPr>
          <p:cNvPr id="16" name="Content Placeholder 6">
            <a:extLst>
              <a:ext uri="{FF2B5EF4-FFF2-40B4-BE49-F238E27FC236}">
                <a16:creationId xmlns:a16="http://schemas.microsoft.com/office/drawing/2014/main" id="{5A3DF5B2-D1EE-4BF0-A2FB-B930BD6C10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345" b="89686"/>
          <a:stretch/>
        </p:blipFill>
        <p:spPr bwMode="auto">
          <a:xfrm>
            <a:off x="3276600" y="1904809"/>
            <a:ext cx="5715000" cy="4113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Content Placeholder 6">
            <a:extLst>
              <a:ext uri="{FF2B5EF4-FFF2-40B4-BE49-F238E27FC236}">
                <a16:creationId xmlns:a16="http://schemas.microsoft.com/office/drawing/2014/main" id="{1C4FF83A-C28A-41A0-A0CA-FC51934CC0D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138" t="465" b="76431"/>
          <a:stretch/>
        </p:blipFill>
        <p:spPr bwMode="auto">
          <a:xfrm>
            <a:off x="4672584" y="1923366"/>
            <a:ext cx="4319016" cy="921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D806B76-D015-4771-AE35-2EB33A6F17C2}"/>
              </a:ext>
            </a:extLst>
          </p:cNvPr>
          <p:cNvGrpSpPr/>
          <p:nvPr/>
        </p:nvGrpSpPr>
        <p:grpSpPr>
          <a:xfrm>
            <a:off x="5715000" y="2362200"/>
            <a:ext cx="3252216" cy="2667000"/>
            <a:chOff x="5715000" y="2362200"/>
            <a:chExt cx="3252216" cy="2667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B36A35-9394-4045-B4AD-283E95AB7A32}"/>
                </a:ext>
              </a:extLst>
            </p:cNvPr>
            <p:cNvSpPr/>
            <p:nvPr/>
          </p:nvSpPr>
          <p:spPr>
            <a:xfrm>
              <a:off x="5715000" y="2362200"/>
              <a:ext cx="3252216" cy="533400"/>
            </a:xfrm>
            <a:prstGeom prst="ellipse">
              <a:avLst/>
            </a:prstGeom>
            <a:noFill/>
            <a:ln>
              <a:solidFill>
                <a:srgbClr val="EA3F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499F936-9461-46AE-B813-85EDCF203B6E}"/>
                </a:ext>
              </a:extLst>
            </p:cNvPr>
            <p:cNvCxnSpPr>
              <a:stCxn id="13" idx="4"/>
            </p:cNvCxnSpPr>
            <p:nvPr/>
          </p:nvCxnSpPr>
          <p:spPr>
            <a:xfrm flipH="1">
              <a:off x="7315200" y="2895600"/>
              <a:ext cx="25908" cy="2133600"/>
            </a:xfrm>
            <a:prstGeom prst="straightConnector1">
              <a:avLst/>
            </a:prstGeom>
            <a:ln w="28575">
              <a:solidFill>
                <a:srgbClr val="EA3F26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4507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BDDA-1801-4090-9813-F56FEC554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553200" cy="1195386"/>
          </a:xfrm>
        </p:spPr>
        <p:txBody>
          <a:bodyPr/>
          <a:lstStyle/>
          <a:p>
            <a:r>
              <a:rPr lang="en-US" dirty="0"/>
              <a:t>The many ways to blink an LED! Separating hardware from action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6F35809-6A6E-4C52-A4C0-95751A2974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91228"/>
          <a:stretch/>
        </p:blipFill>
        <p:spPr>
          <a:xfrm>
            <a:off x="75851" y="1752600"/>
            <a:ext cx="8992298" cy="3810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57498-BE59-4BD0-8C20-7ADEC2E13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BF2FFB-B80B-4A70-A44E-8BD79961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6E768695-FBC3-4A59-8F6C-7AB3CA50F1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 b="56140"/>
          <a:stretch/>
        </p:blipFill>
        <p:spPr bwMode="auto">
          <a:xfrm>
            <a:off x="75851" y="1752600"/>
            <a:ext cx="4496149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E258FAC3-086C-4EDC-B963-8B333F81E4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6140"/>
          <a:stretch/>
        </p:blipFill>
        <p:spPr bwMode="auto">
          <a:xfrm>
            <a:off x="75851" y="1752600"/>
            <a:ext cx="8992298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42802742-8454-416B-9145-2D3C4BF495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b="45614"/>
          <a:stretch/>
        </p:blipFill>
        <p:spPr bwMode="auto">
          <a:xfrm>
            <a:off x="152400" y="1752600"/>
            <a:ext cx="8992298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5493C6F9-01C4-4CD2-86BE-7730CF91D2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140" r="61863" b="-1"/>
          <a:stretch/>
        </p:blipFill>
        <p:spPr bwMode="auto">
          <a:xfrm>
            <a:off x="75851" y="4190998"/>
            <a:ext cx="3429349" cy="190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1C85F5AE-3B4F-4D91-9107-6E0BBF277E9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8139" t="56140" r="-3" b="-1"/>
          <a:stretch/>
        </p:blipFill>
        <p:spPr bwMode="auto">
          <a:xfrm>
            <a:off x="3505200" y="4190997"/>
            <a:ext cx="5562948" cy="190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50277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828-B82B-44E1-A9B1-0AC83E3F7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934200" cy="1195386"/>
          </a:xfrm>
        </p:spPr>
        <p:txBody>
          <a:bodyPr/>
          <a:lstStyle/>
          <a:p>
            <a:r>
              <a:rPr lang="en-US" dirty="0"/>
              <a:t>The many ways to blink an LED! Separating hardware from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88B2-3B2E-4F6C-A817-E26E54A1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Board-specific header files and version reuse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F6088-9C95-4574-AB7D-62D692727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B67A67-80D3-4FAF-A68C-EAC1126E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D15B54-BCFF-4023-82CD-F057AADCB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" y="2202852"/>
            <a:ext cx="6660157" cy="2064347"/>
          </a:xfrm>
          <a:prstGeom prst="rect">
            <a:avLst/>
          </a:prstGeom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868618D4-8F5A-4B3E-809C-6C8A82FBF4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087" t="80702" r="-3" b="-1"/>
          <a:stretch/>
        </p:blipFill>
        <p:spPr bwMode="auto">
          <a:xfrm>
            <a:off x="3161466" y="4635895"/>
            <a:ext cx="550767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23485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5314C-970B-440B-869C-F611F519B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many ways to blink an LED</a:t>
            </a:r>
            <a:br>
              <a:rPr lang="en-US" dirty="0"/>
            </a:br>
            <a:r>
              <a:rPr lang="en-US" dirty="0"/>
              <a:t>I/O handling code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13F63B8-6CCE-4232-A80D-5BBA6B9F0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74787"/>
          <a:stretch/>
        </p:blipFill>
        <p:spPr>
          <a:xfrm>
            <a:off x="114300" y="1685226"/>
            <a:ext cx="8915400" cy="105797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13DAC-0318-4A47-B03F-90E3796EF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C9C1E6-B711-4B68-BC68-5853FA5D6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pic>
        <p:nvPicPr>
          <p:cNvPr id="11" name="Content Placeholder 8">
            <a:extLst>
              <a:ext uri="{FF2B5EF4-FFF2-40B4-BE49-F238E27FC236}">
                <a16:creationId xmlns:a16="http://schemas.microsoft.com/office/drawing/2014/main" id="{18BEDDC3-15B4-4762-80F6-8627CE0811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" b="-1484"/>
          <a:stretch/>
        </p:blipFill>
        <p:spPr bwMode="auto">
          <a:xfrm>
            <a:off x="111252" y="1685224"/>
            <a:ext cx="8915400" cy="425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C2BC368-341C-4EDA-B492-327D795583A3}"/>
              </a:ext>
            </a:extLst>
          </p:cNvPr>
          <p:cNvSpPr txBox="1">
            <a:spLocks/>
          </p:cNvSpPr>
          <p:nvPr/>
        </p:nvSpPr>
        <p:spPr bwMode="auto">
          <a:xfrm>
            <a:off x="5833872" y="1565718"/>
            <a:ext cx="3195828" cy="1296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IOWrite</a:t>
            </a:r>
            <a:r>
              <a:rPr lang="en-US" sz="1800" dirty="0"/>
              <a:t>: does everything in one function, so less code space</a:t>
            </a:r>
          </a:p>
          <a:p>
            <a:r>
              <a:rPr lang="en-US" sz="1800" dirty="0"/>
              <a:t>More parameters </a:t>
            </a:r>
            <a:r>
              <a:rPr lang="en-US" sz="1800" dirty="0">
                <a:sym typeface="Wingdings" panose="05000000000000000000" pitchFamily="2" charset="2"/>
              </a:rPr>
              <a:t> more stack</a:t>
            </a:r>
          </a:p>
        </p:txBody>
      </p:sp>
    </p:spTree>
    <p:extLst>
      <p:ext uri="{BB962C8B-B14F-4D97-AF65-F5344CB8AC3E}">
        <p14:creationId xmlns:p14="http://schemas.microsoft.com/office/powerpoint/2010/main" val="3246331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16EB-2FA1-43D0-98C5-8CAA83E34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8839200" cy="1195386"/>
          </a:xfrm>
        </p:spPr>
        <p:txBody>
          <a:bodyPr/>
          <a:lstStyle/>
          <a:p>
            <a:r>
              <a:rPr lang="en-US" dirty="0"/>
              <a:t>The many ways to blink an LED</a:t>
            </a:r>
            <a:br>
              <a:rPr lang="en-US" dirty="0"/>
            </a:br>
            <a:r>
              <a:rPr lang="en-US" dirty="0"/>
              <a:t>Simplifying the main interface (façade)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F41D0-C729-46E4-BE6F-F335E49C5F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72258"/>
          <a:stretch/>
        </p:blipFill>
        <p:spPr>
          <a:xfrm>
            <a:off x="0" y="1546111"/>
            <a:ext cx="9144000" cy="1044689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A825-586A-4667-A60C-12AC3AFB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24F6BC-E6F6-419B-B242-A726F252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A98F45FE-8CCA-4B3C-B08D-0E2FCB936D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970"/>
          <a:stretch/>
        </p:blipFill>
        <p:spPr bwMode="auto">
          <a:xfrm>
            <a:off x="0" y="1546110"/>
            <a:ext cx="9144000" cy="18463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59D4EE9B-D516-4830-8FCC-DBA0C8506B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4"/>
          <a:stretch/>
        </p:blipFill>
        <p:spPr bwMode="auto">
          <a:xfrm>
            <a:off x="0" y="1575428"/>
            <a:ext cx="9144000" cy="37425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43923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3C1DB-3E97-4779-BE4C-B80A5D335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5E16-1485-4B8E-B590-2808AC129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A287D-772B-40E9-987E-731B53892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8B950E-6EC6-43A0-98C8-7AC598CD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772477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58972-C25F-4A5B-AB4F-4CC7316F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DA82E-B7E8-4CF3-841B-38B76E130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9F8D9-8787-4EC5-8299-0443B9B78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F91E9D-0487-45A1-B57B-64E94DA6D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71278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7AB5D-D1EF-4D24-AAF6-174B5003C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diagrams to file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EB26E-359F-4C3A-BB1D-DE45F0750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922FA-89D7-46E4-8040-F0F0FCF95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3F040-6F26-4420-941B-4564D793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9535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ABF7A-37F9-459A-908A-B09DFA75C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C5B8C-B3AC-4356-B9EF-1E6780C9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39698" cy="501491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Define where code lives</a:t>
            </a:r>
          </a:p>
          <a:p>
            <a:r>
              <a:rPr lang="en-US" dirty="0"/>
              <a:t>Hardware Abstraction Layer (HAL): the block that wraps registers</a:t>
            </a:r>
          </a:p>
          <a:p>
            <a:pPr lvl="1"/>
            <a:r>
              <a:rPr lang="en-US" dirty="0"/>
              <a:t>Turns </a:t>
            </a:r>
            <a:r>
              <a:rPr lang="en-US" i="1" dirty="0"/>
              <a:t>LPC_GPIO0-&gt;FIOPIN |= (1 &lt;&lt; 5)</a:t>
            </a:r>
            <a:r>
              <a:rPr lang="en-US" dirty="0"/>
              <a:t> into </a:t>
            </a:r>
            <a:r>
              <a:rPr lang="en-US" i="1" dirty="0" err="1"/>
              <a:t>Led_On</a:t>
            </a:r>
            <a:r>
              <a:rPr lang="en-US" i="1" dirty="0"/>
              <a:t>()</a:t>
            </a:r>
          </a:p>
          <a:p>
            <a:r>
              <a:rPr lang="en-US" dirty="0"/>
              <a:t>Drivers: Specialized blocks for external actors</a:t>
            </a:r>
          </a:p>
          <a:p>
            <a:r>
              <a:rPr lang="en-US" dirty="0"/>
              <a:t>Middleware: Heavy-duty blocks that provide generic services, such as file system handling</a:t>
            </a:r>
          </a:p>
          <a:p>
            <a:r>
              <a:rPr lang="en-US" dirty="0"/>
              <a:t>Application logic: High level logic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0564C-BF6A-4BC1-BA16-1D866A8E0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C94FB6-C5D3-46FA-AF2B-0DD7452D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8FB76C-1F82-4FA8-B82A-B770356F9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098" y="1446209"/>
            <a:ext cx="2899502" cy="501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8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07FE-CC82-40E3-96E1-8F67212CD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65015-6224-438E-9248-DB98AAB8C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6324600" cy="501491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dirty="0"/>
              <a:t>Define how code runs and how CPU is shared</a:t>
            </a:r>
          </a:p>
          <a:p>
            <a:r>
              <a:rPr lang="en-US" sz="2800" dirty="0"/>
              <a:t>The main loop (</a:t>
            </a:r>
            <a:r>
              <a:rPr lang="en-US" sz="2800" dirty="0" err="1"/>
              <a:t>superloop</a:t>
            </a:r>
            <a:r>
              <a:rPr lang="en-US" sz="2800" dirty="0"/>
              <a:t>): simplest execution block that runs every task sequentially</a:t>
            </a:r>
          </a:p>
          <a:p>
            <a:r>
              <a:rPr lang="en-US" sz="2800" dirty="0"/>
              <a:t>Interrupt Service Routines: High priority blocks triggered by hardware events</a:t>
            </a:r>
          </a:p>
          <a:p>
            <a:pPr lvl="1"/>
            <a:r>
              <a:rPr lang="en-US" sz="2400" dirty="0"/>
              <a:t>Preempt whatever the CPU is doing</a:t>
            </a:r>
          </a:p>
          <a:p>
            <a:r>
              <a:rPr lang="en-US" sz="2800" dirty="0"/>
              <a:t>RTOS tasks / threads: Independent blocks of execution that have their own priority</a:t>
            </a:r>
          </a:p>
          <a:p>
            <a:pPr lvl="1"/>
            <a:r>
              <a:rPr lang="en-US" sz="2400" dirty="0"/>
              <a:t>A scheduler decides when the tasks run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F20A9-E7E1-4D5F-ACE9-1F121493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298CA-FD01-4F97-9E49-F23D7CA99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8F533-2FDD-4031-B261-92712268C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91657" y="2741355"/>
            <a:ext cx="4895088" cy="230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90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0418C-916C-4FEF-9C7B-A1674CC36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and sync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6EEA2-CB9E-4B5D-A70A-A7788239C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181600" cy="5014912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These blocks allow the other units to talk to each other without causing data corruption</a:t>
            </a:r>
          </a:p>
          <a:p>
            <a:r>
              <a:rPr lang="en-US" dirty="0"/>
              <a:t>Message queues: A mailbox block (task A drops a message into the queue, task B can pick it up when ready)</a:t>
            </a:r>
          </a:p>
          <a:p>
            <a:r>
              <a:rPr lang="en-US" dirty="0"/>
              <a:t>Semaphores / mutexes: Lock blocks, ensuring proper resource sharing and usage</a:t>
            </a:r>
          </a:p>
          <a:p>
            <a:r>
              <a:rPr lang="en-US" dirty="0"/>
              <a:t>Event flags: Simple signal blocks used to wake up sleeping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5AD50-E81F-4ECA-9C07-EE22A5880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BAC86-DB68-4255-9DC7-F059FF4D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F2BBA-80F3-4116-9313-2597BA0D7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114" y="1446211"/>
            <a:ext cx="3591969" cy="50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85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8B69-FAE9-4111-BC67-1A7BEBBB4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Behavioral and interface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5286D-0760-4A67-82AE-0538CA26C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6858000" cy="371774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State machines: The core logic block. Tracks the ‘state’ of the system and defines what events are allowed etc.</a:t>
            </a:r>
          </a:p>
          <a:p>
            <a:r>
              <a:rPr lang="en-US" dirty="0"/>
              <a:t>Fault handlers: The emergency block; code that runs when things go wrong</a:t>
            </a:r>
          </a:p>
          <a:p>
            <a:r>
              <a:rPr lang="en-US" dirty="0"/>
              <a:t>APIs: The "surface" of a block. It defines the header files and functions that other blocks are allowed to see and call.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4C666-B6CB-4266-B63A-4AEABC776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67F9FE-62D3-42E9-A03B-FADFFD606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EBE456-28FD-4440-9199-72039BF2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19" y="1249361"/>
            <a:ext cx="2037041" cy="5181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6D3718-4CAA-486B-AB69-83CB84A6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" y="5163959"/>
            <a:ext cx="7516274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12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1399-D996-4092-A98C-004D769D7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77000" cy="1195386"/>
          </a:xfrm>
        </p:spPr>
        <p:txBody>
          <a:bodyPr/>
          <a:lstStyle/>
          <a:p>
            <a:r>
              <a:rPr lang="en-US" dirty="0"/>
              <a:t>Encapsulation block: states </a:t>
            </a:r>
            <a:r>
              <a:rPr lang="en-US" dirty="0">
                <a:sym typeface="Wingdings" panose="05000000000000000000" pitchFamily="2" charset="2"/>
              </a:rPr>
              <a:t> modules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B56B1-7215-48E3-8CED-DE8CC5490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691605"/>
            <a:ext cx="8839200" cy="376951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Each concurrent region in a </a:t>
            </a:r>
            <a:r>
              <a:rPr lang="en-US" dirty="0" err="1"/>
              <a:t>statechart</a:t>
            </a:r>
            <a:r>
              <a:rPr lang="en-US" dirty="0"/>
              <a:t> must map to a separate architectural concern.</a:t>
            </a:r>
          </a:p>
          <a:p>
            <a:r>
              <a:rPr lang="en-US" dirty="0"/>
              <a:t>Each state owns its own data</a:t>
            </a:r>
          </a:p>
          <a:p>
            <a:r>
              <a:rPr lang="en-US" dirty="0"/>
              <a:t>Flow control </a:t>
            </a:r>
            <a:r>
              <a:rPr lang="en-US" dirty="0">
                <a:sym typeface="Wingdings" panose="05000000000000000000" pitchFamily="2" charset="2"/>
              </a:rPr>
              <a:t> control module</a:t>
            </a:r>
          </a:p>
          <a:p>
            <a:r>
              <a:rPr lang="en-US" dirty="0">
                <a:sym typeface="Wingdings" panose="05000000000000000000" pitchFamily="2" charset="2"/>
              </a:rPr>
              <a:t>Safety monitoring  safety module</a:t>
            </a:r>
          </a:p>
          <a:p>
            <a:r>
              <a:rPr lang="en-US" dirty="0">
                <a:sym typeface="Wingdings" panose="05000000000000000000" pitchFamily="2" charset="2"/>
              </a:rPr>
              <a:t>Logging  logging module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72DC1-3E3F-486B-B438-61B8CF152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5285FD-324E-48CC-AE13-96D0A7B5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167BB5-C809-46A9-A174-A6F899D8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417956"/>
            <a:ext cx="7421011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63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94296-298E-46F7-A782-376D5EF77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Dispatch block: transitions </a:t>
            </a:r>
            <a:r>
              <a:rPr lang="en-US" dirty="0">
                <a:sym typeface="Wingdings" panose="05000000000000000000" pitchFamily="2" charset="2"/>
              </a:rPr>
              <a:t> executable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8545C-3126-421D-B83D-346A6C1FB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715000" cy="5014912"/>
          </a:xfrm>
        </p:spPr>
        <p:txBody>
          <a:bodyPr/>
          <a:lstStyle/>
          <a:p>
            <a:r>
              <a:rPr lang="en-US" dirty="0"/>
              <a:t>Decides which state transition logic to run based on the incoming event and current state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25901-BE07-446C-9CE5-64A68F07D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D4A564-D809-4121-8EF7-60B78F344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159014-46A2-4581-8434-58ED9138C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387476"/>
            <a:ext cx="2971800" cy="292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7670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C75C6-32DD-45BA-8DD7-5B55F234F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ISR bridge: signals </a:t>
            </a:r>
            <a:r>
              <a:rPr lang="en-US" dirty="0">
                <a:sym typeface="Wingdings" panose="05000000000000000000" pitchFamily="2" charset="2"/>
              </a:rPr>
              <a:t> events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E549-290A-445C-A301-2319CD15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319429"/>
            <a:ext cx="8839200" cy="4141693"/>
          </a:xfrm>
        </p:spPr>
        <p:txBody>
          <a:bodyPr/>
          <a:lstStyle/>
          <a:p>
            <a:r>
              <a:rPr lang="en-US" dirty="0"/>
              <a:t>Sanitizes raw hardware pulses and turns them into events that the architecture understands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894BC-17B1-434A-AC92-EAE1F1258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FEFAD-AAF5-483B-A60F-D3237442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EE7B5E-9E57-4989-8E88-BD154FAD0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968" y="1446211"/>
            <a:ext cx="744006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958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04277-4811-451D-A5E1-A386353FC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hooks: entry/exit/do </a:t>
            </a:r>
            <a:r>
              <a:rPr lang="en-US" dirty="0">
                <a:sym typeface="Wingdings" panose="05000000000000000000" pitchFamily="2" charset="2"/>
              </a:rPr>
              <a:t> hardware commands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DD177-2E41-4DD9-B6D6-96AFB64A4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Ensures hardware is initialized and cleaned up during state changes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16A9-7F47-44DF-9E78-6E3919BFF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BB72C-FA7E-4F31-A6A1-7DD73C691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59F7B-CA23-4D2B-A81E-B2F49BB2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923" y="3109782"/>
            <a:ext cx="3864154" cy="335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562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13859</TotalTime>
  <Words>1661</Words>
  <Application>Microsoft Office PowerPoint</Application>
  <PresentationFormat>On-screen Show (4:3)</PresentationFormat>
  <Paragraphs>289</Paragraphs>
  <Slides>40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Software for Embedded Systems</vt:lpstr>
      <vt:lpstr>Where we are</vt:lpstr>
      <vt:lpstr>What UML has given us</vt:lpstr>
      <vt:lpstr>What UML does not decide</vt:lpstr>
      <vt:lpstr>Firmware architecture</vt:lpstr>
      <vt:lpstr>What is firmware architecture?</vt:lpstr>
      <vt:lpstr>The building blocks of a software</vt:lpstr>
      <vt:lpstr>Modules Are Units of Responsibility</vt:lpstr>
      <vt:lpstr>Owners of time and urgency</vt:lpstr>
      <vt:lpstr>Who decides vs who executes?</vt:lpstr>
      <vt:lpstr>Architecture: How do we arrange these blocks?</vt:lpstr>
      <vt:lpstr>Back to diagrams! Creating system diagrams</vt:lpstr>
      <vt:lpstr>View 1: block diagrams What exists in the system?</vt:lpstr>
      <vt:lpstr>View 1: block diagrams What exists in the system?</vt:lpstr>
      <vt:lpstr>View 2: Hierarchy of Control Who controls whom?</vt:lpstr>
      <vt:lpstr>View 3: the layered view Size and relationship between objects</vt:lpstr>
      <vt:lpstr>Using system diagrams: Simplifying the system</vt:lpstr>
      <vt:lpstr>Using system diagrams: Delegation of tasks</vt:lpstr>
      <vt:lpstr>Encapsulating modules and building interfaces</vt:lpstr>
      <vt:lpstr>Driver interface example</vt:lpstr>
      <vt:lpstr>Drivers can (and should) be stackable</vt:lpstr>
      <vt:lpstr>The Model-View-Controller (MVC) pattern</vt:lpstr>
      <vt:lpstr>MVC in your projects</vt:lpstr>
      <vt:lpstr>Organizing your code</vt:lpstr>
      <vt:lpstr>The many ways to blink an LED</vt:lpstr>
      <vt:lpstr>The many ways to blink an LED! Separating hardware from action</vt:lpstr>
      <vt:lpstr>The many ways to blink an LED! Separating hardware from action</vt:lpstr>
      <vt:lpstr>The many ways to blink an LED I/O handling code</vt:lpstr>
      <vt:lpstr>The many ways to blink an LED Simplifying the main interface (façade)</vt:lpstr>
      <vt:lpstr>PowerPoint Presentation</vt:lpstr>
      <vt:lpstr>PowerPoint Presentation</vt:lpstr>
      <vt:lpstr>From diagrams to file structures</vt:lpstr>
      <vt:lpstr>Structural blocks</vt:lpstr>
      <vt:lpstr>Execution blocks</vt:lpstr>
      <vt:lpstr>Communication and sync blocks</vt:lpstr>
      <vt:lpstr>Behavioral and interface blocks</vt:lpstr>
      <vt:lpstr>Encapsulation block: states  modules</vt:lpstr>
      <vt:lpstr>Dispatch block: transitions  executable logic</vt:lpstr>
      <vt:lpstr>ISR bridge: signals  events</vt:lpstr>
      <vt:lpstr>Action hooks: entry/exit/do  hardware commands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711</cp:revision>
  <dcterms:created xsi:type="dcterms:W3CDTF">2010-01-15T20:22:21Z</dcterms:created>
  <dcterms:modified xsi:type="dcterms:W3CDTF">2026-02-12T06:24:38Z</dcterms:modified>
</cp:coreProperties>
</file>