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7"/>
  </p:notesMasterIdLst>
  <p:sldIdLst>
    <p:sldId id="337" r:id="rId2"/>
    <p:sldId id="354" r:id="rId3"/>
    <p:sldId id="355" r:id="rId4"/>
    <p:sldId id="356" r:id="rId5"/>
    <p:sldId id="338" r:id="rId6"/>
    <p:sldId id="339" r:id="rId7"/>
    <p:sldId id="357" r:id="rId8"/>
    <p:sldId id="358" r:id="rId9"/>
    <p:sldId id="359" r:id="rId10"/>
    <p:sldId id="360" r:id="rId11"/>
    <p:sldId id="350" r:id="rId12"/>
    <p:sldId id="361" r:id="rId13"/>
    <p:sldId id="362" r:id="rId14"/>
    <p:sldId id="363" r:id="rId15"/>
    <p:sldId id="364" r:id="rId16"/>
    <p:sldId id="366" r:id="rId17"/>
    <p:sldId id="367" r:id="rId18"/>
    <p:sldId id="369" r:id="rId19"/>
    <p:sldId id="368" r:id="rId20"/>
    <p:sldId id="371" r:id="rId21"/>
    <p:sldId id="372" r:id="rId22"/>
    <p:sldId id="373" r:id="rId23"/>
    <p:sldId id="374" r:id="rId24"/>
    <p:sldId id="381" r:id="rId25"/>
    <p:sldId id="375" r:id="rId26"/>
    <p:sldId id="376" r:id="rId27"/>
    <p:sldId id="370" r:id="rId28"/>
    <p:sldId id="377" r:id="rId29"/>
    <p:sldId id="378" r:id="rId30"/>
    <p:sldId id="379" r:id="rId31"/>
    <p:sldId id="380" r:id="rId32"/>
    <p:sldId id="382" r:id="rId33"/>
    <p:sldId id="383" r:id="rId34"/>
    <p:sldId id="384" r:id="rId35"/>
    <p:sldId id="385" r:id="rId36"/>
    <p:sldId id="386" r:id="rId37"/>
    <p:sldId id="387" r:id="rId38"/>
    <p:sldId id="388" r:id="rId39"/>
    <p:sldId id="389" r:id="rId40"/>
    <p:sldId id="390" r:id="rId41"/>
    <p:sldId id="391" r:id="rId42"/>
    <p:sldId id="392" r:id="rId43"/>
    <p:sldId id="393" r:id="rId44"/>
    <p:sldId id="394" r:id="rId45"/>
    <p:sldId id="395" r:id="rId46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  <a:srgbClr val="EA3F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92730" autoAdjust="0"/>
  </p:normalViewPr>
  <p:slideViewPr>
    <p:cSldViewPr>
      <p:cViewPr varScale="1">
        <p:scale>
          <a:sx n="84" d="100"/>
          <a:sy n="84" d="100"/>
        </p:scale>
        <p:origin x="816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2/12/2026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module</a:t>
            </a:r>
            <a:r>
              <a:rPr lang="en-US" dirty="0"/>
              <a:t> is about </a:t>
            </a:r>
            <a:r>
              <a:rPr lang="en-US" i="1" dirty="0"/>
              <a:t>responsibility</a:t>
            </a:r>
            <a:r>
              <a:rPr lang="en-US" dirty="0"/>
              <a:t>, not files</a:t>
            </a:r>
          </a:p>
          <a:p>
            <a:r>
              <a:rPr lang="en-US" dirty="0"/>
              <a:t>An </a:t>
            </a:r>
            <a:r>
              <a:rPr lang="en-US" b="1" dirty="0"/>
              <a:t>interface</a:t>
            </a:r>
            <a:r>
              <a:rPr lang="en-US" dirty="0"/>
              <a:t> is about </a:t>
            </a:r>
            <a:r>
              <a:rPr lang="en-US" i="1" dirty="0"/>
              <a:t>permission</a:t>
            </a:r>
            <a:r>
              <a:rPr lang="en-US" dirty="0"/>
              <a:t>, not convenience</a:t>
            </a:r>
          </a:p>
          <a:p>
            <a:r>
              <a:rPr lang="en-US" dirty="0"/>
              <a:t>A </a:t>
            </a:r>
            <a:r>
              <a:rPr lang="en-US" b="1" dirty="0"/>
              <a:t>task</a:t>
            </a:r>
            <a:r>
              <a:rPr lang="en-US" dirty="0"/>
              <a:t> owns </a:t>
            </a:r>
            <a:r>
              <a:rPr lang="en-US" i="1" dirty="0"/>
              <a:t>time</a:t>
            </a:r>
            <a:endParaRPr lang="en-US" dirty="0"/>
          </a:p>
          <a:p>
            <a:r>
              <a:rPr lang="en-US" dirty="0"/>
              <a:t>An </a:t>
            </a:r>
            <a:r>
              <a:rPr lang="en-US" b="1" dirty="0"/>
              <a:t>interrupt</a:t>
            </a:r>
            <a:r>
              <a:rPr lang="en-US" dirty="0"/>
              <a:t> owns </a:t>
            </a:r>
            <a:r>
              <a:rPr lang="en-US" i="1" dirty="0"/>
              <a:t>urgency</a:t>
            </a:r>
            <a:endParaRPr lang="en-US" dirty="0"/>
          </a:p>
          <a:p>
            <a:r>
              <a:rPr lang="en-US" dirty="0"/>
              <a:t>A </a:t>
            </a:r>
            <a:r>
              <a:rPr lang="en-US" b="1" dirty="0"/>
              <a:t>state machine</a:t>
            </a:r>
            <a:r>
              <a:rPr lang="en-US" dirty="0"/>
              <a:t> owns </a:t>
            </a:r>
            <a:r>
              <a:rPr lang="en-US" i="1" dirty="0"/>
              <a:t>legality</a:t>
            </a:r>
            <a:endParaRPr lang="en-US" dirty="0"/>
          </a:p>
          <a:p>
            <a:r>
              <a:rPr lang="en-US" dirty="0"/>
              <a:t>A </a:t>
            </a:r>
            <a:r>
              <a:rPr lang="en-US" b="1" dirty="0"/>
              <a:t>driver</a:t>
            </a:r>
            <a:r>
              <a:rPr lang="en-US" dirty="0"/>
              <a:t> owns </a:t>
            </a:r>
            <a:r>
              <a:rPr lang="en-US" i="1" dirty="0"/>
              <a:t>hardware access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82BB320-F13B-41AF-BB84-306DCE92248C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218957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FFC000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://code.google.com/p/google-styleguide/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Software for Embedded Systems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3BC96-6B6F-455B-9267-7A9A8F7DD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we are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4F1298-8DB9-40F4-9213-90B2123CA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A5440E-C2A5-49A4-AEB3-A6D4021B8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pic>
        <p:nvPicPr>
          <p:cNvPr id="6" name="Picture 2" descr="Image of the V-model software development lifecycle">
            <a:extLst>
              <a:ext uri="{FF2B5EF4-FFF2-40B4-BE49-F238E27FC236}">
                <a16:creationId xmlns:a16="http://schemas.microsoft.com/office/drawing/2014/main" id="{271C45B4-1A09-446B-AE73-B370A426DEB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978" y="1446213"/>
            <a:ext cx="7434044" cy="5014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A36A2D3-D99D-41CD-AD1F-234CE51C67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900" y="1547814"/>
            <a:ext cx="1150188" cy="1066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5051A37-ACC9-4E57-82A2-4A2B45172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400" y="1905000"/>
            <a:ext cx="600769" cy="55721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E6FCE3B-FD51-4119-AAB5-8C6EDFBBB1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2590230"/>
            <a:ext cx="1150188" cy="10668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F5E200-FF0D-4719-B619-403E24A3A5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863" y="2743200"/>
            <a:ext cx="600769" cy="557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448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C9D16-4AB8-4F4F-8B63-889D2F128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UML has given 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2ABE0-D3E0-426A-AFFC-67234E13D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Functional completeness of system</a:t>
            </a:r>
          </a:p>
          <a:p>
            <a:r>
              <a:rPr lang="en-US" dirty="0"/>
              <a:t>Correct behavioral flow (no missing states or transitions)</a:t>
            </a:r>
          </a:p>
          <a:p>
            <a:r>
              <a:rPr lang="en-US" dirty="0"/>
              <a:t>Explicit safety states</a:t>
            </a:r>
          </a:p>
          <a:p>
            <a:r>
              <a:rPr lang="en-US" dirty="0"/>
              <a:t>Valid and ordered interactions between components</a:t>
            </a:r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Provided we are able to implement the system that we modeled!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00192E-39C4-4BEE-ABA5-50BDF0D8E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D9FBC6-28A3-43CF-AE5A-7F4D7617E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88795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BAB0-5F2F-46CF-A3B4-DF7109BB4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UML does not decide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B16DC-36A3-4868-B180-FCBF0F1FE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The actual implementation</a:t>
            </a:r>
          </a:p>
          <a:p>
            <a:r>
              <a:rPr lang="en-US" dirty="0"/>
              <a:t>Relationship with the hardware</a:t>
            </a:r>
          </a:p>
          <a:p>
            <a:r>
              <a:rPr lang="en-US" dirty="0"/>
              <a:t>Where each piece of code lives</a:t>
            </a:r>
          </a:p>
          <a:p>
            <a:r>
              <a:rPr lang="en-US" dirty="0"/>
              <a:t>What part of code performs what action</a:t>
            </a:r>
          </a:p>
          <a:p>
            <a:r>
              <a:rPr lang="en-US" dirty="0"/>
              <a:t>How hardware resources are shared</a:t>
            </a:r>
          </a:p>
          <a:p>
            <a:endParaRPr lang="en-US" dirty="0"/>
          </a:p>
          <a:p>
            <a:r>
              <a:rPr lang="en-US" dirty="0"/>
              <a:t>UML models are deliberately hardware agnostic (so we can focus on behavior first)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>
                <a:solidFill>
                  <a:srgbClr val="72C3E8"/>
                </a:solidFill>
                <a:sym typeface="Wingdings" panose="05000000000000000000" pitchFamily="2" charset="2"/>
              </a:rPr>
              <a:t>What should happen?</a:t>
            </a:r>
            <a:endParaRPr lang="en-US" dirty="0">
              <a:solidFill>
                <a:srgbClr val="72C3E8"/>
              </a:solidFill>
            </a:endParaRPr>
          </a:p>
          <a:p>
            <a:r>
              <a:rPr lang="en-US" dirty="0"/>
              <a:t>But now, we need to think about implementation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>
                <a:solidFill>
                  <a:srgbClr val="72C3E8"/>
                </a:solidFill>
                <a:sym typeface="Wingdings" panose="05000000000000000000" pitchFamily="2" charset="2"/>
              </a:rPr>
              <a:t>How to make it happen?</a:t>
            </a:r>
            <a:endParaRPr lang="en-US" dirty="0">
              <a:solidFill>
                <a:srgbClr val="72C3E8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ECD9F5-9400-46D1-A7C9-8921B76AA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A7D885-3F5E-4E96-B1E5-23C79FAC2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33703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59F4A-9C12-46B1-B873-F11D3F5D5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Firmware architecture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6BDEED-0F9F-4246-A8E8-B25CC65F4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0D6F2-DFFB-48F6-A130-E7D5A2E2E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820CBC-7EE9-4906-820D-C0252DF89B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do we structure software so that the behavior we modeled </a:t>
            </a:r>
            <a:r>
              <a:rPr lang="en-US" b="1" i="1" dirty="0"/>
              <a:t>cannot be violated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223804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4D980-555D-4175-A410-5B3CEB304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firmware architecture?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EA776E-93A4-4B3D-8CE9-9A69F2F712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en-US" dirty="0"/>
              <a:t>Firmware architecture defines:</a:t>
            </a:r>
          </a:p>
          <a:p>
            <a:pPr>
              <a:spcBef>
                <a:spcPts val="1200"/>
              </a:spcBef>
            </a:pPr>
            <a:r>
              <a:rPr lang="en-US" dirty="0"/>
              <a:t>Major software components</a:t>
            </a:r>
          </a:p>
          <a:p>
            <a:pPr>
              <a:spcBef>
                <a:spcPts val="1200"/>
              </a:spcBef>
            </a:pPr>
            <a:r>
              <a:rPr lang="en-US" dirty="0"/>
              <a:t>Their responsibilities</a:t>
            </a:r>
          </a:p>
          <a:p>
            <a:pPr>
              <a:spcBef>
                <a:spcPts val="1200"/>
              </a:spcBef>
            </a:pPr>
            <a:r>
              <a:rPr lang="en-US" dirty="0"/>
              <a:t>Allowed communication channels between components</a:t>
            </a:r>
          </a:p>
          <a:p>
            <a:pPr>
              <a:spcBef>
                <a:spcPts val="1200"/>
              </a:spcBef>
            </a:pPr>
            <a:r>
              <a:rPr lang="en-US" dirty="0"/>
              <a:t>Execution context boundaries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dirty="0"/>
              <a:t>It tells us:</a:t>
            </a:r>
          </a:p>
          <a:p>
            <a:pPr>
              <a:spcBef>
                <a:spcPts val="1200"/>
              </a:spcBef>
            </a:pPr>
            <a:r>
              <a:rPr lang="en-US" dirty="0"/>
              <a:t>Who runs where?</a:t>
            </a:r>
          </a:p>
          <a:p>
            <a:pPr>
              <a:spcBef>
                <a:spcPts val="1200"/>
              </a:spcBef>
            </a:pPr>
            <a:r>
              <a:rPr lang="en-US" dirty="0"/>
              <a:t>Who may call whom?</a:t>
            </a:r>
          </a:p>
          <a:p>
            <a:pPr>
              <a:spcBef>
                <a:spcPts val="1200"/>
              </a:spcBef>
            </a:pPr>
            <a:r>
              <a:rPr lang="en-US" dirty="0"/>
              <a:t>Who may block whom?</a:t>
            </a:r>
          </a:p>
          <a:p>
            <a:pPr>
              <a:spcBef>
                <a:spcPts val="1200"/>
              </a:spcBef>
            </a:pPr>
            <a:r>
              <a:rPr lang="en-US" dirty="0"/>
              <a:t>Who reacts to events?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A4D999-4AC5-4636-90E1-D105EA4EE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411CFE-C81B-44A9-A56B-B386E000C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04003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6979B-654E-46A8-9E7E-DABDA12A6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building blocks of a software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33273C-9841-492B-AE71-B05416052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5BF3FB-7634-4968-9CC2-B273E4C2B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3D52E29-7543-4084-BB9F-914BDAB89B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b="77176"/>
          <a:stretch/>
        </p:blipFill>
        <p:spPr>
          <a:xfrm>
            <a:off x="651470" y="1446213"/>
            <a:ext cx="7841060" cy="1144587"/>
          </a:xfrm>
          <a:prstGeom prst="rect">
            <a:avLst/>
          </a:prstGeom>
        </p:spPr>
      </p:pic>
      <p:pic>
        <p:nvPicPr>
          <p:cNvPr id="12" name="Content Placeholder 10">
            <a:extLst>
              <a:ext uri="{FF2B5EF4-FFF2-40B4-BE49-F238E27FC236}">
                <a16:creationId xmlns:a16="http://schemas.microsoft.com/office/drawing/2014/main" id="{F4C299F0-78C5-4E00-AC61-49A4F5ECE88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" b="63500"/>
          <a:stretch/>
        </p:blipFill>
        <p:spPr bwMode="auto">
          <a:xfrm>
            <a:off x="651470" y="1446213"/>
            <a:ext cx="7841060" cy="1830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Content Placeholder 10">
            <a:extLst>
              <a:ext uri="{FF2B5EF4-FFF2-40B4-BE49-F238E27FC236}">
                <a16:creationId xmlns:a16="http://schemas.microsoft.com/office/drawing/2014/main" id="{83D86EAA-6521-4D03-9411-B42558020E8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" b="48304"/>
          <a:stretch/>
        </p:blipFill>
        <p:spPr bwMode="auto">
          <a:xfrm>
            <a:off x="651470" y="1446213"/>
            <a:ext cx="7841060" cy="2592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Content Placeholder 10">
            <a:extLst>
              <a:ext uri="{FF2B5EF4-FFF2-40B4-BE49-F238E27FC236}">
                <a16:creationId xmlns:a16="http://schemas.microsoft.com/office/drawing/2014/main" id="{7880A5F0-6B18-45E9-A236-E8E82DFFE9C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" b="33109"/>
          <a:stretch/>
        </p:blipFill>
        <p:spPr bwMode="auto">
          <a:xfrm>
            <a:off x="651470" y="1446212"/>
            <a:ext cx="7841060" cy="3354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Content Placeholder 10">
            <a:extLst>
              <a:ext uri="{FF2B5EF4-FFF2-40B4-BE49-F238E27FC236}">
                <a16:creationId xmlns:a16="http://schemas.microsoft.com/office/drawing/2014/main" id="{C53C87E4-B8C5-474D-93B2-5C405E997FD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4877"/>
          <a:stretch/>
        </p:blipFill>
        <p:spPr bwMode="auto">
          <a:xfrm>
            <a:off x="651470" y="1446212"/>
            <a:ext cx="7841060" cy="426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" name="Content Placeholder 10">
            <a:extLst>
              <a:ext uri="{FF2B5EF4-FFF2-40B4-BE49-F238E27FC236}">
                <a16:creationId xmlns:a16="http://schemas.microsoft.com/office/drawing/2014/main" id="{FD5B0870-A5D9-46DD-8153-22ED885A229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b="1202"/>
          <a:stretch/>
        </p:blipFill>
        <p:spPr bwMode="auto">
          <a:xfrm>
            <a:off x="651470" y="1446212"/>
            <a:ext cx="7841060" cy="495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9451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19524-5822-4ED8-AE0C-406852159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Are Units of Responsibility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EB4BB-5C39-4BDF-AE37-6ECDE1C960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module has</a:t>
            </a:r>
          </a:p>
          <a:p>
            <a:r>
              <a:rPr lang="en-US" dirty="0"/>
              <a:t>One responsibility</a:t>
            </a:r>
          </a:p>
          <a:p>
            <a:r>
              <a:rPr lang="en-US" dirty="0"/>
              <a:t>A public interface</a:t>
            </a:r>
          </a:p>
          <a:p>
            <a:r>
              <a:rPr lang="en-US" dirty="0"/>
              <a:t>Hidden state</a:t>
            </a:r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r>
              <a:rPr lang="en-US" dirty="0"/>
              <a:t>Motor module</a:t>
            </a:r>
          </a:p>
          <a:p>
            <a:pPr lvl="1"/>
            <a:r>
              <a:rPr lang="en-US" dirty="0"/>
              <a:t>handles motor operations</a:t>
            </a:r>
          </a:p>
          <a:p>
            <a:pPr lvl="1"/>
            <a:r>
              <a:rPr lang="en-US" dirty="0"/>
              <a:t>exposes start() and stop() on its interface</a:t>
            </a:r>
          </a:p>
          <a:p>
            <a:pPr lvl="1"/>
            <a:r>
              <a:rPr lang="en-US" dirty="0"/>
              <a:t>hides states of internal registers required for function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DDF247-1ADE-4347-88F9-6EA9708F3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1F5D7-4131-47C2-8241-DDA77F88F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86578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5BDDD-0F4B-4345-849E-7DB838198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Owners of time and urgency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937D99-735E-43F0-B416-23B372B55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Tasks:</a:t>
            </a:r>
          </a:p>
          <a:p>
            <a:r>
              <a:rPr lang="en-US" dirty="0"/>
              <a:t>Own execution flow</a:t>
            </a:r>
          </a:p>
          <a:p>
            <a:r>
              <a:rPr lang="en-US" dirty="0"/>
              <a:t>Run independently</a:t>
            </a:r>
          </a:p>
          <a:p>
            <a:pPr marL="0" indent="0">
              <a:buNone/>
            </a:pPr>
            <a:r>
              <a:rPr lang="en-US" dirty="0"/>
              <a:t>Interrupts:</a:t>
            </a:r>
          </a:p>
          <a:p>
            <a:r>
              <a:rPr lang="en-US" dirty="0"/>
              <a:t>Preempt tasks</a:t>
            </a:r>
          </a:p>
          <a:p>
            <a:r>
              <a:rPr lang="en-US" dirty="0"/>
              <a:t>Detect emergencies</a:t>
            </a:r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r>
              <a:rPr lang="en-US" dirty="0"/>
              <a:t>Therapy task controls infusion</a:t>
            </a:r>
          </a:p>
          <a:p>
            <a:r>
              <a:rPr lang="en-US" dirty="0"/>
              <a:t>Pressure interrupt detects occlusion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B29B11-CE7B-4C7B-957E-38AB3B953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599D56-6986-44B8-AFD8-E9B4AFADA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12483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EA674-8A50-461A-9635-58A32963B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decides vs who executes?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1C6982-E064-42F3-9B40-B49FAC189C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State machine decides what (action) is allowed</a:t>
            </a:r>
          </a:p>
          <a:p>
            <a:r>
              <a:rPr lang="en-US" dirty="0"/>
              <a:t>Driver executes the action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r>
              <a:rPr lang="en-US" dirty="0"/>
              <a:t>State machine enters ‘alarm’ state</a:t>
            </a:r>
          </a:p>
          <a:p>
            <a:r>
              <a:rPr lang="en-US" dirty="0"/>
              <a:t>Motor driver stops motor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C46CFD-199C-4991-8CD2-810C2BB92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4D4D50-A42B-4945-B0B2-9E3D0988C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744068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E0E56-2D91-49A5-9E4A-113ECE3DE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Architecture: How do we arrange these blocks?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8944C5-5846-47A4-BFB2-AD9C258AB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ACF54-639E-4F97-80E8-BE248A686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659EA9-1988-4C14-B276-D80258B792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8305800" cy="3124200"/>
          </a:xfrm>
        </p:spPr>
        <p:txBody>
          <a:bodyPr/>
          <a:lstStyle/>
          <a:p>
            <a:r>
              <a:rPr lang="en-US" dirty="0"/>
              <a:t>So that behavior is realized?</a:t>
            </a:r>
          </a:p>
          <a:p>
            <a:r>
              <a:rPr lang="en-US" dirty="0"/>
              <a:t>Which module decides? Executes?</a:t>
            </a:r>
          </a:p>
          <a:p>
            <a:r>
              <a:rPr lang="en-US" dirty="0"/>
              <a:t>Who can override whom?</a:t>
            </a:r>
          </a:p>
          <a:p>
            <a:r>
              <a:rPr lang="en-US" dirty="0"/>
              <a:t>A critical concern: shared resources</a:t>
            </a:r>
          </a:p>
          <a:p>
            <a:pPr marL="0" indent="0">
              <a:buNone/>
            </a:pPr>
            <a:r>
              <a:rPr lang="en-US" dirty="0">
                <a:solidFill>
                  <a:srgbClr val="72C3E8"/>
                </a:solidFill>
              </a:rPr>
              <a:t>Where do we start building our actual software?</a:t>
            </a:r>
          </a:p>
        </p:txBody>
      </p:sp>
    </p:spTree>
    <p:extLst>
      <p:ext uri="{BB962C8B-B14F-4D97-AF65-F5344CB8AC3E}">
        <p14:creationId xmlns:p14="http://schemas.microsoft.com/office/powerpoint/2010/main" val="3296141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4ED2-B862-4D1C-A2E3-C55FD7B2A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diagrams!</a:t>
            </a:r>
            <a:br>
              <a:rPr lang="en-US" dirty="0"/>
            </a:br>
            <a:r>
              <a:rPr lang="en-US" dirty="0"/>
              <a:t>Creating system diagrams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E5AFB3-B345-4EED-AC60-23B90ECE9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Why make more diagrams?</a:t>
            </a:r>
          </a:p>
          <a:p>
            <a:r>
              <a:rPr lang="en-US" dirty="0"/>
              <a:t>Identify shared resources</a:t>
            </a:r>
          </a:p>
          <a:p>
            <a:r>
              <a:rPr lang="en-US" dirty="0"/>
              <a:t>Find difficult code components</a:t>
            </a:r>
          </a:p>
          <a:p>
            <a:r>
              <a:rPr lang="en-US" dirty="0"/>
              <a:t>How to balance complexity, flexibility, ease of implementation?</a:t>
            </a:r>
          </a:p>
          <a:p>
            <a:r>
              <a:rPr lang="en-US" dirty="0"/>
              <a:t>Delegate development tasks within teams</a:t>
            </a:r>
          </a:p>
          <a:p>
            <a:r>
              <a:rPr lang="en-US" dirty="0"/>
              <a:t>Reduce interdependencies between modules</a:t>
            </a:r>
          </a:p>
          <a:p>
            <a:r>
              <a:rPr lang="en-US" dirty="0"/>
              <a:t>Protect modules from each other</a:t>
            </a:r>
          </a:p>
          <a:p>
            <a:r>
              <a:rPr lang="en-US" dirty="0"/>
              <a:t>Identify interfaces</a:t>
            </a:r>
          </a:p>
          <a:p>
            <a:r>
              <a:rPr lang="en-US" dirty="0"/>
              <a:t>Define precise tests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B074C5-2E4F-4530-BB12-10CF1BA28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3AD034-75C9-45C7-8CC2-723017497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86642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3759F-43E2-4128-8996-F59827182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 1: block diagrams</a:t>
            </a:r>
            <a:br>
              <a:rPr lang="en-US" dirty="0"/>
            </a:br>
            <a:r>
              <a:rPr lang="en-US" dirty="0"/>
              <a:t>What exists in the system?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C2090-457E-407E-AFE2-CD32B36FD5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446211"/>
            <a:ext cx="5772931" cy="501491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Start with the physical objects in your system – the microcontroller and peripherals</a:t>
            </a:r>
          </a:p>
          <a:p>
            <a:r>
              <a:rPr lang="en-US" dirty="0"/>
              <a:t>How do you talk to these?</a:t>
            </a:r>
          </a:p>
          <a:p>
            <a:pPr lvl="1"/>
            <a:r>
              <a:rPr lang="en-US" dirty="0"/>
              <a:t>Communication goes inside the processor box (part of software)</a:t>
            </a:r>
          </a:p>
          <a:p>
            <a:r>
              <a:rPr lang="en-US" dirty="0"/>
              <a:t>How do you control the peripheral?</a:t>
            </a:r>
          </a:p>
          <a:p>
            <a:pPr lvl="1"/>
            <a:r>
              <a:rPr lang="en-US" dirty="0"/>
              <a:t>Add another box, a driver</a:t>
            </a:r>
          </a:p>
          <a:p>
            <a:r>
              <a:rPr lang="en-US" dirty="0"/>
              <a:t>What are you using the peripheral for?</a:t>
            </a:r>
          </a:p>
          <a:p>
            <a:r>
              <a:rPr lang="en-US" dirty="0"/>
              <a:t>…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0860BE-B1B7-493C-8DEA-536776BAB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10FF6A-0997-45C5-AB3A-A491C3FAC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74F212-A91B-4B4A-9E1F-0A0AAA7786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1056"/>
          <a:stretch/>
        </p:blipFill>
        <p:spPr>
          <a:xfrm>
            <a:off x="5925331" y="914401"/>
            <a:ext cx="3210560" cy="15727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CC5872-FBF1-4BD1-88D5-70AC2D19E7C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30188"/>
          <a:stretch/>
        </p:blipFill>
        <p:spPr>
          <a:xfrm>
            <a:off x="5925331" y="914401"/>
            <a:ext cx="3210560" cy="2819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0978881-AB11-4E2F-8C54-913B13B0A7F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/>
          <a:stretch/>
        </p:blipFill>
        <p:spPr>
          <a:xfrm>
            <a:off x="5936488" y="914400"/>
            <a:ext cx="3210560" cy="40386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1E75BB4-4C3E-44C6-A180-2B07968AE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9536" y="5063735"/>
            <a:ext cx="3052066" cy="1426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55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C8965-FFBD-4836-99DC-E7B18E99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 1: block diagrams</a:t>
            </a:r>
            <a:br>
              <a:rPr lang="en-US" dirty="0"/>
            </a:br>
            <a:r>
              <a:rPr lang="en-US" dirty="0"/>
              <a:t>What exists in the system?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D0DA5BC-FC29-40AC-808D-905662781A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599" y="1472060"/>
            <a:ext cx="8792802" cy="496321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27FFAE-EAA7-4826-AC7F-5BDFB4958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61292E-0FFE-470D-B74E-CF7333AA1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35151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F7C40-EA7D-4F79-91A6-10A189FA4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 2: Hierarchy of Control</a:t>
            </a:r>
            <a:br>
              <a:rPr lang="en-US" dirty="0"/>
            </a:br>
            <a:r>
              <a:rPr lang="en-US" dirty="0"/>
              <a:t>Who controls whom?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758B437-EB72-4177-BE4D-F2362D3789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077" t="3070" r="2077" b="87813"/>
          <a:stretch/>
        </p:blipFill>
        <p:spPr>
          <a:xfrm>
            <a:off x="1132332" y="1505329"/>
            <a:ext cx="5486400" cy="45720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ED8E5D-B8A9-4E06-9F26-2781BB82D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F0E2EB-1C2D-4A00-B80A-DF40A7820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  <p:pic>
        <p:nvPicPr>
          <p:cNvPr id="9" name="Content Placeholder 6">
            <a:extLst>
              <a:ext uri="{FF2B5EF4-FFF2-40B4-BE49-F238E27FC236}">
                <a16:creationId xmlns:a16="http://schemas.microsoft.com/office/drawing/2014/main" id="{C76C6D29-66BF-4CAB-8B63-27935B0E749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77" t="3070" r="2077" b="68059"/>
          <a:stretch/>
        </p:blipFill>
        <p:spPr bwMode="auto">
          <a:xfrm>
            <a:off x="1132332" y="1505329"/>
            <a:ext cx="5486400" cy="144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0DEBE898-4270-4EDA-BDAB-4F9A2339C69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77" t="3070" r="2077" b="55903"/>
          <a:stretch/>
        </p:blipFill>
        <p:spPr bwMode="auto">
          <a:xfrm>
            <a:off x="1132332" y="1505329"/>
            <a:ext cx="5486400" cy="205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AF820C05-69F5-44E4-8F24-814BAD23D5E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77" t="3069" r="2077" b="36150"/>
          <a:stretch/>
        </p:blipFill>
        <p:spPr bwMode="auto">
          <a:xfrm>
            <a:off x="1132332" y="1505329"/>
            <a:ext cx="5486400" cy="30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Content Placeholder 6">
            <a:extLst>
              <a:ext uri="{FF2B5EF4-FFF2-40B4-BE49-F238E27FC236}">
                <a16:creationId xmlns:a16="http://schemas.microsoft.com/office/drawing/2014/main" id="{BAFB3E27-C4F2-49F0-BF16-121005BA625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586" t="29" r="746" b="-318"/>
          <a:stretch/>
        </p:blipFill>
        <p:spPr bwMode="auto">
          <a:xfrm>
            <a:off x="979932" y="1352929"/>
            <a:ext cx="5715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BD85582-107B-48A8-A930-40CA7024D84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9932" y="1352928"/>
            <a:ext cx="7184136" cy="5142743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F9392A87-E4AD-43B4-84DA-844EF923B597}"/>
              </a:ext>
            </a:extLst>
          </p:cNvPr>
          <p:cNvGrpSpPr/>
          <p:nvPr/>
        </p:nvGrpSpPr>
        <p:grpSpPr>
          <a:xfrm>
            <a:off x="2362200" y="4096897"/>
            <a:ext cx="3594654" cy="1922903"/>
            <a:chOff x="2959608" y="4366419"/>
            <a:chExt cx="3594654" cy="1922903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1C86703-647F-4484-9868-342280C98F3A}"/>
                </a:ext>
              </a:extLst>
            </p:cNvPr>
            <p:cNvSpPr/>
            <p:nvPr/>
          </p:nvSpPr>
          <p:spPr>
            <a:xfrm>
              <a:off x="2959608" y="4366419"/>
              <a:ext cx="1600200" cy="1447800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68AC67B-2EEC-4AE7-903D-C92B7286F92A}"/>
                </a:ext>
              </a:extLst>
            </p:cNvPr>
            <p:cNvSpPr txBox="1"/>
            <p:nvPr/>
          </p:nvSpPr>
          <p:spPr>
            <a:xfrm>
              <a:off x="4343400" y="5642991"/>
              <a:ext cx="221086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Sharing resources</a:t>
              </a:r>
            </a:p>
            <a:p>
              <a:r>
                <a:rPr lang="en-US" b="1" dirty="0">
                  <a:solidFill>
                    <a:srgbClr val="FF0000"/>
                  </a:solidFill>
                </a:rPr>
                <a:t>Be careful!!!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80147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53A2A-FA67-4829-BA2E-38565BFBC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7696200" cy="1195386"/>
          </a:xfrm>
        </p:spPr>
        <p:txBody>
          <a:bodyPr/>
          <a:lstStyle/>
          <a:p>
            <a:r>
              <a:rPr lang="en-US" dirty="0"/>
              <a:t>View 3: the layered view</a:t>
            </a:r>
            <a:br>
              <a:rPr lang="en-US" dirty="0"/>
            </a:br>
            <a:r>
              <a:rPr lang="en-US" dirty="0"/>
              <a:t>Size and relationship between objects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CBF7E1-F1D7-4597-8F28-DC4976F77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4419599"/>
            <a:ext cx="8839200" cy="2041523"/>
          </a:xfrm>
        </p:spPr>
        <p:txBody>
          <a:bodyPr/>
          <a:lstStyle/>
          <a:p>
            <a:r>
              <a:rPr lang="en-US" dirty="0"/>
              <a:t>Start at the bottom with peripherals (not shown)</a:t>
            </a:r>
          </a:p>
          <a:p>
            <a:r>
              <a:rPr lang="en-US" dirty="0"/>
              <a:t>Move up while adding blocks as layers</a:t>
            </a:r>
          </a:p>
          <a:p>
            <a:pPr lvl="1"/>
            <a:r>
              <a:rPr lang="en-US" dirty="0"/>
              <a:t>Size proportional to complexity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E7931-2833-4B7B-A767-AAABDDE53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BFBA94-B59A-4343-A0B9-CF62DEC00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CF182E-8A15-4961-B5C2-802ECD07F35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919" t="8766" r="1919" b="17257"/>
          <a:stretch/>
        </p:blipFill>
        <p:spPr>
          <a:xfrm>
            <a:off x="85344" y="1524000"/>
            <a:ext cx="8973312" cy="2610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77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B46BA-E9CF-41F5-AE81-C17A71068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system diagrams:</a:t>
            </a:r>
            <a:br>
              <a:rPr lang="en-US" dirty="0"/>
            </a:br>
            <a:r>
              <a:rPr lang="en-US" dirty="0"/>
              <a:t>Simplifying the system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6C1B59-AF91-494F-B0B5-D1BD56DC5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FD5B08-33D8-4A37-87D1-F6226620F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6CAFA09-72D8-4019-9607-EF5BECDF4A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141" y="1343249"/>
            <a:ext cx="2378419" cy="20386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65A514-0AD8-4A21-B659-65BEEB64CA6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</a:blip>
          <a:srcRect l="2270" t="3327" r="2270" b="9252"/>
          <a:stretch/>
        </p:blipFill>
        <p:spPr>
          <a:xfrm>
            <a:off x="6207588" y="3429000"/>
            <a:ext cx="2905932" cy="1905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48ECA51-42BE-4CB0-8B50-A6ED12FFCAA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19" t="8766" r="1919" b="17257"/>
          <a:stretch/>
        </p:blipFill>
        <p:spPr>
          <a:xfrm>
            <a:off x="5152502" y="5411789"/>
            <a:ext cx="3961018" cy="1152296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E1A953E-1FFA-41E7-B0A4-58E1D7373C80}"/>
              </a:ext>
            </a:extLst>
          </p:cNvPr>
          <p:cNvSpPr/>
          <p:nvPr/>
        </p:nvSpPr>
        <p:spPr>
          <a:xfrm>
            <a:off x="6781800" y="4724400"/>
            <a:ext cx="609600" cy="304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C614921-871C-409B-952D-27CE7DCB7E43}"/>
              </a:ext>
            </a:extLst>
          </p:cNvPr>
          <p:cNvSpPr/>
          <p:nvPr/>
        </p:nvSpPr>
        <p:spPr>
          <a:xfrm>
            <a:off x="7968996" y="4416552"/>
            <a:ext cx="609600" cy="61264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4C7F4BD-0CF2-4AB7-A92A-118D420ECAB6}"/>
              </a:ext>
            </a:extLst>
          </p:cNvPr>
          <p:cNvSpPr/>
          <p:nvPr/>
        </p:nvSpPr>
        <p:spPr>
          <a:xfrm>
            <a:off x="7709916" y="5903976"/>
            <a:ext cx="609600" cy="61264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849B0C-BE1D-4C98-9CF6-8D8B87F433BE}"/>
              </a:ext>
            </a:extLst>
          </p:cNvPr>
          <p:cNvSpPr/>
          <p:nvPr/>
        </p:nvSpPr>
        <p:spPr>
          <a:xfrm>
            <a:off x="5542194" y="5917533"/>
            <a:ext cx="1544406" cy="4070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8F35C6F-6DA5-4498-B054-87C8BEBB9D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" y="1446211"/>
            <a:ext cx="6066065" cy="5014912"/>
          </a:xfrm>
        </p:spPr>
        <p:txBody>
          <a:bodyPr/>
          <a:lstStyle/>
          <a:p>
            <a:r>
              <a:rPr lang="en-US" sz="2400" dirty="0"/>
              <a:t>Difficult code components – boxes that are very different across views!</a:t>
            </a:r>
          </a:p>
          <a:p>
            <a:r>
              <a:rPr lang="en-US" sz="2400" dirty="0"/>
              <a:t>Resource sharing: what peripherals can we keep independent?</a:t>
            </a:r>
          </a:p>
          <a:p>
            <a:r>
              <a:rPr lang="en-US" sz="2400" dirty="0"/>
              <a:t>Can any boxes be combined?</a:t>
            </a:r>
          </a:p>
          <a:p>
            <a:pPr lvl="1"/>
            <a:r>
              <a:rPr lang="en-US" sz="2000" dirty="0"/>
              <a:t>In hierarchy: objects used by only one other object</a:t>
            </a:r>
          </a:p>
          <a:p>
            <a:pPr lvl="1"/>
            <a:r>
              <a:rPr lang="en-US" sz="2000" dirty="0"/>
              <a:t>In layers: objects in a layer that are always used together (shared connections above and below)</a:t>
            </a:r>
          </a:p>
          <a:p>
            <a:r>
              <a:rPr lang="en-US" sz="2400" dirty="0"/>
              <a:t>What boxes need splitting?</a:t>
            </a:r>
          </a:p>
          <a:p>
            <a:pPr lvl="1"/>
            <a:r>
              <a:rPr lang="en-US" sz="2000" dirty="0"/>
              <a:t>Several modules that touch the same</a:t>
            </a:r>
            <a:br>
              <a:rPr lang="en-US" sz="2000" dirty="0"/>
            </a:br>
            <a:r>
              <a:rPr lang="en-US" sz="2000" dirty="0"/>
              <a:t>lower module: can we break it up?</a:t>
            </a:r>
          </a:p>
          <a:p>
            <a:pPr lvl="1"/>
            <a:r>
              <a:rPr lang="en-US" sz="2000" dirty="0"/>
              <a:t>For example: logging can use flash only</a:t>
            </a:r>
            <a:br>
              <a:rPr lang="en-US" sz="2000" dirty="0"/>
            </a:br>
            <a:r>
              <a:rPr lang="en-US" sz="2000" dirty="0"/>
              <a:t>at the start to read serial no, and never again!</a:t>
            </a:r>
          </a:p>
        </p:txBody>
      </p:sp>
    </p:spTree>
    <p:extLst>
      <p:ext uri="{BB962C8B-B14F-4D97-AF65-F5344CB8AC3E}">
        <p14:creationId xmlns:p14="http://schemas.microsoft.com/office/powerpoint/2010/main" val="3873724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8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B46BA-E9CF-41F5-AE81-C17A71068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system diagrams:</a:t>
            </a:r>
            <a:br>
              <a:rPr lang="en-US" dirty="0"/>
            </a:br>
            <a:r>
              <a:rPr lang="en-US" dirty="0"/>
              <a:t>Delegation of tasks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6C1B59-AF91-494F-B0B5-D1BD56DC5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FD5B08-33D8-4A37-87D1-F6226620F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6CAFA09-72D8-4019-9607-EF5BECDF4A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141" y="1343249"/>
            <a:ext cx="2378419" cy="20386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65A514-0AD8-4A21-B659-65BEEB64CA6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</a:blip>
          <a:srcRect l="2270" t="3327" r="2270" b="9252"/>
          <a:stretch/>
        </p:blipFill>
        <p:spPr>
          <a:xfrm>
            <a:off x="6207588" y="3429000"/>
            <a:ext cx="2905932" cy="1905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48ECA51-42BE-4CB0-8B50-A6ED12FFCAA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19" t="8766" r="1919" b="17257"/>
          <a:stretch/>
        </p:blipFill>
        <p:spPr>
          <a:xfrm>
            <a:off x="5152502" y="5411789"/>
            <a:ext cx="3961018" cy="1152296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8F35C6F-6DA5-4498-B054-87C8BEBB9D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" y="1371600"/>
            <a:ext cx="6066065" cy="5014912"/>
          </a:xfrm>
        </p:spPr>
        <p:txBody>
          <a:bodyPr/>
          <a:lstStyle/>
          <a:p>
            <a:r>
              <a:rPr lang="en-US" sz="2000" dirty="0"/>
              <a:t>How would you split tasks within the team?</a:t>
            </a:r>
          </a:p>
          <a:p>
            <a:pPr lvl="1"/>
            <a:r>
              <a:rPr lang="en-US" sz="1600" dirty="0"/>
              <a:t>Assign entire blocks / groups of blocks</a:t>
            </a:r>
          </a:p>
          <a:p>
            <a:pPr lvl="1"/>
            <a:r>
              <a:rPr lang="en-US" sz="1600" dirty="0"/>
              <a:t>Assign hierarchy branches</a:t>
            </a:r>
          </a:p>
          <a:p>
            <a:r>
              <a:rPr lang="en-US" sz="2000" dirty="0"/>
              <a:t>Reduce interdependencies</a:t>
            </a:r>
          </a:p>
          <a:p>
            <a:pPr lvl="1"/>
            <a:r>
              <a:rPr lang="en-US" sz="1600" dirty="0"/>
              <a:t>How interdependent are the tasks of different team members?</a:t>
            </a:r>
          </a:p>
          <a:p>
            <a:pPr lvl="1"/>
            <a:r>
              <a:rPr lang="en-US" sz="1600" dirty="0"/>
              <a:t>Too much interdependency </a:t>
            </a:r>
            <a:r>
              <a:rPr lang="en-US" sz="1600" dirty="0">
                <a:sym typeface="Wingdings" panose="05000000000000000000" pitchFamily="2" charset="2"/>
              </a:rPr>
              <a:t> complex, buggy, fragile software</a:t>
            </a:r>
          </a:p>
          <a:p>
            <a:r>
              <a:rPr lang="en-US" sz="2000" dirty="0">
                <a:sym typeface="Wingdings" panose="05000000000000000000" pitchFamily="2" charset="2"/>
              </a:rPr>
              <a:t>Identify interfaces</a:t>
            </a:r>
          </a:p>
          <a:p>
            <a:pPr lvl="1"/>
            <a:r>
              <a:rPr lang="en-US" sz="1600" dirty="0">
                <a:sym typeface="Wingdings" panose="05000000000000000000" pitchFamily="2" charset="2"/>
              </a:rPr>
              <a:t>Scope for delegation  scope for splitting + interface</a:t>
            </a:r>
          </a:p>
          <a:p>
            <a:r>
              <a:rPr lang="en-US" sz="2000" dirty="0">
                <a:sym typeface="Wingdings" panose="05000000000000000000" pitchFamily="2" charset="2"/>
              </a:rPr>
              <a:t>Protection</a:t>
            </a:r>
          </a:p>
          <a:p>
            <a:pPr lvl="1"/>
            <a:r>
              <a:rPr lang="en-US" sz="1600" dirty="0">
                <a:sym typeface="Wingdings" panose="05000000000000000000" pitchFamily="2" charset="2"/>
              </a:rPr>
              <a:t>Think of your module can be protected from mistakes by other modules</a:t>
            </a:r>
          </a:p>
          <a:p>
            <a:pPr lvl="1"/>
            <a:r>
              <a:rPr lang="en-US" sz="1600" dirty="0">
                <a:sym typeface="Wingdings" panose="05000000000000000000" pitchFamily="2" charset="2"/>
              </a:rPr>
              <a:t>Will adding a box to your group reduce data sharing?</a:t>
            </a:r>
          </a:p>
          <a:p>
            <a:r>
              <a:rPr lang="en-US" sz="2000" dirty="0">
                <a:sym typeface="Wingdings" panose="05000000000000000000" pitchFamily="2" charset="2"/>
              </a:rPr>
              <a:t>Testing</a:t>
            </a:r>
          </a:p>
          <a:p>
            <a:pPr lvl="1"/>
            <a:r>
              <a:rPr lang="en-US" sz="1600" dirty="0">
                <a:sym typeface="Wingdings" panose="05000000000000000000" pitchFamily="2" charset="2"/>
              </a:rPr>
              <a:t>Define inputs, outputs and function of each module</a:t>
            </a:r>
          </a:p>
          <a:p>
            <a:pPr lvl="1"/>
            <a:r>
              <a:rPr lang="en-US" sz="1600" dirty="0">
                <a:sym typeface="Wingdings" panose="05000000000000000000" pitchFamily="2" charset="2"/>
              </a:rPr>
              <a:t>Define tests to confirm this behavior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573772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670E0-83B8-4261-B2C0-72521E6C9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Encapsulating modules and building 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554497-8AF4-4345-BCF7-968C3EBFD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5465824" cy="5014912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rgbClr val="72C3E8"/>
                </a:solidFill>
              </a:rPr>
              <a:t>Making interfaces between modules that do not depend specifically on what is inside the modules</a:t>
            </a:r>
          </a:p>
          <a:p>
            <a:r>
              <a:rPr lang="en-US" dirty="0"/>
              <a:t>POSIX / Unix driver standard</a:t>
            </a:r>
          </a:p>
          <a:p>
            <a:pPr lvl="1"/>
            <a:r>
              <a:rPr lang="en-US" dirty="0"/>
              <a:t>open() and close(): initialize and clean up</a:t>
            </a:r>
          </a:p>
          <a:p>
            <a:pPr marL="457200" lvl="1" indent="0">
              <a:buNone/>
            </a:pPr>
            <a:r>
              <a:rPr lang="en-US" dirty="0"/>
              <a:t>	open() is often replaced by </a:t>
            </a:r>
            <a:r>
              <a:rPr lang="en-US" dirty="0" err="1"/>
              <a:t>init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read() and write(): move data</a:t>
            </a:r>
          </a:p>
          <a:p>
            <a:pPr lvl="1"/>
            <a:r>
              <a:rPr lang="en-US" dirty="0" err="1"/>
              <a:t>ioctl</a:t>
            </a:r>
            <a:r>
              <a:rPr lang="en-US" dirty="0"/>
              <a:t>(): handle device-specific features</a:t>
            </a:r>
          </a:p>
          <a:p>
            <a:r>
              <a:rPr lang="en-US" dirty="0"/>
              <a:t>Convert ungainly hardware interfaces into consistent software APIs for higher level clients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7FDBCD-6154-423B-8859-741232D66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551327-CFBB-4E8C-8F16-E37212301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2BCC69F-CD5A-4C13-A7B4-0609B56C13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7744" y="1446211"/>
            <a:ext cx="3391664" cy="3615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96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D52E1-BC02-4622-BFD9-E668CF994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Driver interface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6C472C-4EA2-4FE5-A494-38A242183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/>
              <a:t>spi.open</a:t>
            </a:r>
            <a:r>
              <a:rPr lang="en-US" dirty="0"/>
              <a:t>()</a:t>
            </a:r>
          </a:p>
          <a:p>
            <a:r>
              <a:rPr lang="en-US" dirty="0" err="1"/>
              <a:t>spi_open</a:t>
            </a:r>
            <a:r>
              <a:rPr lang="en-US" dirty="0"/>
              <a:t>()</a:t>
            </a:r>
          </a:p>
          <a:p>
            <a:r>
              <a:rPr lang="en-US" dirty="0" err="1"/>
              <a:t>SpiOpen</a:t>
            </a:r>
            <a:r>
              <a:rPr lang="en-US" dirty="0"/>
              <a:t>(WITH_LOCK)</a:t>
            </a:r>
          </a:p>
          <a:p>
            <a:r>
              <a:rPr lang="en-US" dirty="0" err="1"/>
              <a:t>spi.ioctl_change_frequency</a:t>
            </a:r>
            <a:r>
              <a:rPr lang="en-US" dirty="0"/>
              <a:t>(</a:t>
            </a:r>
            <a:r>
              <a:rPr lang="en-US" dirty="0" err="1"/>
              <a:t>THIRTY_MHz</a:t>
            </a:r>
            <a:r>
              <a:rPr lang="en-US" dirty="0"/>
              <a:t>)</a:t>
            </a:r>
          </a:p>
          <a:p>
            <a:r>
              <a:rPr lang="en-US" dirty="0" err="1"/>
              <a:t>SpiIoctl</a:t>
            </a:r>
            <a:r>
              <a:rPr lang="en-US" dirty="0"/>
              <a:t>(</a:t>
            </a:r>
            <a:r>
              <a:rPr lang="en-US" dirty="0" err="1"/>
              <a:t>kChangeFrequency</a:t>
            </a:r>
            <a:r>
              <a:rPr lang="en-US" dirty="0"/>
              <a:t>, </a:t>
            </a:r>
            <a:r>
              <a:rPr lang="en-US" dirty="0" err="1"/>
              <a:t>THIRTY_MHz</a:t>
            </a:r>
            <a:r>
              <a:rPr lang="en-US" dirty="0"/>
              <a:t>)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These are a few representative coding styles. BUT they are very important (save time debugging by following a consistent style). See </a:t>
            </a:r>
            <a:r>
              <a:rPr lang="en-US" dirty="0">
                <a:hlinkClick r:id="rId2"/>
              </a:rPr>
              <a:t>Google’s suggestions.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092CD-9940-42B6-A154-CB2D05353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69E19C-7280-4CAE-BE44-2A8E30E58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3520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28329-E9F1-4704-9E04-B2D93ACA5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Drivers can (and should) be stackable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62502B3-2275-47E2-B7CA-680497DC71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92331" y="1418779"/>
            <a:ext cx="3620605" cy="501491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B07669-3FDA-4FEA-9461-AF4E2D18A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1F8FB6-06B4-4A7C-AD76-19D828468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D4CD53B-B0F6-44CE-AF36-B7C249B82D11}"/>
              </a:ext>
            </a:extLst>
          </p:cNvPr>
          <p:cNvSpPr txBox="1">
            <a:spLocks/>
          </p:cNvSpPr>
          <p:nvPr/>
        </p:nvSpPr>
        <p:spPr bwMode="auto">
          <a:xfrm>
            <a:off x="152399" y="1446211"/>
            <a:ext cx="5239931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77500" lnSpcReduction="20000"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Each interface offered by a lower layer contains:</a:t>
            </a:r>
          </a:p>
          <a:p>
            <a:r>
              <a:rPr lang="en-US" dirty="0" err="1"/>
              <a:t>init</a:t>
            </a:r>
            <a:r>
              <a:rPr lang="en-US" dirty="0"/>
              <a:t>() or open(), close(), read(), write()</a:t>
            </a:r>
          </a:p>
          <a:p>
            <a:r>
              <a:rPr lang="en-US" dirty="0"/>
              <a:t>Or equivalently, </a:t>
            </a:r>
            <a:r>
              <a:rPr lang="en-US" dirty="0" err="1"/>
              <a:t>get_image_data</a:t>
            </a:r>
            <a:r>
              <a:rPr lang="en-US" dirty="0"/>
              <a:t>() etc.</a:t>
            </a:r>
          </a:p>
          <a:p>
            <a:r>
              <a:rPr lang="en-US" b="1" dirty="0"/>
              <a:t>test()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should a good </a:t>
            </a:r>
            <a:r>
              <a:rPr lang="en-US" i="1" dirty="0" err="1"/>
              <a:t>init</a:t>
            </a:r>
            <a:r>
              <a:rPr lang="en-US" i="1" dirty="0"/>
              <a:t>()</a:t>
            </a:r>
            <a:r>
              <a:rPr lang="en-US" dirty="0"/>
              <a:t> be like / do?</a:t>
            </a:r>
          </a:p>
          <a:p>
            <a:r>
              <a:rPr lang="en-US" dirty="0"/>
              <a:t>Initialize all modules below it in the hierarchy</a:t>
            </a:r>
          </a:p>
          <a:p>
            <a:r>
              <a:rPr lang="en-US" dirty="0"/>
              <a:t>OK to be called multiple times</a:t>
            </a:r>
          </a:p>
          <a:p>
            <a:r>
              <a:rPr lang="en-US" dirty="0"/>
              <a:t>Resets system to a known state in case of partial failure</a:t>
            </a:r>
          </a:p>
        </p:txBody>
      </p:sp>
    </p:spTree>
    <p:extLst>
      <p:ext uri="{BB962C8B-B14F-4D97-AF65-F5344CB8AC3E}">
        <p14:creationId xmlns:p14="http://schemas.microsoft.com/office/powerpoint/2010/main" val="1276809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7751C-871B-4448-B966-1FE5195C1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Model-View-Controller (MVC)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EAB79-75AB-47E4-8AFB-46113EE21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500" dirty="0"/>
              <a:t>Purpose: isolate the algorithm (the gooey center of the application) from the UI for independent development and testing</a:t>
            </a:r>
          </a:p>
          <a:p>
            <a:r>
              <a:rPr lang="en-US" sz="2500" dirty="0"/>
              <a:t>View: interface to the user (or other hardware), including input from sensors or output to actuators</a:t>
            </a:r>
          </a:p>
          <a:p>
            <a:r>
              <a:rPr lang="en-US" sz="2500" dirty="0"/>
              <a:t>Model: domain-specific data and logic</a:t>
            </a:r>
          </a:p>
          <a:p>
            <a:r>
              <a:rPr lang="en-US" sz="2500" dirty="0"/>
              <a:t>Controller: glue between Model and View</a:t>
            </a:r>
          </a:p>
          <a:p>
            <a:pPr lvl="1"/>
            <a:r>
              <a:rPr lang="en-US" sz="2100" dirty="0"/>
              <a:t>Handles how to get the inputs to the model for processing and outputs from the model for display / communication</a:t>
            </a:r>
          </a:p>
          <a:p>
            <a:pPr marL="0" indent="0">
              <a:buNone/>
            </a:pPr>
            <a:r>
              <a:rPr lang="en-US" sz="2500" dirty="0"/>
              <a:t>Why?</a:t>
            </a:r>
          </a:p>
          <a:p>
            <a:r>
              <a:rPr lang="en-US" sz="2500" dirty="0"/>
              <a:t>Replace views with virtual / file-based inputs and outputs</a:t>
            </a:r>
          </a:p>
          <a:p>
            <a:r>
              <a:rPr lang="en-US" sz="2500" dirty="0"/>
              <a:t>Test the core (model) under a variety of conditions</a:t>
            </a:r>
          </a:p>
          <a:p>
            <a:r>
              <a:rPr lang="en-US" sz="2500" dirty="0"/>
              <a:t>Portability – application core is independent of externals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329707-944C-421E-8421-85448B881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317A7D-4955-4640-A7BB-93941BB52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4933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CC8E0-77E1-4549-8E57-C94EE679B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in your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C1EDC-08AD-4077-8A18-1D652B0CCB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6211"/>
            <a:ext cx="9144000" cy="5014912"/>
          </a:xfrm>
        </p:spPr>
        <p:txBody>
          <a:bodyPr/>
          <a:lstStyle/>
          <a:p>
            <a:r>
              <a:rPr lang="en-US" sz="2400" dirty="0"/>
              <a:t>View is the UART (interface to the user)</a:t>
            </a:r>
          </a:p>
          <a:p>
            <a:r>
              <a:rPr lang="en-US" sz="2400" dirty="0"/>
              <a:t>Controller: a small module that you will write to supply UART inputs to the core logic and extract logic outputs over UART to your PC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45A948-3D66-4D3D-8A49-94D324216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F83720-9613-4976-B95F-9D455AECB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23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168DAFD-A14E-4715-B289-2D6360C80A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2895600"/>
            <a:ext cx="8198780" cy="1066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3E26EF6-8C34-474D-9E86-14B8E174CE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7355" y="4724400"/>
            <a:ext cx="7239381" cy="1122482"/>
          </a:xfrm>
          <a:prstGeom prst="rect">
            <a:avLst/>
          </a:prstGeom>
        </p:spPr>
      </p:pic>
      <p:sp>
        <p:nvSpPr>
          <p:cNvPr id="10" name="Arrow: Bent-Up 9">
            <a:extLst>
              <a:ext uri="{FF2B5EF4-FFF2-40B4-BE49-F238E27FC236}">
                <a16:creationId xmlns:a16="http://schemas.microsoft.com/office/drawing/2014/main" id="{91F1E4DB-0C51-40FA-BBA8-90E29E4A0FC2}"/>
              </a:ext>
            </a:extLst>
          </p:cNvPr>
          <p:cNvSpPr/>
          <p:nvPr/>
        </p:nvSpPr>
        <p:spPr>
          <a:xfrm rot="5400000">
            <a:off x="686943" y="4218686"/>
            <a:ext cx="850392" cy="731520"/>
          </a:xfrm>
          <a:prstGeom prst="bent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035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3BAAD-F9BD-40DA-8E0D-D67198789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Organizing your code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BC5826-832E-4DA5-BA23-B8A021158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14114A-2FEB-4AAF-9C91-2C2C2A522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24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34F1AF-A082-479E-BD7E-0DD8842845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1236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61E22F8D-4B4D-4D74-BCE6-F3A9BA2F534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" b="58875"/>
          <a:stretch/>
        </p:blipFill>
        <p:spPr bwMode="auto">
          <a:xfrm>
            <a:off x="176784" y="1908591"/>
            <a:ext cx="8839200" cy="16401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D135F828-9547-46D2-B3F8-9BF31F32C73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" b="27335"/>
          <a:stretch/>
        </p:blipFill>
        <p:spPr bwMode="auto">
          <a:xfrm>
            <a:off x="152400" y="1902496"/>
            <a:ext cx="8839200" cy="28981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Content Placeholder 6">
            <a:extLst>
              <a:ext uri="{FF2B5EF4-FFF2-40B4-BE49-F238E27FC236}">
                <a16:creationId xmlns:a16="http://schemas.microsoft.com/office/drawing/2014/main" id="{5A673820-B16E-48E8-938D-B8720ADD5E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" b="-3233"/>
          <a:stretch/>
        </p:blipFill>
        <p:spPr bwMode="auto">
          <a:xfrm>
            <a:off x="176784" y="1902496"/>
            <a:ext cx="8839200" cy="41173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85CA19D-CB9F-421A-9F7A-F5449892A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many ways to blink an LED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265DC40-4AC0-4D08-A612-9590942DDE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57103" b="89900"/>
          <a:stretch/>
        </p:blipFill>
        <p:spPr>
          <a:xfrm>
            <a:off x="170688" y="1908592"/>
            <a:ext cx="3791712" cy="40283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38B2B8-35BC-483D-9AF9-2288804CB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108A46-63CC-45A9-A39B-AE0D3B487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25</a:t>
            </a:fld>
            <a:endParaRPr lang="en-US" altLang="en-US"/>
          </a:p>
        </p:txBody>
      </p:sp>
      <p:pic>
        <p:nvPicPr>
          <p:cNvPr id="9" name="Content Placeholder 6">
            <a:extLst>
              <a:ext uri="{FF2B5EF4-FFF2-40B4-BE49-F238E27FC236}">
                <a16:creationId xmlns:a16="http://schemas.microsoft.com/office/drawing/2014/main" id="{F17FD713-3275-4629-8D35-2E203C65D2A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254" r="50276" b="75099"/>
          <a:stretch/>
        </p:blipFill>
        <p:spPr bwMode="auto">
          <a:xfrm>
            <a:off x="176784" y="2311422"/>
            <a:ext cx="4395216" cy="5841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CC0AD16-6AB2-44D9-93A6-349A3AFB84AD}"/>
              </a:ext>
            </a:extLst>
          </p:cNvPr>
          <p:cNvSpPr txBox="1"/>
          <p:nvPr/>
        </p:nvSpPr>
        <p:spPr>
          <a:xfrm>
            <a:off x="4038600" y="5239434"/>
            <a:ext cx="5105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EA3F26"/>
                </a:solidFill>
              </a:rPr>
              <a:t>Read – Modify – Write cycle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EA3F26"/>
                </a:solidFill>
              </a:rPr>
              <a:t>Must be atomic, i.e. complete as a single unit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EA3F26"/>
                </a:solidFill>
              </a:rPr>
              <a:t>Otherwise: unintended consequences!</a:t>
            </a:r>
          </a:p>
        </p:txBody>
      </p:sp>
      <p:pic>
        <p:nvPicPr>
          <p:cNvPr id="16" name="Content Placeholder 6">
            <a:extLst>
              <a:ext uri="{FF2B5EF4-FFF2-40B4-BE49-F238E27FC236}">
                <a16:creationId xmlns:a16="http://schemas.microsoft.com/office/drawing/2014/main" id="{5A3DF5B2-D1EE-4BF0-A2FB-B930BD6C10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5345" b="89686"/>
          <a:stretch/>
        </p:blipFill>
        <p:spPr bwMode="auto">
          <a:xfrm>
            <a:off x="3276600" y="1904809"/>
            <a:ext cx="5715000" cy="4113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Content Placeholder 6">
            <a:extLst>
              <a:ext uri="{FF2B5EF4-FFF2-40B4-BE49-F238E27FC236}">
                <a16:creationId xmlns:a16="http://schemas.microsoft.com/office/drawing/2014/main" id="{1C4FF83A-C28A-41A0-A0CA-FC51934CC0D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138" t="465" b="76431"/>
          <a:stretch/>
        </p:blipFill>
        <p:spPr bwMode="auto">
          <a:xfrm>
            <a:off x="4672584" y="1923366"/>
            <a:ext cx="4319016" cy="9214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AD806B76-D015-4771-AE35-2EB33A6F17C2}"/>
              </a:ext>
            </a:extLst>
          </p:cNvPr>
          <p:cNvGrpSpPr/>
          <p:nvPr/>
        </p:nvGrpSpPr>
        <p:grpSpPr>
          <a:xfrm>
            <a:off x="5715000" y="2362200"/>
            <a:ext cx="3252216" cy="2667000"/>
            <a:chOff x="5715000" y="2362200"/>
            <a:chExt cx="3252216" cy="2667000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B36A35-9394-4045-B4AD-283E95AB7A32}"/>
                </a:ext>
              </a:extLst>
            </p:cNvPr>
            <p:cNvSpPr/>
            <p:nvPr/>
          </p:nvSpPr>
          <p:spPr>
            <a:xfrm>
              <a:off x="5715000" y="2362200"/>
              <a:ext cx="3252216" cy="533400"/>
            </a:xfrm>
            <a:prstGeom prst="ellipse">
              <a:avLst/>
            </a:prstGeom>
            <a:noFill/>
            <a:ln>
              <a:solidFill>
                <a:srgbClr val="EA3F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2499F936-9461-46AE-B813-85EDCF203B6E}"/>
                </a:ext>
              </a:extLst>
            </p:cNvPr>
            <p:cNvCxnSpPr>
              <a:stCxn id="13" idx="4"/>
            </p:cNvCxnSpPr>
            <p:nvPr/>
          </p:nvCxnSpPr>
          <p:spPr>
            <a:xfrm flipH="1">
              <a:off x="7315200" y="2895600"/>
              <a:ext cx="25908" cy="2133600"/>
            </a:xfrm>
            <a:prstGeom prst="straightConnector1">
              <a:avLst/>
            </a:prstGeom>
            <a:ln w="28575">
              <a:solidFill>
                <a:srgbClr val="EA3F26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4507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0BDDA-1801-4090-9813-F56FEC554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553200" cy="1195386"/>
          </a:xfrm>
        </p:spPr>
        <p:txBody>
          <a:bodyPr/>
          <a:lstStyle/>
          <a:p>
            <a:r>
              <a:rPr lang="en-US" dirty="0"/>
              <a:t>The many ways to blink an LED! Separating hardware from action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6F35809-6A6E-4C52-A4C0-95751A2974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b="91228"/>
          <a:stretch/>
        </p:blipFill>
        <p:spPr>
          <a:xfrm>
            <a:off x="75851" y="1752600"/>
            <a:ext cx="8992298" cy="38100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C57498-BE59-4BD0-8C20-7ADEC2E13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BF2FFB-B80B-4A70-A44E-8BD79961D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26</a:t>
            </a:fld>
            <a:endParaRPr lang="en-US" altLang="en-US"/>
          </a:p>
        </p:txBody>
      </p:sp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6E768695-FBC3-4A59-8F6C-7AB3CA50F1E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0000" b="56140"/>
          <a:stretch/>
        </p:blipFill>
        <p:spPr bwMode="auto">
          <a:xfrm>
            <a:off x="75851" y="1752600"/>
            <a:ext cx="4496149" cy="190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Content Placeholder 6">
            <a:extLst>
              <a:ext uri="{FF2B5EF4-FFF2-40B4-BE49-F238E27FC236}">
                <a16:creationId xmlns:a16="http://schemas.microsoft.com/office/drawing/2014/main" id="{E258FAC3-086C-4EDC-B963-8B333F81E4B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6140"/>
          <a:stretch/>
        </p:blipFill>
        <p:spPr bwMode="auto">
          <a:xfrm>
            <a:off x="75851" y="1752600"/>
            <a:ext cx="8992298" cy="190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42802742-8454-416B-9145-2D3C4BF4955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1" b="45614"/>
          <a:stretch/>
        </p:blipFill>
        <p:spPr bwMode="auto">
          <a:xfrm>
            <a:off x="152400" y="1752600"/>
            <a:ext cx="8992298" cy="236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5493C6F9-01C4-4CD2-86BE-7730CF91D2C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6140" r="61863" b="-1"/>
          <a:stretch/>
        </p:blipFill>
        <p:spPr bwMode="auto">
          <a:xfrm>
            <a:off x="75851" y="4190998"/>
            <a:ext cx="3429349" cy="1905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Content Placeholder 6">
            <a:extLst>
              <a:ext uri="{FF2B5EF4-FFF2-40B4-BE49-F238E27FC236}">
                <a16:creationId xmlns:a16="http://schemas.microsoft.com/office/drawing/2014/main" id="{1C85F5AE-3B4F-4D91-9107-6E0BBF277E9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8139" t="56140" r="-3" b="-1"/>
          <a:stretch/>
        </p:blipFill>
        <p:spPr bwMode="auto">
          <a:xfrm>
            <a:off x="3505200" y="4190997"/>
            <a:ext cx="5562948" cy="1905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50277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45828-B82B-44E1-A9B1-0AC83E3F7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934200" cy="1195386"/>
          </a:xfrm>
        </p:spPr>
        <p:txBody>
          <a:bodyPr/>
          <a:lstStyle/>
          <a:p>
            <a:r>
              <a:rPr lang="en-US" dirty="0"/>
              <a:t>The many ways to blink an LED! Separating hardware from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88B2-3B2E-4F6C-A817-E26E54A1D1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Board-specific header files and version reuse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5F6088-9C95-4574-AB7D-62D692727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B67A67-80D3-4FAF-A68C-EAC1126E1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27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D15B54-BCFF-4023-82CD-F057AADCBE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99" y="2202852"/>
            <a:ext cx="6660157" cy="2064347"/>
          </a:xfrm>
          <a:prstGeom prst="rect">
            <a:avLst/>
          </a:prstGeom>
        </p:spPr>
      </p:pic>
      <p:pic>
        <p:nvPicPr>
          <p:cNvPr id="9" name="Content Placeholder 6">
            <a:extLst>
              <a:ext uri="{FF2B5EF4-FFF2-40B4-BE49-F238E27FC236}">
                <a16:creationId xmlns:a16="http://schemas.microsoft.com/office/drawing/2014/main" id="{868618D4-8F5A-4B3E-809C-6C8A82FBF45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5087" t="80702" r="-3" b="-1"/>
          <a:stretch/>
        </p:blipFill>
        <p:spPr bwMode="auto">
          <a:xfrm>
            <a:off x="3161466" y="4635895"/>
            <a:ext cx="550767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23485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5314C-970B-440B-869C-F611F519B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many ways to blink an LED</a:t>
            </a:r>
            <a:br>
              <a:rPr lang="en-US" dirty="0"/>
            </a:br>
            <a:r>
              <a:rPr lang="en-US" dirty="0"/>
              <a:t>I/O handling code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13F63B8-6CCE-4232-A80D-5BBA6B9F04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b="74787"/>
          <a:stretch/>
        </p:blipFill>
        <p:spPr>
          <a:xfrm>
            <a:off x="114300" y="1685226"/>
            <a:ext cx="8915400" cy="105797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F13DAC-0318-4A47-B03F-90E3796EF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C9C1E6-B711-4B68-BC68-5853FA5D6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  <p:pic>
        <p:nvPicPr>
          <p:cNvPr id="11" name="Content Placeholder 8">
            <a:extLst>
              <a:ext uri="{FF2B5EF4-FFF2-40B4-BE49-F238E27FC236}">
                <a16:creationId xmlns:a16="http://schemas.microsoft.com/office/drawing/2014/main" id="{18BEDDC3-15B4-4762-80F6-8627CE08114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" b="-1484"/>
          <a:stretch/>
        </p:blipFill>
        <p:spPr bwMode="auto">
          <a:xfrm>
            <a:off x="111252" y="1685224"/>
            <a:ext cx="8915400" cy="4258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C2BC368-341C-4EDA-B492-327D795583A3}"/>
              </a:ext>
            </a:extLst>
          </p:cNvPr>
          <p:cNvSpPr txBox="1">
            <a:spLocks/>
          </p:cNvSpPr>
          <p:nvPr/>
        </p:nvSpPr>
        <p:spPr bwMode="auto">
          <a:xfrm>
            <a:off x="5833872" y="1565718"/>
            <a:ext cx="3195828" cy="1296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 err="1"/>
              <a:t>IOWrite</a:t>
            </a:r>
            <a:r>
              <a:rPr lang="en-US" sz="1800" dirty="0"/>
              <a:t>: does everything in one function, so less code space</a:t>
            </a:r>
          </a:p>
          <a:p>
            <a:r>
              <a:rPr lang="en-US" sz="1800" dirty="0"/>
              <a:t>More parameters </a:t>
            </a:r>
            <a:r>
              <a:rPr lang="en-US" sz="1800" dirty="0">
                <a:sym typeface="Wingdings" panose="05000000000000000000" pitchFamily="2" charset="2"/>
              </a:rPr>
              <a:t> more stack</a:t>
            </a:r>
          </a:p>
        </p:txBody>
      </p:sp>
    </p:spTree>
    <p:extLst>
      <p:ext uri="{BB962C8B-B14F-4D97-AF65-F5344CB8AC3E}">
        <p14:creationId xmlns:p14="http://schemas.microsoft.com/office/powerpoint/2010/main" val="3246331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F16EB-2FA1-43D0-98C5-8CAA83E34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8839200" cy="1195386"/>
          </a:xfrm>
        </p:spPr>
        <p:txBody>
          <a:bodyPr/>
          <a:lstStyle/>
          <a:p>
            <a:r>
              <a:rPr lang="en-US" dirty="0"/>
              <a:t>The many ways to blink an LED</a:t>
            </a:r>
            <a:br>
              <a:rPr lang="en-US" dirty="0"/>
            </a:br>
            <a:r>
              <a:rPr lang="en-US" dirty="0"/>
              <a:t>Simplifying the main interface (façade)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18F41D0-C729-46E4-BE6F-F335E49C5F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b="72258"/>
          <a:stretch/>
        </p:blipFill>
        <p:spPr>
          <a:xfrm>
            <a:off x="0" y="1546111"/>
            <a:ext cx="9144000" cy="1044689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F1A825-586A-4667-A60C-12AC3AFB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24F6BC-E6F6-419B-B242-A726F2527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A98F45FE-8CCA-4B3C-B08D-0E2FCB936DB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0970"/>
          <a:stretch/>
        </p:blipFill>
        <p:spPr bwMode="auto">
          <a:xfrm>
            <a:off x="0" y="1546110"/>
            <a:ext cx="9144000" cy="18463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Content Placeholder 6">
            <a:extLst>
              <a:ext uri="{FF2B5EF4-FFF2-40B4-BE49-F238E27FC236}">
                <a16:creationId xmlns:a16="http://schemas.microsoft.com/office/drawing/2014/main" id="{59D4EE9B-D516-4830-8FCC-DBA0C8506BF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14"/>
          <a:stretch/>
        </p:blipFill>
        <p:spPr bwMode="auto">
          <a:xfrm>
            <a:off x="0" y="1575428"/>
            <a:ext cx="9144000" cy="37425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43923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3C1DB-3E97-4779-BE4C-B80A5D335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Integrating 3</a:t>
            </a:r>
            <a:r>
              <a:rPr lang="en-US" baseline="30000" dirty="0"/>
              <a:t>rd</a:t>
            </a:r>
            <a:r>
              <a:rPr lang="en-US" dirty="0"/>
              <a:t> party 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E5E16-1485-4B8E-B590-2808AC1298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Example: BME280 sensor from Bosch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1A287D-772B-40E9-987E-731B53892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8B950E-6EC6-43A0-98C8-7AC598CD9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30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ADCE70-653E-45DE-A27B-3B3657940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3048" y="2197846"/>
            <a:ext cx="6477904" cy="4077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2477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58972-C25F-4A5B-AB4F-4CC7316FB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BME280 sensor API:</a:t>
            </a:r>
            <a:br>
              <a:rPr lang="en-US" dirty="0"/>
            </a:br>
            <a:r>
              <a:rPr lang="en-US" dirty="0"/>
              <a:t>bme280_defs.h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D9F8D9-8787-4EC5-8299-0443B9B78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F91E9D-0487-45A1-B57B-64E94DA6D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31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98BF8F-1BB4-4966-8041-2EEF158B7E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476692"/>
            <a:ext cx="3657600" cy="27803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309847-3109-4BD6-B629-2F69084D4AB1}"/>
              </a:ext>
            </a:extLst>
          </p:cNvPr>
          <p:cNvSpPr txBox="1"/>
          <p:nvPr/>
        </p:nvSpPr>
        <p:spPr>
          <a:xfrm>
            <a:off x="266700" y="4410920"/>
            <a:ext cx="3124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Register definitions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B3682BA-8FCD-45E9-9355-A64013DF75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900" y="3314050"/>
            <a:ext cx="5658709" cy="303958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D0495E9-0192-43C2-A3C9-B07D101ACFB5}"/>
              </a:ext>
            </a:extLst>
          </p:cNvPr>
          <p:cNvSpPr txBox="1"/>
          <p:nvPr/>
        </p:nvSpPr>
        <p:spPr>
          <a:xfrm>
            <a:off x="4658154" y="2866863"/>
            <a:ext cx="3124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Utility functions / macros</a:t>
            </a:r>
          </a:p>
        </p:txBody>
      </p:sp>
    </p:spTree>
    <p:extLst>
      <p:ext uri="{BB962C8B-B14F-4D97-AF65-F5344CB8AC3E}">
        <p14:creationId xmlns:p14="http://schemas.microsoft.com/office/powerpoint/2010/main" val="2771278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58972-C25F-4A5B-AB4F-4CC7316FB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BME280 sensor API:</a:t>
            </a:r>
            <a:br>
              <a:rPr lang="en-US" dirty="0"/>
            </a:br>
            <a:r>
              <a:rPr lang="en-US" dirty="0"/>
              <a:t>bme280.h / bme280.c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D9F8D9-8787-4EC5-8299-0443B9B78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F91E9D-0487-45A1-B57B-64E94DA6D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32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98BF8F-1BB4-4966-8041-2EEF158B7E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399" y="1441686"/>
            <a:ext cx="6003174" cy="296923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309847-3109-4BD6-B629-2F69084D4AB1}"/>
              </a:ext>
            </a:extLst>
          </p:cNvPr>
          <p:cNvSpPr txBox="1"/>
          <p:nvPr/>
        </p:nvSpPr>
        <p:spPr>
          <a:xfrm>
            <a:off x="-36576" y="4465961"/>
            <a:ext cx="31074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Useful functions to manipulate the sensor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0495E9-0192-43C2-A3C9-B07D101ACFB5}"/>
              </a:ext>
            </a:extLst>
          </p:cNvPr>
          <p:cNvSpPr txBox="1"/>
          <p:nvPr/>
        </p:nvSpPr>
        <p:spPr>
          <a:xfrm>
            <a:off x="4495800" y="2532587"/>
            <a:ext cx="3514296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/>
              <a:t>How do you talk to the device?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D53159-8EAE-4C7E-83A7-8FDF59E54200}"/>
              </a:ext>
            </a:extLst>
          </p:cNvPr>
          <p:cNvSpPr txBox="1"/>
          <p:nvPr/>
        </p:nvSpPr>
        <p:spPr>
          <a:xfrm>
            <a:off x="152399" y="5138066"/>
            <a:ext cx="465886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bme280_get_sensor_settings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bme280_set_sensor_mode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bme280_soft_reset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bme280_get_sensor_data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E85616-FDC1-41E5-8272-8F082B02D8A2}"/>
              </a:ext>
            </a:extLst>
          </p:cNvPr>
          <p:cNvSpPr txBox="1"/>
          <p:nvPr/>
        </p:nvSpPr>
        <p:spPr>
          <a:xfrm>
            <a:off x="4340353" y="3075335"/>
            <a:ext cx="4800599" cy="255454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Suppose we want to use I2C, supported by the peripheral device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I2C is processor specific (project specific)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Application code is project specific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Sandwiched in between is the project agnostic third party library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72C3E8"/>
                </a:solidFill>
              </a:rPr>
              <a:t>How do we cleanly integrate it?</a:t>
            </a:r>
          </a:p>
        </p:txBody>
      </p:sp>
    </p:spTree>
    <p:extLst>
      <p:ext uri="{BB962C8B-B14F-4D97-AF65-F5344CB8AC3E}">
        <p14:creationId xmlns:p14="http://schemas.microsoft.com/office/powerpoint/2010/main" val="251890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  <p:bldP spid="10" grpId="0"/>
      <p:bldP spid="13" grpId="0" build="p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6BCAA-6F3E-4001-A0F1-58AED1142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Integrating third party libraries:</a:t>
            </a:r>
            <a:br>
              <a:rPr lang="en-US" dirty="0"/>
            </a:br>
            <a:r>
              <a:rPr lang="en-US" dirty="0"/>
              <a:t>the glue for sandwich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946088B-BE10-484D-9A1C-4B1E1A0CB2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400" y="1795764"/>
            <a:ext cx="7842504" cy="165762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969D96-E92B-465D-8D5F-842AF3D62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C09B9D-2D78-4A61-89B9-65CF99122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33</a:t>
            </a:fld>
            <a:endParaRPr lang="en-US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A505C2-1948-4FD9-89E1-DF606E14ADD6}"/>
              </a:ext>
            </a:extLst>
          </p:cNvPr>
          <p:cNvSpPr txBox="1"/>
          <p:nvPr/>
        </p:nvSpPr>
        <p:spPr>
          <a:xfrm>
            <a:off x="0" y="1441821"/>
            <a:ext cx="8915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2C3E8"/>
                </a:solidFill>
              </a:rPr>
              <a:t>1. </a:t>
            </a:r>
            <a:r>
              <a:rPr lang="en-US" sz="2000" dirty="0" err="1">
                <a:solidFill>
                  <a:srgbClr val="72C3E8"/>
                </a:solidFill>
              </a:rPr>
              <a:t>bme</a:t>
            </a:r>
            <a:r>
              <a:rPr lang="en-US" sz="2000" dirty="0">
                <a:solidFill>
                  <a:srgbClr val="72C3E8"/>
                </a:solidFill>
              </a:rPr>
              <a:t> library internally defines a </a:t>
            </a:r>
            <a:r>
              <a:rPr lang="en-US" sz="2000" dirty="0" err="1">
                <a:solidFill>
                  <a:srgbClr val="72C3E8"/>
                </a:solidFill>
              </a:rPr>
              <a:t>set_regs</a:t>
            </a:r>
            <a:r>
              <a:rPr lang="en-US" sz="2000" dirty="0">
                <a:solidFill>
                  <a:srgbClr val="72C3E8"/>
                </a:solidFill>
              </a:rPr>
              <a:t>() function to set register values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A669F1-73AC-43BA-809E-B6213A8FCF4A}"/>
              </a:ext>
            </a:extLst>
          </p:cNvPr>
          <p:cNvSpPr txBox="1"/>
          <p:nvPr/>
        </p:nvSpPr>
        <p:spPr>
          <a:xfrm>
            <a:off x="0" y="3505200"/>
            <a:ext cx="8915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2C3E8"/>
                </a:solidFill>
              </a:rPr>
              <a:t>2. </a:t>
            </a:r>
            <a:r>
              <a:rPr lang="en-US" sz="2000" dirty="0" err="1">
                <a:solidFill>
                  <a:srgbClr val="72C3E8"/>
                </a:solidFill>
              </a:rPr>
              <a:t>set_regs</a:t>
            </a:r>
            <a:r>
              <a:rPr lang="en-US" sz="2000" dirty="0">
                <a:solidFill>
                  <a:srgbClr val="72C3E8"/>
                </a:solidFill>
              </a:rPr>
              <a:t> uses a user-defined </a:t>
            </a:r>
            <a:r>
              <a:rPr lang="en-US" sz="2000" dirty="0" err="1">
                <a:solidFill>
                  <a:srgbClr val="72C3E8"/>
                </a:solidFill>
              </a:rPr>
              <a:t>dev.write</a:t>
            </a:r>
            <a:r>
              <a:rPr lang="en-US" sz="2000" dirty="0">
                <a:solidFill>
                  <a:srgbClr val="72C3E8"/>
                </a:solidFill>
              </a:rPr>
              <a:t> (or dev-&gt;write) function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E34986-C770-44EA-892C-79ECE5AD7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3943289"/>
            <a:ext cx="6416608" cy="2148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376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  <p:bldP spid="9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6BCAA-6F3E-4001-A0F1-58AED1142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Integrating third party libraries:</a:t>
            </a:r>
            <a:br>
              <a:rPr lang="en-US" dirty="0"/>
            </a:br>
            <a:r>
              <a:rPr lang="en-US" dirty="0"/>
              <a:t>the glue for sandwich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969D96-E92B-465D-8D5F-842AF3D62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C09B9D-2D78-4A61-89B9-65CF99122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34</a:t>
            </a:fld>
            <a:endParaRPr lang="en-US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A505C2-1948-4FD9-89E1-DF606E14ADD6}"/>
              </a:ext>
            </a:extLst>
          </p:cNvPr>
          <p:cNvSpPr txBox="1"/>
          <p:nvPr/>
        </p:nvSpPr>
        <p:spPr>
          <a:xfrm>
            <a:off x="0" y="1441821"/>
            <a:ext cx="9067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2C3E8"/>
                </a:solidFill>
              </a:rPr>
              <a:t>3. Library will provide a struct / class through which this write function pointer is used by the library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EC7516E-F88A-49E2-81DF-00288259B6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2098195"/>
            <a:ext cx="3785869" cy="4510187"/>
          </a:xfrm>
          <a:prstGeom prst="rect">
            <a:avLst/>
          </a:prstGeom>
        </p:spPr>
      </p:pic>
      <p:pic>
        <p:nvPicPr>
          <p:cNvPr id="12" name="Content Placeholder 6">
            <a:extLst>
              <a:ext uri="{FF2B5EF4-FFF2-40B4-BE49-F238E27FC236}">
                <a16:creationId xmlns:a16="http://schemas.microsoft.com/office/drawing/2014/main" id="{A2469CD8-32F1-4A7C-A7FB-47B793D083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58824" y="2342167"/>
            <a:ext cx="7842504" cy="1657620"/>
          </a:xfr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6E6CD14-2181-4492-A3E7-9AB783903F54}"/>
              </a:ext>
            </a:extLst>
          </p:cNvPr>
          <p:cNvSpPr txBox="1"/>
          <p:nvPr/>
        </p:nvSpPr>
        <p:spPr>
          <a:xfrm>
            <a:off x="1905000" y="3999787"/>
            <a:ext cx="7239000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2C3E8"/>
                </a:solidFill>
              </a:rPr>
              <a:t>4. Your code (sensor </a:t>
            </a:r>
            <a:r>
              <a:rPr lang="en-US" sz="2000" dirty="0" err="1">
                <a:solidFill>
                  <a:srgbClr val="72C3E8"/>
                </a:solidFill>
              </a:rPr>
              <a:t>init</a:t>
            </a:r>
            <a:r>
              <a:rPr lang="en-US" sz="2000" dirty="0">
                <a:solidFill>
                  <a:srgbClr val="72C3E8"/>
                </a:solidFill>
              </a:rPr>
              <a:t> module): define the i2c write function; then initialize the </a:t>
            </a:r>
            <a:r>
              <a:rPr lang="en-US" sz="2000" dirty="0" err="1">
                <a:solidFill>
                  <a:srgbClr val="72C3E8"/>
                </a:solidFill>
              </a:rPr>
              <a:t>bme</a:t>
            </a:r>
            <a:r>
              <a:rPr lang="en-US" sz="2000" dirty="0">
                <a:solidFill>
                  <a:srgbClr val="72C3E8"/>
                </a:solidFill>
              </a:rPr>
              <a:t> device with pointer to your function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83F31B-499D-4912-8BC4-CDD4C780E6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1869" y="4672563"/>
            <a:ext cx="6858000" cy="98089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B75EAAB-6563-4337-AEB5-091BF8CE10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9092" y="6160231"/>
            <a:ext cx="2694833" cy="69776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2460E62-E747-41BC-8E9D-E3ED3A7C4E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9980" y="5652644"/>
            <a:ext cx="1930479" cy="98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097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  <p:bldP spid="14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A6C6C-26BA-4589-B379-D2F196B56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we are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AFE50A-2F41-42E0-AF97-7F23144A5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4546173" cy="5014912"/>
          </a:xfrm>
        </p:spPr>
        <p:txBody>
          <a:bodyPr/>
          <a:lstStyle/>
          <a:p>
            <a:r>
              <a:rPr lang="en-US" sz="2400" dirty="0"/>
              <a:t>Modeling </a:t>
            </a:r>
            <a:r>
              <a:rPr lang="en-US" sz="2400" dirty="0">
                <a:sym typeface="Wingdings" panose="05000000000000000000" pitchFamily="2" charset="2"/>
              </a:rPr>
              <a:t> correct behavior by ensuring we have ‘</a:t>
            </a:r>
            <a:r>
              <a:rPr lang="en-US" sz="2400" dirty="0">
                <a:solidFill>
                  <a:srgbClr val="72C3E8"/>
                </a:solidFill>
                <a:sym typeface="Wingdings" panose="05000000000000000000" pitchFamily="2" charset="2"/>
              </a:rPr>
              <a:t>thought</a:t>
            </a:r>
            <a:r>
              <a:rPr lang="en-US" sz="2400" dirty="0">
                <a:sym typeface="Wingdings" panose="05000000000000000000" pitchFamily="2" charset="2"/>
              </a:rPr>
              <a:t>’ of all possibilities</a:t>
            </a:r>
          </a:p>
          <a:p>
            <a:r>
              <a:rPr lang="en-US" sz="2400" dirty="0">
                <a:sym typeface="Wingdings" panose="05000000000000000000" pitchFamily="2" charset="2"/>
              </a:rPr>
              <a:t>but </a:t>
            </a:r>
            <a:r>
              <a:rPr lang="en-US" sz="2400" dirty="0">
                <a:solidFill>
                  <a:srgbClr val="72C3E8"/>
                </a:solidFill>
                <a:sym typeface="Wingdings" panose="05000000000000000000" pitchFamily="2" charset="2"/>
              </a:rPr>
              <a:t>not yet implemented</a:t>
            </a:r>
            <a:r>
              <a:rPr lang="en-US" sz="2400" dirty="0">
                <a:sym typeface="Wingdings" panose="05000000000000000000" pitchFamily="2" charset="2"/>
              </a:rPr>
              <a:t>!</a:t>
            </a:r>
          </a:p>
          <a:p>
            <a:r>
              <a:rPr lang="en-US" sz="2400" dirty="0">
                <a:sym typeface="Wingdings" panose="05000000000000000000" pitchFamily="2" charset="2"/>
              </a:rPr>
              <a:t>Firmware architecture (so far) </a:t>
            </a:r>
          </a:p>
          <a:p>
            <a:pPr lvl="1"/>
            <a:r>
              <a:rPr lang="en-US" sz="2000" dirty="0">
                <a:solidFill>
                  <a:srgbClr val="EA3F26"/>
                </a:solidFill>
                <a:sym typeface="Wingdings" panose="05000000000000000000" pitchFamily="2" charset="2"/>
              </a:rPr>
              <a:t>what</a:t>
            </a:r>
            <a:r>
              <a:rPr lang="en-US" sz="2000" dirty="0">
                <a:sym typeface="Wingdings" panose="05000000000000000000" pitchFamily="2" charset="2"/>
              </a:rPr>
              <a:t> pieces of code (loosely coupled, modules) do we need</a:t>
            </a:r>
          </a:p>
          <a:p>
            <a:pPr lvl="1"/>
            <a:r>
              <a:rPr lang="en-US" sz="2000" dirty="0">
                <a:solidFill>
                  <a:srgbClr val="EA3F26"/>
                </a:solidFill>
                <a:sym typeface="Wingdings" panose="05000000000000000000" pitchFamily="2" charset="2"/>
              </a:rPr>
              <a:t>how</a:t>
            </a:r>
            <a:r>
              <a:rPr lang="en-US" sz="2000" dirty="0">
                <a:sym typeface="Wingdings" panose="05000000000000000000" pitchFamily="2" charset="2"/>
              </a:rPr>
              <a:t> these pieces control each other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10D959-B3FA-4F8D-8684-9AA768BF2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35DAB-48D3-4143-83FD-FB11C25BE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35</a:t>
            </a:fld>
            <a:endParaRPr lang="en-US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79CD4A-3BAE-436E-B06C-2E7B3A9042D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698573" y="1446211"/>
            <a:ext cx="4293027" cy="3073151"/>
          </a:xfrm>
          <a:prstGeom prst="rect">
            <a:avLst/>
          </a:prstGeom>
        </p:spPr>
      </p:pic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1A5EFE70-BA98-490F-88B2-2C03F1670F81}"/>
              </a:ext>
            </a:extLst>
          </p:cNvPr>
          <p:cNvSpPr txBox="1">
            <a:spLocks/>
          </p:cNvSpPr>
          <p:nvPr/>
        </p:nvSpPr>
        <p:spPr bwMode="auto">
          <a:xfrm>
            <a:off x="152400" y="4876799"/>
            <a:ext cx="8839200" cy="17367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sym typeface="Wingdings" panose="05000000000000000000" pitchFamily="2" charset="2"/>
              </a:rPr>
              <a:t>What have we still not decided?</a:t>
            </a:r>
          </a:p>
          <a:p>
            <a:r>
              <a:rPr lang="en-US" sz="2400" dirty="0">
                <a:sym typeface="Wingdings" panose="05000000000000000000" pitchFamily="2" charset="2"/>
              </a:rPr>
              <a:t>Application layer organization – how is the main logic implemented</a:t>
            </a:r>
          </a:p>
          <a:p>
            <a:r>
              <a:rPr lang="en-US" sz="2400" dirty="0">
                <a:solidFill>
                  <a:srgbClr val="EA3F26"/>
                </a:solidFill>
                <a:sym typeface="Wingdings" panose="05000000000000000000" pitchFamily="2" charset="2"/>
              </a:rPr>
              <a:t>When </a:t>
            </a:r>
            <a:r>
              <a:rPr lang="en-US" sz="2400" dirty="0">
                <a:sym typeface="Wingdings" panose="05000000000000000000" pitchFamily="2" charset="2"/>
              </a:rPr>
              <a:t>do these pieces of code run?</a:t>
            </a:r>
          </a:p>
        </p:txBody>
      </p:sp>
    </p:spTree>
    <p:extLst>
      <p:ext uri="{BB962C8B-B14F-4D97-AF65-F5344CB8AC3E}">
        <p14:creationId xmlns:p14="http://schemas.microsoft.com/office/powerpoint/2010/main" val="2333167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9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EDBBD-7815-4F90-8740-2769965C9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Organization of the application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80FDBF-39F5-41B9-94E9-87F94477E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Application layer is the main (gooey) logic of your system; but within the app layer:</a:t>
            </a:r>
          </a:p>
          <a:p>
            <a:r>
              <a:rPr lang="en-US" dirty="0"/>
              <a:t>Is there a single controller that decides what to do next?</a:t>
            </a:r>
          </a:p>
          <a:p>
            <a:r>
              <a:rPr lang="en-US" dirty="0"/>
              <a:t>Are there multiple controllers?</a:t>
            </a:r>
          </a:p>
          <a:p>
            <a:r>
              <a:rPr lang="en-US" dirty="0"/>
              <a:t>Who receives events from the lower layers?</a:t>
            </a:r>
          </a:p>
          <a:p>
            <a:r>
              <a:rPr lang="en-US" dirty="0"/>
              <a:t>Who decides the mode or ‘state’?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DA3D6-CF4F-44B5-A015-FA8A179CF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50C85B-39D3-4CAC-AFCE-04BB6E168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11433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1468F-25C2-4CAC-9987-DE189BF8B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I: Monolithic controller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5141B-042C-4406-B6ED-8E5B5D77A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One central state machine that handles all state transitions and events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05ED3C-AF8F-4D05-A6DE-44E40EA1B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132ACE-58A5-4406-862B-7A0A696B7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37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BD03711-127B-4157-AF46-371842D84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590800"/>
            <a:ext cx="1752600" cy="35279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BEC9AE-0B61-49C7-8A77-1F4405109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2438400"/>
            <a:ext cx="4038600" cy="2860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D51DD68-A85B-4172-883C-D391CE573E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2818475"/>
            <a:ext cx="4038600" cy="358305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8B26B9D-B287-4400-AA50-DD278582840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23923" y="3429000"/>
            <a:ext cx="2798157" cy="15301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15226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32BC5-ED82-45AF-98D8-BD4D91FC5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II: Coordinated controllers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AD11B-EEBD-4F2C-B90B-CBA80FA8D6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dirty="0"/>
              <a:t>Separate state machines control therapy, alarm and UI</a:t>
            </a:r>
          </a:p>
          <a:p>
            <a:r>
              <a:rPr lang="en-US" sz="2400" dirty="0"/>
              <a:t>Coordination via defined interfaces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22A42-6844-4CCF-BBA1-1D79F0A22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D871F3-1A09-4CC2-8985-0C6E81ACB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38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C2BBA2-6B52-471D-947D-C659A7897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2362200"/>
            <a:ext cx="3459193" cy="3200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0BA3B1D-0D03-47DF-B117-EAC30870A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825313"/>
            <a:ext cx="3581400" cy="203268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234F7E5-5E17-4CA3-B7C8-956E64CF78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800" y="2362200"/>
            <a:ext cx="2895600" cy="19213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E243BA-02C8-4253-A33D-E4D2E3F73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0924" y="4075461"/>
            <a:ext cx="3057952" cy="2248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942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85BBD-20FC-4A42-8589-EF018D7E6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III: Event dispatcher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4E822-1124-4F9F-98B4-4ED1070C7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One central dispatcher receives events</a:t>
            </a:r>
          </a:p>
          <a:p>
            <a:r>
              <a:rPr lang="en-US" sz="2400" dirty="0"/>
              <a:t>Separate controllers subscribe to events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3D13E-ACCD-43A5-9007-17B879D00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E4A240-8AA9-42B5-8214-D6ECED31E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39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F49AEB-5DE4-44ED-B36F-F3FF69834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2286000"/>
            <a:ext cx="3503449" cy="4572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DB9CFE5-8A71-4FD4-98E9-B1EF1CEF10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6668" y="2286000"/>
            <a:ext cx="3873083" cy="42580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77F0001-114D-4571-9FCC-43D4758457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9099" y="3429000"/>
            <a:ext cx="4124901" cy="13527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3F157D-41B3-47AD-AE6C-24D8248825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7996" y="4865260"/>
            <a:ext cx="2896004" cy="175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30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54CFDEB-D860-495E-92C1-68DF7ABF3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73" y="1368322"/>
            <a:ext cx="8985395" cy="34322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B1EA9F-374D-4869-9151-7A70469BC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Event ownership at application level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846B5EC-541D-4406-80C2-69AA0C4314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1083941"/>
              </p:ext>
            </p:extLst>
          </p:nvPr>
        </p:nvGraphicFramePr>
        <p:xfrm>
          <a:off x="152400" y="2523680"/>
          <a:ext cx="6096000" cy="3193136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387486778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39972853"/>
                    </a:ext>
                  </a:extLst>
                </a:gridCol>
              </a:tblGrid>
              <a:tr h="638264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Event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Owned By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8616004"/>
                  </a:ext>
                </a:extLst>
              </a:tr>
              <a:tr h="638264">
                <a:tc>
                  <a:txBody>
                    <a:bodyPr/>
                    <a:lstStyle/>
                    <a:p>
                      <a:r>
                        <a:rPr lang="en-US"/>
                        <a:t>Start button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Therapy Controller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0623076"/>
                  </a:ext>
                </a:extLst>
              </a:tr>
              <a:tr h="638264">
                <a:tc>
                  <a:txBody>
                    <a:bodyPr/>
                    <a:lstStyle/>
                    <a:p>
                      <a:r>
                        <a:rPr lang="en-US" dirty="0"/>
                        <a:t>Occlusion detected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Alarm Manager (may notify Therapy)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9238237"/>
                  </a:ext>
                </a:extLst>
              </a:tr>
              <a:tr h="638264">
                <a:tc>
                  <a:txBody>
                    <a:bodyPr/>
                    <a:lstStyle/>
                    <a:p>
                      <a:r>
                        <a:rPr lang="en-US"/>
                        <a:t>Timer tick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Therapy Controller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6226560"/>
                  </a:ext>
                </a:extLst>
              </a:tr>
              <a:tr h="638264">
                <a:tc>
                  <a:txBody>
                    <a:bodyPr/>
                    <a:lstStyle/>
                    <a:p>
                      <a:r>
                        <a:rPr lang="en-US" dirty="0"/>
                        <a:t>Low battery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Alarm Manager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5336681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D4B0DD-3FAE-4D3F-8E21-7EB22244A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647277-7852-4306-8684-26084DFF6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40</a:t>
            </a:fld>
            <a:endParaRPr lang="en-US" alt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B0F03B6-3B99-4E1E-89DC-AFD8834B9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4422" y="4890232"/>
            <a:ext cx="2872146" cy="183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738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A2980-995A-4B11-AEDE-27165ECD6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of application level patterns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A6F2883-E492-429F-8299-B27E3B5F0C5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94334499"/>
              </p:ext>
            </p:extLst>
          </p:nvPr>
        </p:nvGraphicFramePr>
        <p:xfrm>
          <a:off x="-12192" y="1502366"/>
          <a:ext cx="7007352" cy="2347504"/>
        </p:xfrm>
        <a:graphic>
          <a:graphicData uri="http://schemas.openxmlformats.org/drawingml/2006/table">
            <a:tbl>
              <a:tblPr/>
              <a:tblGrid>
                <a:gridCol w="2335784">
                  <a:extLst>
                    <a:ext uri="{9D8B030D-6E8A-4147-A177-3AD203B41FA5}">
                      <a16:colId xmlns:a16="http://schemas.microsoft.com/office/drawing/2014/main" val="2058590319"/>
                    </a:ext>
                  </a:extLst>
                </a:gridCol>
                <a:gridCol w="2335784">
                  <a:extLst>
                    <a:ext uri="{9D8B030D-6E8A-4147-A177-3AD203B41FA5}">
                      <a16:colId xmlns:a16="http://schemas.microsoft.com/office/drawing/2014/main" val="440336953"/>
                    </a:ext>
                  </a:extLst>
                </a:gridCol>
                <a:gridCol w="2335784">
                  <a:extLst>
                    <a:ext uri="{9D8B030D-6E8A-4147-A177-3AD203B41FA5}">
                      <a16:colId xmlns:a16="http://schemas.microsoft.com/office/drawing/2014/main" val="781431631"/>
                    </a:ext>
                  </a:extLst>
                </a:gridCol>
              </a:tblGrid>
              <a:tr h="315686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Pattern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Strength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Weakness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688423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lang="en-US"/>
                        <a:t>Monolithic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Simple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Becomes large, mixed concerns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9688604"/>
                  </a:ext>
                </a:extLst>
              </a:tr>
              <a:tr h="789214">
                <a:tc>
                  <a:txBody>
                    <a:bodyPr/>
                    <a:lstStyle/>
                    <a:p>
                      <a:r>
                        <a:rPr lang="en-US"/>
                        <a:t>Coordinated Controllers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Clear separation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Ordering &amp; coupling must be managed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994306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lang="en-US"/>
                        <a:t>Dispatcher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Modular &amp; scalable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Indirect control 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4313637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F09600-D0A9-40B1-A3BC-3D8C4B988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38C47-A017-470F-8557-75F5CE8CD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41</a:t>
            </a:fld>
            <a:endParaRPr lang="en-US" alt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E0C7765-B1CD-46AA-ACDA-3F1DD1F89F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998355"/>
              </p:ext>
            </p:extLst>
          </p:nvPr>
        </p:nvGraphicFramePr>
        <p:xfrm>
          <a:off x="1524000" y="3977094"/>
          <a:ext cx="7620000" cy="2579320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685407204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1997460324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1674184330"/>
                    </a:ext>
                  </a:extLst>
                </a:gridCol>
              </a:tblGrid>
              <a:tr h="408261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Property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Coordinated Controllers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Dispatcher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2783854"/>
                  </a:ext>
                </a:extLst>
              </a:tr>
              <a:tr h="714457">
                <a:tc>
                  <a:txBody>
                    <a:bodyPr/>
                    <a:lstStyle/>
                    <a:p>
                      <a:r>
                        <a:rPr lang="en-US"/>
                        <a:t>Who knows whom?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Controllers know each other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Controllers know only dispatcher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7242618"/>
                  </a:ext>
                </a:extLst>
              </a:tr>
              <a:tr h="408261">
                <a:tc>
                  <a:txBody>
                    <a:bodyPr/>
                    <a:lstStyle/>
                    <a:p>
                      <a:r>
                        <a:rPr lang="en-US"/>
                        <a:t>Direct function calls?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499702"/>
                  </a:ext>
                </a:extLst>
              </a:tr>
              <a:tr h="408261">
                <a:tc>
                  <a:txBody>
                    <a:bodyPr/>
                    <a:lstStyle/>
                    <a:p>
                      <a:r>
                        <a:rPr lang="en-US"/>
                        <a:t>Coupling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Explicit, directional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Indirect, via event bus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322514"/>
                  </a:ext>
                </a:extLst>
              </a:tr>
              <a:tr h="408261">
                <a:tc>
                  <a:txBody>
                    <a:bodyPr/>
                    <a:lstStyle/>
                    <a:p>
                      <a:r>
                        <a:rPr lang="en-US"/>
                        <a:t>Compile-time dependency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Strong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Weaker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87465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94147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8C114-0AFB-4C38-B91B-5C479ECA7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 visibility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F108C-556F-4BAA-98CF-9759F8F746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Coordinated Controllers</a:t>
            </a:r>
          </a:p>
          <a:p>
            <a:r>
              <a:rPr lang="en-US" dirty="0"/>
              <a:t>Control flow is explicit.</a:t>
            </a:r>
          </a:p>
          <a:p>
            <a:r>
              <a:rPr lang="en-US" dirty="0"/>
              <a:t>You can trace calls statically.</a:t>
            </a:r>
          </a:p>
          <a:p>
            <a:r>
              <a:rPr lang="en-US" dirty="0"/>
              <a:t>Easier to reason locally.</a:t>
            </a:r>
          </a:p>
          <a:p>
            <a:r>
              <a:rPr lang="en-US" dirty="0"/>
              <a:t>Harder to scale globally.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231A8E-401B-436A-9646-7D2BCD01545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Dispatcher</a:t>
            </a:r>
          </a:p>
          <a:p>
            <a:r>
              <a:rPr lang="en-US" dirty="0"/>
              <a:t>Control flow is indirect.</a:t>
            </a:r>
          </a:p>
          <a:p>
            <a:r>
              <a:rPr lang="en-US" dirty="0"/>
              <a:t>Requires mental model of event routing.</a:t>
            </a:r>
          </a:p>
          <a:p>
            <a:r>
              <a:rPr lang="en-US" dirty="0"/>
              <a:t>Scales better.</a:t>
            </a:r>
          </a:p>
          <a:p>
            <a:r>
              <a:rPr lang="en-US" dirty="0"/>
              <a:t>Harder to trace.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9CF816-06E1-423F-B4EE-7B204CBB8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2562CD-3B9F-4118-A993-418E27DFC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77344-E1C7-49F4-9630-5A0F623202D9}" type="slidenum">
              <a:rPr lang="en-US" altLang="en-US" smtClean="0"/>
              <a:pPr>
                <a:defRPr/>
              </a:pPr>
              <a:t>42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480051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3194B-BBFC-4FF4-86FC-526CBA61C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Ease of adding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863E8-8424-468B-BFBB-6736D502FB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951037"/>
            <a:ext cx="4038600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Coordinated Controllers</a:t>
            </a:r>
          </a:p>
          <a:p>
            <a:r>
              <a:rPr lang="en-US" dirty="0"/>
              <a:t>Every new controller may require:</a:t>
            </a:r>
          </a:p>
          <a:p>
            <a:pPr lvl="1"/>
            <a:r>
              <a:rPr lang="en-US" dirty="0"/>
              <a:t>new direct calls</a:t>
            </a:r>
          </a:p>
          <a:p>
            <a:pPr lvl="1"/>
            <a:r>
              <a:rPr lang="en-US" dirty="0"/>
              <a:t>updated dependencies</a:t>
            </a:r>
          </a:p>
          <a:p>
            <a:pPr lvl="1"/>
            <a:r>
              <a:rPr lang="en-US" dirty="0"/>
              <a:t>careful ordering</a:t>
            </a:r>
          </a:p>
          <a:p>
            <a:r>
              <a:rPr lang="en-US" dirty="0"/>
              <a:t>The dependency graph grows quadratically.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74004B-EC70-4BC3-94DB-92C7D7A59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951037"/>
            <a:ext cx="4038600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Dispatcher Pattern</a:t>
            </a:r>
          </a:p>
          <a:p>
            <a:r>
              <a:rPr lang="en-US" dirty="0"/>
              <a:t>New module:</a:t>
            </a:r>
          </a:p>
          <a:p>
            <a:pPr lvl="1"/>
            <a:r>
              <a:rPr lang="en-US" dirty="0"/>
              <a:t>subscribes to events</a:t>
            </a:r>
          </a:p>
          <a:p>
            <a:pPr lvl="1"/>
            <a:r>
              <a:rPr lang="en-US" dirty="0"/>
              <a:t>no other controller modified</a:t>
            </a:r>
          </a:p>
          <a:p>
            <a:r>
              <a:rPr lang="en-US" dirty="0"/>
              <a:t>The dependency graph remains star-shaped.</a:t>
            </a:r>
          </a:p>
          <a:p>
            <a:r>
              <a:rPr lang="en-US" dirty="0"/>
              <a:t>That’s the scaling advantage.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3B022C-3FA9-469B-A3E5-A1199FEE0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C8E159-FAD3-4F92-913F-C745DD2C9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77344-E1C7-49F4-9630-5A0F623202D9}" type="slidenum">
              <a:rPr lang="en-US" altLang="en-US" smtClean="0"/>
              <a:pPr>
                <a:defRPr/>
              </a:pPr>
              <a:t>43</a:t>
            </a:fld>
            <a:endParaRPr lang="en-US" alt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DBFF589-E76D-45F2-979E-C8E3DBAF51C5}"/>
              </a:ext>
            </a:extLst>
          </p:cNvPr>
          <p:cNvSpPr txBox="1">
            <a:spLocks/>
          </p:cNvSpPr>
          <p:nvPr/>
        </p:nvSpPr>
        <p:spPr bwMode="auto">
          <a:xfrm>
            <a:off x="24384" y="1371601"/>
            <a:ext cx="9043416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We want to add logging, safety monitor, UI refresh</a:t>
            </a:r>
          </a:p>
        </p:txBody>
      </p:sp>
    </p:spTree>
    <p:extLst>
      <p:ext uri="{BB962C8B-B14F-4D97-AF65-F5344CB8AC3E}">
        <p14:creationId xmlns:p14="http://schemas.microsoft.com/office/powerpoint/2010/main" val="1945438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30A05-5EAE-4E3E-8B73-B96727276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distinctions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4B083-2277-4497-A306-E6A6C7CB2F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2895600"/>
            <a:ext cx="4038600" cy="35814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Coordinated Controllers</a:t>
            </a:r>
          </a:p>
          <a:p>
            <a:r>
              <a:rPr lang="en-US" dirty="0"/>
              <a:t>Small system</a:t>
            </a:r>
          </a:p>
          <a:p>
            <a:r>
              <a:rPr lang="en-US" dirty="0"/>
              <a:t>Safety-critical clarity needed</a:t>
            </a:r>
          </a:p>
          <a:p>
            <a:r>
              <a:rPr lang="en-US" dirty="0"/>
              <a:t>Explicit authority required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CA36D-D7A8-4E40-9573-EF920E1B2B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2895600"/>
            <a:ext cx="4038600" cy="35814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Dispatcher</a:t>
            </a:r>
          </a:p>
          <a:p>
            <a:r>
              <a:rPr lang="en-US" dirty="0"/>
              <a:t>Large system</a:t>
            </a:r>
          </a:p>
          <a:p>
            <a:r>
              <a:rPr lang="en-US" dirty="0"/>
              <a:t>Many loosely coupled modules</a:t>
            </a:r>
          </a:p>
          <a:p>
            <a:r>
              <a:rPr lang="en-US" dirty="0"/>
              <a:t>Plugin-style extensibility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DB747A-994D-4B46-9502-18713504A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F840B-D707-4CD8-9786-AE347F38C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77344-E1C7-49F4-9630-5A0F623202D9}" type="slidenum">
              <a:rPr lang="en-US" altLang="en-US" smtClean="0"/>
              <a:pPr>
                <a:defRPr/>
              </a:pPr>
              <a:t>44</a:t>
            </a:fld>
            <a:endParaRPr lang="en-US" altLang="en-US"/>
          </a:p>
        </p:txBody>
      </p:sp>
      <p:graphicFrame>
        <p:nvGraphicFramePr>
          <p:cNvPr id="10" name="Content Placeholder 6">
            <a:extLst>
              <a:ext uri="{FF2B5EF4-FFF2-40B4-BE49-F238E27FC236}">
                <a16:creationId xmlns:a16="http://schemas.microsoft.com/office/drawing/2014/main" id="{272A0F41-7E64-4EB4-A027-C7E84E0322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8667698"/>
              </p:ext>
            </p:extLst>
          </p:nvPr>
        </p:nvGraphicFramePr>
        <p:xfrm>
          <a:off x="228600" y="1388208"/>
          <a:ext cx="8610600" cy="1264392"/>
        </p:xfrm>
        <a:graphic>
          <a:graphicData uri="http://schemas.openxmlformats.org/drawingml/2006/table">
            <a:tbl>
              <a:tblPr/>
              <a:tblGrid>
                <a:gridCol w="2870200">
                  <a:extLst>
                    <a:ext uri="{9D8B030D-6E8A-4147-A177-3AD203B41FA5}">
                      <a16:colId xmlns:a16="http://schemas.microsoft.com/office/drawing/2014/main" val="1370720198"/>
                    </a:ext>
                  </a:extLst>
                </a:gridCol>
                <a:gridCol w="2870200">
                  <a:extLst>
                    <a:ext uri="{9D8B030D-6E8A-4147-A177-3AD203B41FA5}">
                      <a16:colId xmlns:a16="http://schemas.microsoft.com/office/drawing/2014/main" val="1402076987"/>
                    </a:ext>
                  </a:extLst>
                </a:gridCol>
                <a:gridCol w="2870200">
                  <a:extLst>
                    <a:ext uri="{9D8B030D-6E8A-4147-A177-3AD203B41FA5}">
                      <a16:colId xmlns:a16="http://schemas.microsoft.com/office/drawing/2014/main" val="26127971"/>
                    </a:ext>
                  </a:extLst>
                </a:gridCol>
              </a:tblGrid>
              <a:tr h="262548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Question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Coordinated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Dispatcher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7002841"/>
                  </a:ext>
                </a:extLst>
              </a:tr>
              <a:tr h="262548">
                <a:tc>
                  <a:txBody>
                    <a:bodyPr/>
                    <a:lstStyle/>
                    <a:p>
                      <a:r>
                        <a:rPr lang="en-US" sz="1800"/>
                        <a:t>Who stops infusion?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Alarm calls Therapy directly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Alarm emits STOP event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1032997"/>
                  </a:ext>
                </a:extLst>
              </a:tr>
              <a:tr h="262548">
                <a:tc>
                  <a:txBody>
                    <a:bodyPr/>
                    <a:lstStyle/>
                    <a:p>
                      <a:r>
                        <a:rPr lang="en-US" sz="1800" dirty="0"/>
                        <a:t>Who routes events?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Caller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Dispatcher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3196688"/>
                  </a:ext>
                </a:extLst>
              </a:tr>
              <a:tr h="262548">
                <a:tc>
                  <a:txBody>
                    <a:bodyPr/>
                    <a:lstStyle/>
                    <a:p>
                      <a:r>
                        <a:rPr lang="en-US" sz="1800"/>
                        <a:t>Where is coupling expressed?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Function calls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Subscription list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0387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83039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C2CF1-D179-4E9B-AB23-86FEC0F4C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CEB6A9-1427-4AC7-9120-486A0E604CD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4FD32D-C90C-4501-B48A-558647525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789A70-7713-4851-928C-43490BCD3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77344-E1C7-49F4-9630-5A0F623202D9}" type="slidenum">
              <a:rPr lang="en-US" altLang="en-US" smtClean="0"/>
              <a:pPr>
                <a:defRPr/>
              </a:pPr>
              <a:t>45</a:t>
            </a:fld>
            <a:endParaRPr lang="en-US" alt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C09F966-E911-45A8-9B6F-AED6C43988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8181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15303</TotalTime>
  <Words>1951</Words>
  <Application>Microsoft Office PowerPoint</Application>
  <PresentationFormat>On-screen Show (4:3)</PresentationFormat>
  <Paragraphs>394</Paragraphs>
  <Slides>45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Software for Embedded Systems</vt:lpstr>
      <vt:lpstr>Where we are</vt:lpstr>
      <vt:lpstr>What UML has given us</vt:lpstr>
      <vt:lpstr>What UML does not decide</vt:lpstr>
      <vt:lpstr>Firmware architecture</vt:lpstr>
      <vt:lpstr>What is firmware architecture?</vt:lpstr>
      <vt:lpstr>The building blocks of a software</vt:lpstr>
      <vt:lpstr>Modules Are Units of Responsibility</vt:lpstr>
      <vt:lpstr>Owners of time and urgency</vt:lpstr>
      <vt:lpstr>Who decides vs who executes?</vt:lpstr>
      <vt:lpstr>Architecture: How do we arrange these blocks?</vt:lpstr>
      <vt:lpstr>Back to diagrams! Creating system diagrams</vt:lpstr>
      <vt:lpstr>View 1: block diagrams What exists in the system?</vt:lpstr>
      <vt:lpstr>View 1: block diagrams What exists in the system?</vt:lpstr>
      <vt:lpstr>View 2: Hierarchy of Control Who controls whom?</vt:lpstr>
      <vt:lpstr>View 3: the layered view Size and relationship between objects</vt:lpstr>
      <vt:lpstr>Using system diagrams: Simplifying the system</vt:lpstr>
      <vt:lpstr>Using system diagrams: Delegation of tasks</vt:lpstr>
      <vt:lpstr>Encapsulating modules and building interfaces</vt:lpstr>
      <vt:lpstr>Driver interface example</vt:lpstr>
      <vt:lpstr>Drivers can (and should) be stackable</vt:lpstr>
      <vt:lpstr>The Model-View-Controller (MVC) pattern</vt:lpstr>
      <vt:lpstr>MVC in your projects</vt:lpstr>
      <vt:lpstr>Organizing your code</vt:lpstr>
      <vt:lpstr>The many ways to blink an LED</vt:lpstr>
      <vt:lpstr>The many ways to blink an LED! Separating hardware from action</vt:lpstr>
      <vt:lpstr>The many ways to blink an LED! Separating hardware from action</vt:lpstr>
      <vt:lpstr>The many ways to blink an LED I/O handling code</vt:lpstr>
      <vt:lpstr>The many ways to blink an LED Simplifying the main interface (façade)</vt:lpstr>
      <vt:lpstr>Integrating 3rd party libraries</vt:lpstr>
      <vt:lpstr>BME280 sensor API: bme280_defs.h</vt:lpstr>
      <vt:lpstr>BME280 sensor API: bme280.h / bme280.c</vt:lpstr>
      <vt:lpstr>Integrating third party libraries: the glue for sandwich</vt:lpstr>
      <vt:lpstr>Integrating third party libraries: the glue for sandwich</vt:lpstr>
      <vt:lpstr>Where we are</vt:lpstr>
      <vt:lpstr>Organization of the application layer</vt:lpstr>
      <vt:lpstr>Pattern I: Monolithic controller</vt:lpstr>
      <vt:lpstr>Pattern II: Coordinated controllers</vt:lpstr>
      <vt:lpstr>Pattern III: Event dispatcher</vt:lpstr>
      <vt:lpstr>Event ownership at application level</vt:lpstr>
      <vt:lpstr>Comparison of application level patterns</vt:lpstr>
      <vt:lpstr>Control flow visibility</vt:lpstr>
      <vt:lpstr>Ease of adding modules</vt:lpstr>
      <vt:lpstr>Final distinctions</vt:lpstr>
      <vt:lpstr>PowerPoint Presentation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723</cp:revision>
  <dcterms:created xsi:type="dcterms:W3CDTF">2010-01-15T20:22:21Z</dcterms:created>
  <dcterms:modified xsi:type="dcterms:W3CDTF">2026-02-13T06:28:40Z</dcterms:modified>
</cp:coreProperties>
</file>