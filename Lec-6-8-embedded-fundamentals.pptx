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337" r:id="rId2"/>
    <p:sldId id="362" r:id="rId3"/>
    <p:sldId id="403" r:id="rId4"/>
    <p:sldId id="359" r:id="rId5"/>
    <p:sldId id="402" r:id="rId6"/>
    <p:sldId id="404" r:id="rId7"/>
    <p:sldId id="408" r:id="rId8"/>
    <p:sldId id="405" r:id="rId9"/>
    <p:sldId id="406" r:id="rId10"/>
    <p:sldId id="407" r:id="rId11"/>
    <p:sldId id="260" r:id="rId12"/>
    <p:sldId id="410" r:id="rId13"/>
    <p:sldId id="411" r:id="rId14"/>
    <p:sldId id="413" r:id="rId15"/>
    <p:sldId id="412" r:id="rId16"/>
    <p:sldId id="416" r:id="rId17"/>
    <p:sldId id="414" r:id="rId18"/>
    <p:sldId id="415" r:id="rId19"/>
    <p:sldId id="417" r:id="rId20"/>
    <p:sldId id="263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3F26"/>
    <a:srgbClr val="72C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2730" autoAdjust="0"/>
  </p:normalViewPr>
  <p:slideViewPr>
    <p:cSldViewPr>
      <p:cViewPr varScale="1">
        <p:scale>
          <a:sx n="84" d="100"/>
          <a:sy n="84" d="100"/>
        </p:scale>
        <p:origin x="8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C380-3A71-436F-AF85-106A4B1C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066925"/>
            <a:ext cx="7924800" cy="1362075"/>
          </a:xfrm>
        </p:spPr>
        <p:txBody>
          <a:bodyPr/>
          <a:lstStyle/>
          <a:p>
            <a:r>
              <a:rPr lang="en-US" sz="3600" dirty="0"/>
              <a:t>Embedded fundamentals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238BF-8103-48BF-B754-41500EC0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FDAD1-D15A-4F0E-9EFD-0A534279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91CA3-F3C5-4644-A2FF-2E077507CB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810000"/>
            <a:ext cx="7772400" cy="2514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Microprocessor architecture basics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172551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9B7B-D652-4EEC-9DDD-465F2F4E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 of an embedded computer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E0F62D-F786-4C4B-A6C0-4CD6A709D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614" y="1549846"/>
            <a:ext cx="6572772" cy="480764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9C78-1182-47EE-AF27-AD3F5BC69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53F3E-7D17-46C9-8CA4-E95D4F13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575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4311-F5FA-4441-BAF6-A269CDCA7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 of a microprocessor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2687A-5BBF-442D-B5FA-445EC3F8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15865-EFA4-4B5F-89B0-AA907B51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3074" name="Picture 2" descr="What Are CPU Registers ? | Types Of Registers , Functions | COA">
            <a:extLst>
              <a:ext uri="{FF2B5EF4-FFF2-40B4-BE49-F238E27FC236}">
                <a16:creationId xmlns:a16="http://schemas.microsoft.com/office/drawing/2014/main" id="{98454991-1165-4D63-8F03-B6CA7B70D9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0"/>
          <a:stretch/>
        </p:blipFill>
        <p:spPr bwMode="auto">
          <a:xfrm>
            <a:off x="342900" y="1383815"/>
            <a:ext cx="8458200" cy="508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794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44B2-7C71-45D8-8DEE-7C60F4016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– a simple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2D256-6D3F-4B93-AF3B-0A3091AC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EF5BB-B116-48E5-B513-1F5971C4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535FB5-AABE-42A5-95E5-83BC3A75F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9"/>
          <a:stretch/>
        </p:blipFill>
        <p:spPr>
          <a:xfrm>
            <a:off x="1097491" y="1524000"/>
            <a:ext cx="6949018" cy="493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4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1418-F1E4-4489-AC3C-512FF3E7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System on chip (SoC) = processor + memory + peripherals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D060-CDD2-48A5-AA1B-7D1DFC57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199CF-C5E6-4B29-B993-C6549699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1026" name="Picture 2" descr="Embedded Systems Architecture - InTechHouse">
            <a:extLst>
              <a:ext uri="{FF2B5EF4-FFF2-40B4-BE49-F238E27FC236}">
                <a16:creationId xmlns:a16="http://schemas.microsoft.com/office/drawing/2014/main" id="{AAD5870B-B60C-4388-AE59-25E487626D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67644"/>
            <a:ext cx="8839200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03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6A51-C66A-4139-9287-F80AC84F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ESP32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EE81B-8A2A-4580-AA4B-61763E0D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89627-AF91-4D44-A79D-54A92E1D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C222AA-F175-4ACE-9818-E30ADD082E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044" y="1446213"/>
            <a:ext cx="5305912" cy="501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129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6726-872C-47A8-911E-D7DE2A5D3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boards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07E62-D651-4DF5-814E-16ACDAEB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AEDCE-78C1-41B1-9B66-9983FA66E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3074" name="Picture 2" descr="What is Arduino Uno Hardware Board? Everything you need to know about the  Arduino Hardware">
            <a:extLst>
              <a:ext uri="{FF2B5EF4-FFF2-40B4-BE49-F238E27FC236}">
                <a16:creationId xmlns:a16="http://schemas.microsoft.com/office/drawing/2014/main" id="{C686582F-DFA1-44D0-9454-FE7E7F9F61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447800"/>
            <a:ext cx="75438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84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5126-AB54-4CE3-9F98-4766289F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Microprocessor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41FFA-F26C-4A44-8765-F75A569F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Size of data and address bus (8-bit, 16-bit, 32-bit)</a:t>
            </a:r>
          </a:p>
          <a:p>
            <a:r>
              <a:rPr lang="en-US" dirty="0"/>
              <a:t>Memory architecture (Harvard, von Neumann)</a:t>
            </a:r>
          </a:p>
          <a:p>
            <a:pPr lvl="1"/>
            <a:r>
              <a:rPr lang="en-US" dirty="0"/>
              <a:t>Harvard (most common in embedded): separate data and instruction bus – simultaneous fetching of data and instruction</a:t>
            </a:r>
          </a:p>
          <a:p>
            <a:pPr lvl="1"/>
            <a:r>
              <a:rPr lang="en-US" dirty="0"/>
              <a:t>Von Neumann: Unified memory for code and data</a:t>
            </a:r>
          </a:p>
          <a:p>
            <a:pPr lvl="1"/>
            <a:r>
              <a:rPr lang="en-US" dirty="0"/>
              <a:t>Modified Harvard: modern ARM Cortex-M processors</a:t>
            </a:r>
          </a:p>
          <a:p>
            <a:r>
              <a:rPr lang="en-US" dirty="0"/>
              <a:t>Instruction set architecture (ISA): What instructions are available to execute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B08D4-86C8-4F37-B591-16678A22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70637-69EE-40EC-8BD9-261D24AD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784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18EE-0970-4112-AE8A-6189DF48F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ISAs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60389-87FD-4C1A-8EB9-AD1B5C157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RISC (reduced instruction set): most common for embedded systems (ARM, RISC-V, </a:t>
            </a:r>
            <a:r>
              <a:rPr lang="en-US" dirty="0" err="1"/>
              <a:t>xtensa</a:t>
            </a:r>
            <a:r>
              <a:rPr lang="en-US" dirty="0"/>
              <a:t>)</a:t>
            </a:r>
          </a:p>
          <a:p>
            <a:r>
              <a:rPr lang="en-US" dirty="0"/>
              <a:t>Predictable timing of each instruction</a:t>
            </a:r>
          </a:p>
          <a:p>
            <a:r>
              <a:rPr lang="en-US" dirty="0"/>
              <a:t>Lower power</a:t>
            </a:r>
          </a:p>
          <a:p>
            <a:r>
              <a:rPr lang="en-US" dirty="0"/>
              <a:t>Simpler design</a:t>
            </a:r>
          </a:p>
          <a:p>
            <a:r>
              <a:rPr lang="en-US" dirty="0"/>
              <a:t>Easy customization</a:t>
            </a:r>
          </a:p>
          <a:p>
            <a:r>
              <a:rPr lang="en-US" dirty="0"/>
              <a:t>Clear hardware-software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F9AD2-19B3-4B6B-8396-8EBC9AC2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BAE87-3039-47B4-862E-0E22902A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094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FE6E-54C4-DBD5-E603-093CB1F5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memory in embedded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DE217-110B-2462-30A8-444603AA4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Storage and communication for programs</a:t>
            </a:r>
          </a:p>
          <a:p>
            <a:r>
              <a:rPr lang="en-US" dirty="0"/>
              <a:t>Communication with sensors and actuators</a:t>
            </a:r>
          </a:p>
          <a:p>
            <a:r>
              <a:rPr lang="en-US" dirty="0"/>
              <a:t>More constrained than general-purpose computing</a:t>
            </a:r>
          </a:p>
          <a:p>
            <a:pPr lvl="1"/>
            <a:r>
              <a:rPr lang="en-US" dirty="0"/>
              <a:t>Size, power, reliability</a:t>
            </a:r>
          </a:p>
          <a:p>
            <a:r>
              <a:rPr lang="en-US" dirty="0"/>
              <a:t>Important for programmers to understand these constraints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2B6C3-AFD5-92FE-B6AA-8EA1A663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652-A386-427F-9A40-D4C53C1D85C6}" type="datetime3">
              <a:rPr lang="en-US" smtClean="0"/>
              <a:t>15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17AE8-97FD-C92D-70AF-0498A4DE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ELL787: Embedded Systems and Applications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F4A0A-FD36-38F4-2CD2-288C66BE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7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63AD-553F-443F-8111-C5EDF0DC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4499F-FB0E-4C87-BF05-D1814EE67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Flash / ROM </a:t>
            </a:r>
            <a:r>
              <a:rPr lang="en-US" dirty="0">
                <a:sym typeface="Wingdings" panose="05000000000000000000" pitchFamily="2" charset="2"/>
              </a:rPr>
              <a:t> store program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Persistent, fast to read but slow to write, fewer write cycles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good for bulk storage that changes infrequently</a:t>
            </a:r>
          </a:p>
          <a:p>
            <a:r>
              <a:rPr lang="en-US" dirty="0">
                <a:sym typeface="Wingdings" panose="05000000000000000000" pitchFamily="2" charset="2"/>
              </a:rPr>
              <a:t>EEPROM / NVM  store configuration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Persistent, slower, larger number of write cycles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good for storing small chunks of data that change frequently</a:t>
            </a:r>
          </a:p>
          <a:p>
            <a:r>
              <a:rPr lang="en-US" dirty="0">
                <a:sym typeface="Wingdings" panose="05000000000000000000" pitchFamily="2" charset="2"/>
              </a:rPr>
              <a:t>RAM  hold data, stack, heap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Volatile, very fast, unlimited write cycles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hold data required for immediate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9375C-CAF3-4DB9-A2EF-FC1B10483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985C0-6E41-4AC8-BA60-40BBC127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784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65ED-90ED-4C1B-9AFE-1DF045E5F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memory map – what is where in the memory?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13A6-FE42-4861-87C1-69695C9D0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953000" cy="5014912"/>
          </a:xfrm>
        </p:spPr>
        <p:txBody>
          <a:bodyPr/>
          <a:lstStyle/>
          <a:p>
            <a:r>
              <a:rPr lang="en-US" dirty="0"/>
              <a:t>Different types of memories might need to be accessed by the processor</a:t>
            </a:r>
          </a:p>
          <a:p>
            <a:r>
              <a:rPr lang="en-US" dirty="0"/>
              <a:t>Put the all on the same address bus</a:t>
            </a:r>
          </a:p>
          <a:p>
            <a:r>
              <a:rPr lang="en-US" dirty="0"/>
              <a:t>Memory map: layout that shows the entire address space of a microcontroller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A2B3E-6C8A-4D57-8021-A7818AE09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750CE-9FED-4CE9-9850-4E2964EA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4098" name="Picture 2" descr="Understanding the Memory Map of a Microcontroller | TA Embedded posted on  the topic | LinkedIn">
            <a:extLst>
              <a:ext uri="{FF2B5EF4-FFF2-40B4-BE49-F238E27FC236}">
                <a16:creationId xmlns:a16="http://schemas.microsoft.com/office/drawing/2014/main" id="{714410F0-8A62-4167-B74C-42489E406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439067"/>
            <a:ext cx="33528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38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26E4-39EE-4401-BDB4-D533715B7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complex memory map: ESP32-S3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36B12-CCF4-4666-98D2-CD849D97D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475C0-93F7-4D0C-AB05-0385C92F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6146" name="Picture 2" descr="ESP32's Family Memory Map 101. The ESP32 series of microcontrollers… | by  Marek Matej | The ESP Journal | Medium">
            <a:extLst>
              <a:ext uri="{FF2B5EF4-FFF2-40B4-BE49-F238E27FC236}">
                <a16:creationId xmlns:a16="http://schemas.microsoft.com/office/drawing/2014/main" id="{D105386D-FC15-4B37-9F15-21E2FEC33C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470" y="1446213"/>
            <a:ext cx="5885060" cy="501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41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0F23-FE16-43E3-BD1A-8169F2B8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Zooming into the memory space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04626-F381-43FC-8CCF-F06ED50EC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7009E-7117-430E-B3F0-991732D4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122" name="Picture 2" descr="Understanding the Memory Map of a Microcontroller | TA Embedded posted on  the topic | LinkedIn">
            <a:extLst>
              <a:ext uri="{FF2B5EF4-FFF2-40B4-BE49-F238E27FC236}">
                <a16:creationId xmlns:a16="http://schemas.microsoft.com/office/drawing/2014/main" id="{CB7076D4-B45B-4243-91AE-1C1666187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371600"/>
            <a:ext cx="29718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icrocontroller memory layout - Shattered Silicon UK">
            <a:extLst>
              <a:ext uri="{FF2B5EF4-FFF2-40B4-BE49-F238E27FC236}">
                <a16:creationId xmlns:a16="http://schemas.microsoft.com/office/drawing/2014/main" id="{C3C1DF1C-9475-4627-9BF6-91FDA8A07C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914400"/>
            <a:ext cx="3733800" cy="5869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88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1A23-19A8-466C-AD4B-3DEC702A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94E42-F31F-4922-BDCB-C7E293D0C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191000" cy="5014912"/>
          </a:xfrm>
        </p:spPr>
        <p:txBody>
          <a:bodyPr/>
          <a:lstStyle/>
          <a:p>
            <a:r>
              <a:rPr lang="en-US" sz="2400" dirty="0"/>
              <a:t>Table of addresses where specific</a:t>
            </a:r>
            <a:br>
              <a:rPr lang="en-US" sz="2400" dirty="0"/>
            </a:br>
            <a:r>
              <a:rPr lang="en-US" sz="2400" dirty="0"/>
              <a:t>code lives</a:t>
            </a:r>
          </a:p>
          <a:p>
            <a:r>
              <a:rPr lang="en-US" sz="2400" dirty="0"/>
              <a:t>Where to execute from when there is a reset?</a:t>
            </a:r>
          </a:p>
          <a:p>
            <a:r>
              <a:rPr lang="en-US" sz="2400" dirty="0"/>
              <a:t>Exceptions, interrupts etc.</a:t>
            </a:r>
          </a:p>
          <a:p>
            <a:endParaRPr lang="en-US" sz="2400" dirty="0"/>
          </a:p>
          <a:p>
            <a:r>
              <a:rPr lang="en-US" sz="2400" dirty="0"/>
              <a:t>When the event occurs, processor reads the address for that event in the table, then jumps to it for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CE00E-44D9-4744-BF94-785CFAD9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F6C8E-982B-4584-B2DE-E116EF26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6" name="Picture 4" descr="Microcontroller memory layout - Shattered Silicon UK">
            <a:extLst>
              <a:ext uri="{FF2B5EF4-FFF2-40B4-BE49-F238E27FC236}">
                <a16:creationId xmlns:a16="http://schemas.microsoft.com/office/drawing/2014/main" id="{2B972443-D28A-4412-B7EB-F900F06A43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2" t="56361" r="958" b="-499"/>
          <a:stretch/>
        </p:blipFill>
        <p:spPr bwMode="auto">
          <a:xfrm>
            <a:off x="4184904" y="1066800"/>
            <a:ext cx="4806696" cy="33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97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394C1-B2C2-4115-A7AD-C9FD4ACE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00190-7280-465D-84D6-9E7BFED12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calls</a:t>
            </a:r>
          </a:p>
          <a:p>
            <a:r>
              <a:rPr lang="en-US" dirty="0"/>
              <a:t>Local variables</a:t>
            </a:r>
          </a:p>
          <a:p>
            <a:r>
              <a:rPr lang="en-US" dirty="0"/>
              <a:t>Interrupt handling</a:t>
            </a:r>
          </a:p>
          <a:p>
            <a:r>
              <a:rPr lang="en-US" dirty="0"/>
              <a:t>LIFO (last in first out)</a:t>
            </a:r>
          </a:p>
          <a:p>
            <a:r>
              <a:rPr lang="en-US" dirty="0"/>
              <a:t>Grows downwards</a:t>
            </a:r>
          </a:p>
          <a:p>
            <a:endParaRPr lang="en-US" dirty="0"/>
          </a:p>
          <a:p>
            <a:r>
              <a:rPr lang="en-US" dirty="0"/>
              <a:t>Common failure: stack overflow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E7772-3D89-46D8-819E-A0789EF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90604-16B4-4D3C-B7B5-47495255C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7" name="Picture 4" descr="Microcontroller memory layout - Shattered Silicon UK">
            <a:extLst>
              <a:ext uri="{FF2B5EF4-FFF2-40B4-BE49-F238E27FC236}">
                <a16:creationId xmlns:a16="http://schemas.microsoft.com/office/drawing/2014/main" id="{89C32A99-6F2C-4687-9FB9-1C58C60DB2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898" b="55862"/>
          <a:stretch/>
        </p:blipFill>
        <p:spPr bwMode="auto">
          <a:xfrm>
            <a:off x="6394704" y="874776"/>
            <a:ext cx="2633472" cy="33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404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95FF2-8B2D-4A58-93D7-A813C8E7B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1A9E4-B2A0-4E2E-A73E-22676AC60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Dynamic memory allocation</a:t>
            </a:r>
          </a:p>
          <a:p>
            <a:r>
              <a:rPr lang="en-US" dirty="0"/>
              <a:t>Grows upwards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Risks:</a:t>
            </a:r>
          </a:p>
          <a:p>
            <a:r>
              <a:rPr lang="en-US" dirty="0"/>
              <a:t>Fragmentation</a:t>
            </a:r>
          </a:p>
          <a:p>
            <a:r>
              <a:rPr lang="en-US" dirty="0"/>
              <a:t>Unpredictable timing</a:t>
            </a:r>
          </a:p>
          <a:p>
            <a:pPr lvl="1"/>
            <a:r>
              <a:rPr lang="en-US" dirty="0"/>
              <a:t>Because allocation is dynamic (have to find free blocks, collect garbage etc.)</a:t>
            </a:r>
          </a:p>
          <a:p>
            <a:r>
              <a:rPr lang="en-US" dirty="0"/>
              <a:t>Collision with stack!</a:t>
            </a:r>
          </a:p>
          <a:p>
            <a:pPr lvl="1"/>
            <a:r>
              <a:rPr lang="en-US" dirty="0"/>
              <a:t>#1 cause of random embedded software crashes</a:t>
            </a:r>
          </a:p>
          <a:p>
            <a:endParaRPr lang="en-US" dirty="0"/>
          </a:p>
          <a:p>
            <a:r>
              <a:rPr lang="en-US" dirty="0"/>
              <a:t>Avoid heap in safety-critical paths (banned in MISRA-C)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4EC63-02E6-4188-883F-D57FA891F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9EFDC-D787-4DAF-911D-232DB40C6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6" name="Picture 4" descr="Microcontroller memory layout - Shattered Silicon UK">
            <a:extLst>
              <a:ext uri="{FF2B5EF4-FFF2-40B4-BE49-F238E27FC236}">
                <a16:creationId xmlns:a16="http://schemas.microsoft.com/office/drawing/2014/main" id="{E4878178-C70D-44BF-A137-64A0D0C0E4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898" b="55862"/>
          <a:stretch/>
        </p:blipFill>
        <p:spPr bwMode="auto">
          <a:xfrm>
            <a:off x="6394704" y="874776"/>
            <a:ext cx="2633472" cy="33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391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Big Endian and Little Endian in Memory -">
            <a:extLst>
              <a:ext uri="{FF2B5EF4-FFF2-40B4-BE49-F238E27FC236}">
                <a16:creationId xmlns:a16="http://schemas.microsoft.com/office/drawing/2014/main" id="{F660291B-CCAC-4E50-B7C5-8CD9283B6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431" y="3505199"/>
            <a:ext cx="5244137" cy="294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812145-0493-487B-8E34-FEDAA7AF7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alignment and endianness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A0697-9B4B-4FBE-98AB-8FE736486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is typically byte-addressed</a:t>
            </a:r>
          </a:p>
          <a:p>
            <a:r>
              <a:rPr lang="en-US" dirty="0"/>
              <a:t>Read from an address returns multiple bytes (1, 2 or 4)</a:t>
            </a:r>
          </a:p>
          <a:p>
            <a:r>
              <a:rPr lang="en-US" dirty="0"/>
              <a:t>For example, a 32-bit integer must start at an address divisible by 4</a:t>
            </a:r>
          </a:p>
          <a:p>
            <a:endParaRPr lang="en-US" dirty="0"/>
          </a:p>
          <a:p>
            <a:r>
              <a:rPr lang="en-US" dirty="0"/>
              <a:t>Endianness</a:t>
            </a:r>
          </a:p>
          <a:p>
            <a:r>
              <a:rPr lang="en-US" dirty="0"/>
              <a:t>Matters when communicating</a:t>
            </a:r>
            <a:br>
              <a:rPr lang="en-US" dirty="0"/>
            </a:br>
            <a:r>
              <a:rPr lang="en-US" dirty="0"/>
              <a:t>across systems!!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E2D62-4372-4196-BC26-88458C57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997E1-08B0-4EA3-9FA1-222CA8CAC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47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12A4-0C41-2E43-97E0-9E13FB5F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in embedded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35B5E-1160-5253-90E7-6849FDE3C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1609808"/>
            <a:ext cx="4188314" cy="486719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Types of memory</a:t>
            </a:r>
          </a:p>
          <a:p>
            <a:pPr lvl="1"/>
            <a:r>
              <a:rPr lang="en-US" dirty="0"/>
              <a:t>Volatile vs non-volatile</a:t>
            </a:r>
          </a:p>
          <a:p>
            <a:pPr lvl="1"/>
            <a:r>
              <a:rPr lang="en-US" dirty="0"/>
              <a:t>SRAM vs DRAM</a:t>
            </a:r>
          </a:p>
          <a:p>
            <a:pPr lvl="1"/>
            <a:endParaRPr lang="en-US" dirty="0"/>
          </a:p>
          <a:p>
            <a:r>
              <a:rPr lang="en-US" dirty="0"/>
              <a:t>Memory architectures</a:t>
            </a:r>
          </a:p>
          <a:p>
            <a:pPr lvl="1"/>
            <a:r>
              <a:rPr lang="en-US" dirty="0"/>
              <a:t>Harvard vs von Neuman</a:t>
            </a:r>
          </a:p>
          <a:p>
            <a:pPr lvl="1"/>
            <a:r>
              <a:rPr lang="en-US" dirty="0"/>
              <a:t>Memory-mapped I/O</a:t>
            </a:r>
          </a:p>
          <a:p>
            <a:pPr lvl="1"/>
            <a:endParaRPr lang="en-US" dirty="0"/>
          </a:p>
          <a:p>
            <a:r>
              <a:rPr lang="en-US" dirty="0"/>
              <a:t>Memory organization</a:t>
            </a:r>
          </a:p>
          <a:p>
            <a:pPr lvl="1"/>
            <a:r>
              <a:rPr lang="en-US" dirty="0"/>
              <a:t>Statically allocated</a:t>
            </a:r>
          </a:p>
          <a:p>
            <a:pPr lvl="1"/>
            <a:r>
              <a:rPr lang="en-US" dirty="0"/>
              <a:t>Stacks</a:t>
            </a:r>
          </a:p>
          <a:p>
            <a:pPr lvl="1"/>
            <a:r>
              <a:rPr lang="en-US" dirty="0"/>
              <a:t>Heaps (allocation, fragmentation, garbage collection)</a:t>
            </a:r>
          </a:p>
          <a:p>
            <a:r>
              <a:rPr lang="en-US" dirty="0"/>
              <a:t>Memory hierarchies</a:t>
            </a:r>
          </a:p>
          <a:p>
            <a:endParaRPr lang="en-US" dirty="0"/>
          </a:p>
          <a:p>
            <a:r>
              <a:rPr lang="en-US" dirty="0"/>
              <a:t>Memory protection</a:t>
            </a:r>
          </a:p>
          <a:p>
            <a:pPr lvl="1"/>
            <a:r>
              <a:rPr lang="en-US" dirty="0"/>
              <a:t>Segmented spaces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7F650-856E-04FE-CA4F-35F91AE6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59652-A386-427F-9A40-D4C53C1D85C6}" type="datetime3">
              <a:rPr lang="en-US" smtClean="0"/>
              <a:t>15 January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A7CE1-AF1E-2790-9D33-FB188991B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ELL787: Embedded Systems and Applications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2B02A-54D3-34FB-C131-20C243A6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20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E6A15D-1FAB-C492-FB85-E887769A3E5C}"/>
              </a:ext>
            </a:extLst>
          </p:cNvPr>
          <p:cNvSpPr txBox="1">
            <a:spLocks/>
          </p:cNvSpPr>
          <p:nvPr/>
        </p:nvSpPr>
        <p:spPr>
          <a:xfrm>
            <a:off x="4191000" y="1467841"/>
            <a:ext cx="4578165" cy="5009158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Non-volatile memory</a:t>
            </a:r>
          </a:p>
          <a:p>
            <a:pPr lvl="1"/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EPROM</a:t>
            </a:r>
          </a:p>
          <a:p>
            <a:pPr lvl="1"/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EEPROM</a:t>
            </a:r>
          </a:p>
          <a:p>
            <a:pPr lvl="1"/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Flash memory</a:t>
            </a:r>
          </a:p>
          <a:p>
            <a:pPr lvl="1"/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Disk drives</a:t>
            </a:r>
          </a:p>
          <a:p>
            <a:pPr lvl="1"/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Volatile memory</a:t>
            </a:r>
          </a:p>
          <a:p>
            <a:pPr lvl="1"/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SRAM (static random access memory)</a:t>
            </a:r>
          </a:p>
          <a:p>
            <a:pPr lvl="2"/>
            <a:r>
              <a:rPr 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Fast, deterministic access</a:t>
            </a:r>
          </a:p>
          <a:p>
            <a:pPr lvl="2"/>
            <a:r>
              <a:rPr 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Power hungry</a:t>
            </a:r>
          </a:p>
          <a:p>
            <a:pPr lvl="2"/>
            <a:r>
              <a:rPr 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Used for caches, scratchpads (expensive!)</a:t>
            </a:r>
          </a:p>
          <a:p>
            <a:pPr lvl="1"/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DRAM (dynamic random access memory)</a:t>
            </a:r>
          </a:p>
          <a:p>
            <a:pPr lvl="2"/>
            <a:r>
              <a:rPr 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Slower, access time depends on sequence of addresses</a:t>
            </a:r>
          </a:p>
          <a:p>
            <a:pPr lvl="2"/>
            <a:r>
              <a:rPr 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Higher capacity (per unit space, $$)</a:t>
            </a:r>
          </a:p>
          <a:p>
            <a:pPr lvl="2"/>
            <a:r>
              <a:rPr 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Requires periodic refresh</a:t>
            </a:r>
          </a:p>
          <a:p>
            <a:pPr lvl="2"/>
            <a:r>
              <a:rPr lang="en-US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Used for main memory</a:t>
            </a:r>
          </a:p>
          <a:p>
            <a:pPr lvl="1"/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Bootloader</a:t>
            </a:r>
          </a:p>
          <a:p>
            <a:pPr lvl="1"/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Transfers data from non-volatile to volatile memory at start-up</a:t>
            </a:r>
          </a:p>
        </p:txBody>
      </p:sp>
    </p:spTree>
    <p:extLst>
      <p:ext uri="{BB962C8B-B14F-4D97-AF65-F5344CB8AC3E}">
        <p14:creationId xmlns:p14="http://schemas.microsoft.com/office/powerpoint/2010/main" val="5799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12641</TotalTime>
  <Words>651</Words>
  <Application>Microsoft Office PowerPoint</Application>
  <PresentationFormat>On-screen Show (4:3)</PresentationFormat>
  <Paragraphs>158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Software for Embedded Systems</vt:lpstr>
      <vt:lpstr>Embedded fundamentals</vt:lpstr>
      <vt:lpstr>The big picture of an embedded computer</vt:lpstr>
      <vt:lpstr>The big picture of a microprocessor</vt:lpstr>
      <vt:lpstr>Memory – a simple model</vt:lpstr>
      <vt:lpstr>System on chip (SoC) = processor + memory + peripherals</vt:lpstr>
      <vt:lpstr>Example: ESP32</vt:lpstr>
      <vt:lpstr>Development boards</vt:lpstr>
      <vt:lpstr>Microprocessor architecture</vt:lpstr>
      <vt:lpstr>Embedded ISAs</vt:lpstr>
      <vt:lpstr>Role of memory in embedded systems</vt:lpstr>
      <vt:lpstr>Types of memory</vt:lpstr>
      <vt:lpstr>A memory map – what is where in the memory?</vt:lpstr>
      <vt:lpstr>A more complex memory map: ESP32-S3</vt:lpstr>
      <vt:lpstr>Zooming into the memory space</vt:lpstr>
      <vt:lpstr>Vector table</vt:lpstr>
      <vt:lpstr>The stack</vt:lpstr>
      <vt:lpstr>The heap</vt:lpstr>
      <vt:lpstr>Memory alignment and endianness</vt:lpstr>
      <vt:lpstr>Memory in embedded systems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625</cp:revision>
  <dcterms:created xsi:type="dcterms:W3CDTF">2010-01-15T20:22:21Z</dcterms:created>
  <dcterms:modified xsi:type="dcterms:W3CDTF">2026-01-15T06:30:32Z</dcterms:modified>
</cp:coreProperties>
</file>