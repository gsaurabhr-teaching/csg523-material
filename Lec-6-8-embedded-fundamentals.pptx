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3"/>
  </p:notesMasterIdLst>
  <p:sldIdLst>
    <p:sldId id="337" r:id="rId2"/>
    <p:sldId id="362" r:id="rId3"/>
    <p:sldId id="403" r:id="rId4"/>
    <p:sldId id="359" r:id="rId5"/>
    <p:sldId id="402" r:id="rId6"/>
    <p:sldId id="404" r:id="rId7"/>
    <p:sldId id="408" r:id="rId8"/>
    <p:sldId id="405" r:id="rId9"/>
    <p:sldId id="406" r:id="rId10"/>
    <p:sldId id="407" r:id="rId11"/>
    <p:sldId id="260" r:id="rId12"/>
    <p:sldId id="410" r:id="rId13"/>
    <p:sldId id="411" r:id="rId14"/>
    <p:sldId id="413" r:id="rId15"/>
    <p:sldId id="412" r:id="rId16"/>
    <p:sldId id="416" r:id="rId17"/>
    <p:sldId id="414" r:id="rId18"/>
    <p:sldId id="415" r:id="rId19"/>
    <p:sldId id="417" r:id="rId20"/>
    <p:sldId id="263" r:id="rId21"/>
    <p:sldId id="276" r:id="rId22"/>
    <p:sldId id="277" r:id="rId23"/>
    <p:sldId id="278" r:id="rId24"/>
    <p:sldId id="279" r:id="rId25"/>
    <p:sldId id="280" r:id="rId26"/>
    <p:sldId id="281" r:id="rId27"/>
    <p:sldId id="418" r:id="rId28"/>
    <p:sldId id="419" r:id="rId29"/>
    <p:sldId id="420" r:id="rId30"/>
    <p:sldId id="421" r:id="rId31"/>
    <p:sldId id="422" r:id="rId32"/>
    <p:sldId id="423" r:id="rId33"/>
    <p:sldId id="424" r:id="rId34"/>
    <p:sldId id="425" r:id="rId35"/>
    <p:sldId id="426" r:id="rId36"/>
    <p:sldId id="427" r:id="rId37"/>
    <p:sldId id="429" r:id="rId38"/>
    <p:sldId id="430" r:id="rId39"/>
    <p:sldId id="431" r:id="rId40"/>
    <p:sldId id="428" r:id="rId41"/>
    <p:sldId id="432" r:id="rId42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2C3E8"/>
    <a:srgbClr val="EA3F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4" autoAdjust="0"/>
    <p:restoredTop sz="92730" autoAdjust="0"/>
  </p:normalViewPr>
  <p:slideViewPr>
    <p:cSldViewPr>
      <p:cViewPr varScale="1">
        <p:scale>
          <a:sx n="110" d="100"/>
          <a:sy n="110" d="100"/>
        </p:scale>
        <p:origin x="1020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555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9BA1A87E-813F-AF0F-041D-CE232B7A18C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1" name="Rectangle 3">
            <a:extLst>
              <a:ext uri="{FF2B5EF4-FFF2-40B4-BE49-F238E27FC236}">
                <a16:creationId xmlns:a16="http://schemas.microsoft.com/office/drawing/2014/main" id="{90A33BCA-FF2B-904A-6ACB-421B4697E719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864C4CF4-219F-4C78-A5BA-B2F154A2CDD2}" type="datetimeFigureOut">
              <a:rPr lang="en-US"/>
              <a:pPr>
                <a:defRPr/>
              </a:pPr>
              <a:t>1/20/2026</a:t>
            </a:fld>
            <a:endParaRPr lang="en-US"/>
          </a:p>
        </p:txBody>
      </p:sp>
      <p:sp>
        <p:nvSpPr>
          <p:cNvPr id="19460" name="Rectangle 4">
            <a:extLst>
              <a:ext uri="{FF2B5EF4-FFF2-40B4-BE49-F238E27FC236}">
                <a16:creationId xmlns:a16="http://schemas.microsoft.com/office/drawing/2014/main" id="{E6881BB2-A257-BEB2-B237-5C60E2FE8C72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8133" name="Rectangle 5">
            <a:extLst>
              <a:ext uri="{FF2B5EF4-FFF2-40B4-BE49-F238E27FC236}">
                <a16:creationId xmlns:a16="http://schemas.microsoft.com/office/drawing/2014/main" id="{84E1F9B0-0E05-EEE3-8B09-3292F5E58FDD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8134" name="Rectangle 6">
            <a:extLst>
              <a:ext uri="{FF2B5EF4-FFF2-40B4-BE49-F238E27FC236}">
                <a16:creationId xmlns:a16="http://schemas.microsoft.com/office/drawing/2014/main" id="{FD94DB07-1FBF-48D8-BE9B-EAD1CA856026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5" name="Rectangle 7">
            <a:extLst>
              <a:ext uri="{FF2B5EF4-FFF2-40B4-BE49-F238E27FC236}">
                <a16:creationId xmlns:a16="http://schemas.microsoft.com/office/drawing/2014/main" id="{B2D67A9F-79F1-685B-B7CE-85E68E027A3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082BB320-F13B-41AF-BB84-306DCE9224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>
            <a:extLst>
              <a:ext uri="{FF2B5EF4-FFF2-40B4-BE49-F238E27FC236}">
                <a16:creationId xmlns:a16="http://schemas.microsoft.com/office/drawing/2014/main" id="{44FFA8F6-8FBE-2312-B2D6-012FDBF058E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>
            <a:extLst>
              <a:ext uri="{FF2B5EF4-FFF2-40B4-BE49-F238E27FC236}">
                <a16:creationId xmlns:a16="http://schemas.microsoft.com/office/drawing/2014/main" id="{60994F52-302D-250C-116C-52081CB94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21508" name="Slide Number Placeholder 3">
            <a:extLst>
              <a:ext uri="{FF2B5EF4-FFF2-40B4-BE49-F238E27FC236}">
                <a16:creationId xmlns:a16="http://schemas.microsoft.com/office/drawing/2014/main" id="{B92E2681-B4AB-B23F-9CED-5892333F86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89A8604D-9FA4-4914-BD57-93266632D9AF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0210E9-01D5-7472-677A-3B0AA2AD0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D2DDE-7A51-A1A8-5C34-99C6FAA2B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D8106-2EFE-B03C-0DCC-E1803F83D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7F5451D-6138-4BA6-B687-6C9F908488A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01832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C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3E8660-BD03-9DBA-9F27-92B953591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70716-1DFD-E96E-77AC-224DB37BB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94D3-6482-D516-F215-AAD295B6F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887A73-1AE0-46F8-856A-18EA1CF30A1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562307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44638"/>
            <a:ext cx="7772400" cy="1362075"/>
          </a:xfrm>
        </p:spPr>
        <p:txBody>
          <a:bodyPr anchor="t"/>
          <a:lstStyle>
            <a:lvl1pPr algn="l">
              <a:defRPr sz="4000" b="1" cap="all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E40EF-D719-C1DF-C21A-2CF2ACF95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54D67-7283-208E-229E-EF4878C71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7FBDCE-B7CC-6ED6-F37D-087059BBC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79D9D01-1391-45E0-A9C5-C04635A436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EFD4032-0DCD-4B56-8C1A-A046DCFB4D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5800" y="3048000"/>
            <a:ext cx="7772400" cy="3124200"/>
          </a:xfrm>
        </p:spPr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8803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8A1B8B84-BA43-81F2-03D3-23F157EDD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9C23C139-D613-6FE7-8352-A2E3C1C6D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763CA6A-FAB2-9598-5FD6-5C5FFE4CC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877344-E1C7-49F4-9630-5A0F623202D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20235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AC99FE01-5AE9-7CCB-1DBD-1304A57AD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3A2B8239-FCBD-23CF-FA37-CDC50DB05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E3DACE7-853A-4CB8-B825-278E151B1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ED20D7B-F2AF-465A-8627-050A33B6A2E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997971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0E68BBE-9DA8-9C9C-D822-7FC9D3829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3BD6A7CF-E35D-4F42-293C-8BAB3F135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D87C34F-2852-49F1-C32D-490DE9743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B3AC73-65EA-4970-A755-094E5C634C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993879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D25E5740-931D-F5B1-D23F-DCBD0C38C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F48D1279-085F-FADC-9335-EE951FC2F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2FCD80BA-8A05-EF30-056C-D3B895E35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5AE7E5-2F0D-40CB-89DC-60190FE7F76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259605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B0265D46-A9C7-CD06-5134-985F83276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8A55F7D-AFEF-402F-45C6-533ED83EF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F7864CC-5912-595A-947D-86ED4368F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8715581-CD01-4CEC-BC8F-7353CE8268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204464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E467ABF-5DBD-0F44-6269-D1296B669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1729259-95EB-ABB4-8CC1-6AAA526DC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62D7086-DF65-36F8-E6B6-082068B3E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2052F0-E69A-488D-AA78-DE7ABB9591C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650266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49C7B9-97C1-73C5-069B-8304F71A5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4205D-B0EA-B535-1BCB-C052B27F3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810C2-A27B-66A7-0574-10C225192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29212A-F0D7-4AFF-A386-0ACFB0AAC5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984123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9E6BE-7F7F-94ED-1232-D89436C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9733A2-CB01-A6CE-B5D3-DB2ECAFBB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721FBA-0C17-A4B8-E194-E3AAE0572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D9BE82-4715-4ACA-919F-DBB11A70F4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557081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FFBFFBE-14B2-F0AF-F4AC-4976B5EA7B3E}"/>
              </a:ext>
            </a:extLst>
          </p:cNvPr>
          <p:cNvSpPr/>
          <p:nvPr userDrawn="1"/>
        </p:nvSpPr>
        <p:spPr>
          <a:xfrm>
            <a:off x="0" y="3352800"/>
            <a:ext cx="8686800" cy="2743200"/>
          </a:xfrm>
          <a:prstGeom prst="rect">
            <a:avLst/>
          </a:prstGeom>
          <a:solidFill>
            <a:srgbClr val="101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176F73-2534-EA66-9BA3-389159441E1E}"/>
              </a:ext>
            </a:extLst>
          </p:cNvPr>
          <p:cNvSpPr/>
          <p:nvPr userDrawn="1"/>
        </p:nvSpPr>
        <p:spPr>
          <a:xfrm>
            <a:off x="2895600" y="6096000"/>
            <a:ext cx="2895600" cy="76200"/>
          </a:xfrm>
          <a:prstGeom prst="rect">
            <a:avLst/>
          </a:prstGeom>
          <a:solidFill>
            <a:srgbClr val="76C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143B4A-14C2-1094-BE58-15BD80B6D446}"/>
              </a:ext>
            </a:extLst>
          </p:cNvPr>
          <p:cNvSpPr/>
          <p:nvPr userDrawn="1"/>
        </p:nvSpPr>
        <p:spPr>
          <a:xfrm>
            <a:off x="0" y="6096000"/>
            <a:ext cx="2895600" cy="76200"/>
          </a:xfrm>
          <a:prstGeom prst="rect">
            <a:avLst/>
          </a:prstGeom>
          <a:solidFill>
            <a:srgbClr val="FCB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D759AA-21D7-ABA4-D5D7-76848EAA814B}"/>
              </a:ext>
            </a:extLst>
          </p:cNvPr>
          <p:cNvSpPr/>
          <p:nvPr userDrawn="1"/>
        </p:nvSpPr>
        <p:spPr>
          <a:xfrm>
            <a:off x="5791200" y="6096000"/>
            <a:ext cx="2895600" cy="762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pic>
        <p:nvPicPr>
          <p:cNvPr id="8" name="Picture 10" descr="BITS_university_logo_whitevert.png">
            <a:extLst>
              <a:ext uri="{FF2B5EF4-FFF2-40B4-BE49-F238E27FC236}">
                <a16:creationId xmlns:a16="http://schemas.microsoft.com/office/drawing/2014/main" id="{4AC502B5-9275-C45A-F485-E98B733254D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28592"/>
          <a:stretch>
            <a:fillRect/>
          </a:stretch>
        </p:blipFill>
        <p:spPr bwMode="auto">
          <a:xfrm>
            <a:off x="76200" y="3352800"/>
            <a:ext cx="2057400" cy="1979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8A90F2E-DD9A-35C4-D90C-49EB0FD21D5D}"/>
              </a:ext>
            </a:extLst>
          </p:cNvPr>
          <p:cNvSpPr txBox="1"/>
          <p:nvPr userDrawn="1"/>
        </p:nvSpPr>
        <p:spPr>
          <a:xfrm>
            <a:off x="-76200" y="5257800"/>
            <a:ext cx="2209800" cy="55403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en-US" sz="2900" b="1" spc="-150" dirty="0">
                <a:solidFill>
                  <a:schemeClr val="bg1"/>
                </a:solidFill>
                <a:latin typeface="Arial"/>
                <a:cs typeface="Arial"/>
              </a:rPr>
              <a:t>BITS</a:t>
            </a:r>
            <a:r>
              <a:rPr lang="en-US" sz="2900" spc="-150" dirty="0">
                <a:solidFill>
                  <a:schemeClr val="bg1"/>
                </a:solidFill>
                <a:latin typeface="Arial"/>
                <a:cs typeface="Arial"/>
              </a:rPr>
              <a:t> Pilani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235B97-BCD1-B200-8B0C-6E7F31A5DD6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2400" y="5667375"/>
            <a:ext cx="1905000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US" sz="1200">
                <a:solidFill>
                  <a:srgbClr val="FFFFFF"/>
                </a:solidFill>
                <a:cs typeface="Arial" charset="0"/>
              </a:rPr>
              <a:t>Pilani Campus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2514600" y="5410200"/>
            <a:ext cx="6019800" cy="533400"/>
          </a:xfrm>
        </p:spPr>
        <p:txBody>
          <a:bodyPr anchor="b">
            <a:noAutofit/>
          </a:bodyPr>
          <a:lstStyle>
            <a:lvl1pPr marL="0" indent="0" algn="r">
              <a:lnSpc>
                <a:spcPts val="1800"/>
              </a:lnSpc>
              <a:spcBef>
                <a:spcPts val="0"/>
              </a:spcBef>
              <a:buNone/>
              <a:defRPr sz="18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4600" y="3810000"/>
            <a:ext cx="6019800" cy="1524000"/>
          </a:xfrm>
        </p:spPr>
        <p:txBody>
          <a:bodyPr>
            <a:noAutofit/>
          </a:bodyPr>
          <a:lstStyle>
            <a:lvl1pPr algn="l">
              <a:lnSpc>
                <a:spcPts val="4000"/>
              </a:lnSpc>
              <a:defRPr sz="4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73719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BA203AAE-04EA-FB40-EB07-8B5C207984B1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52400" y="53975"/>
            <a:ext cx="6324600" cy="1195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B0F4528A-9CB7-CDAF-ED2B-34ED9244113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152400" y="1446211"/>
            <a:ext cx="8839200" cy="5014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C94811-E68F-A5B1-AEDA-C6AFA290A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599238"/>
            <a:ext cx="1828800" cy="2587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210422-B7F7-81EF-261E-27508681B4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599238"/>
            <a:ext cx="28956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pPr>
              <a:defRPr/>
            </a:pPr>
            <a:r>
              <a:rPr lang="en-US" b="1" dirty="0">
                <a:solidFill>
                  <a:srgbClr val="101141"/>
                </a:solidFill>
                <a:cs typeface="Arial" charset="0"/>
              </a:rPr>
              <a:t>BITS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,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 Campus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938BB7-5B9C-07D9-CEF5-0333C50550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86800" y="6599238"/>
            <a:ext cx="4572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75A4CA-FE82-4068-9563-37A5A44B587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7" name="Picture 11" descr="Picture 7.png">
            <a:extLst>
              <a:ext uri="{FF2B5EF4-FFF2-40B4-BE49-F238E27FC236}">
                <a16:creationId xmlns:a16="http://schemas.microsoft.com/office/drawing/2014/main" id="{B1A82462-8175-42D8-B46C-67766E05E740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b="5336"/>
          <a:stretch>
            <a:fillRect/>
          </a:stretch>
        </p:blipFill>
        <p:spPr bwMode="auto">
          <a:xfrm>
            <a:off x="6629400" y="0"/>
            <a:ext cx="2193925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Group 18">
            <a:extLst>
              <a:ext uri="{FF2B5EF4-FFF2-40B4-BE49-F238E27FC236}">
                <a16:creationId xmlns:a16="http://schemas.microsoft.com/office/drawing/2014/main" id="{F71B9737-4DA8-4B8F-9335-5F2A7C906531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2133600" y="6553200"/>
            <a:ext cx="7010400" cy="46038"/>
            <a:chOff x="1905000" y="6553200"/>
            <a:chExt cx="7010400" cy="4571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32335E3-1C88-4FEB-B3EA-2686D6520BDF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57711E8-77A4-4937-A983-1A5FDBFC0894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C71875C-BA0F-4B96-BF59-4025A49FA021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  <p:grpSp>
        <p:nvGrpSpPr>
          <p:cNvPr id="12" name="Group 22">
            <a:extLst>
              <a:ext uri="{FF2B5EF4-FFF2-40B4-BE49-F238E27FC236}">
                <a16:creationId xmlns:a16="http://schemas.microsoft.com/office/drawing/2014/main" id="{C2B4447A-9437-4C8F-B654-838CD5BB8615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0" y="1295400"/>
            <a:ext cx="7010400" cy="46038"/>
            <a:chOff x="1905000" y="6553200"/>
            <a:chExt cx="7010400" cy="4571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6377527-4981-49F2-8F12-B5DB6F066126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5B94671-9EEF-4175-9164-57B69291B8A6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D2EC7A3-548A-4998-81D6-DC9D9CECAAD8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4833" r:id="rId1"/>
    <p:sldLayoutId id="2147484834" r:id="rId2"/>
    <p:sldLayoutId id="2147484835" r:id="rId3"/>
    <p:sldLayoutId id="2147484836" r:id="rId4"/>
    <p:sldLayoutId id="2147484837" r:id="rId5"/>
    <p:sldLayoutId id="2147484838" r:id="rId6"/>
    <p:sldLayoutId id="2147484839" r:id="rId7"/>
    <p:sldLayoutId id="2147484840" r:id="rId8"/>
    <p:sldLayoutId id="2147484841" r:id="rId9"/>
    <p:sldLayoutId id="2147484842" r:id="rId10"/>
    <p:sldLayoutId id="2147484843" r:id="rId11"/>
    <p:sldLayoutId id="2147484844" r:id="rId12"/>
  </p:sldLayoutIdLst>
  <p:hf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b="1" kern="1200">
          <a:solidFill>
            <a:srgbClr val="FFC000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>
            <a:extLst>
              <a:ext uri="{FF2B5EF4-FFF2-40B4-BE49-F238E27FC236}">
                <a16:creationId xmlns:a16="http://schemas.microsoft.com/office/drawing/2014/main" id="{82CCF8E8-8D44-B829-5D34-BCFE6E2C9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Software for Embedded Systems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BD772D-9840-4762-E3C3-128057D3E9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sz="2000" dirty="0"/>
              <a:t>Prof. Saurabh Gandhi (EEE department)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2EC380-3A71-436F-AF85-106A4B1CA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2066925"/>
            <a:ext cx="7924800" cy="1362075"/>
          </a:xfrm>
        </p:spPr>
        <p:txBody>
          <a:bodyPr/>
          <a:lstStyle/>
          <a:p>
            <a:r>
              <a:rPr lang="en-US" sz="3600" dirty="0"/>
              <a:t>Embedded fundamentals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CD238BF-8103-48BF-B754-41500EC09F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3FDAD1-D15A-4F0E-9EFD-0A5342793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9D9D01-1391-45E0-A9C5-C04635A43651}" type="slidenum">
              <a:rPr lang="en-US" altLang="en-US" smtClean="0"/>
              <a:pPr>
                <a:defRPr/>
              </a:pPr>
              <a:t>2</a:t>
            </a:fld>
            <a:endParaRPr lang="en-US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991CA3-F3C5-4644-A2FF-2E077507CBB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5800" y="3810000"/>
            <a:ext cx="7772400" cy="25146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Microprocessor architecture basics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Memory organization</a:t>
            </a:r>
          </a:p>
        </p:txBody>
      </p:sp>
    </p:spTree>
    <p:extLst>
      <p:ext uri="{BB962C8B-B14F-4D97-AF65-F5344CB8AC3E}">
        <p14:creationId xmlns:p14="http://schemas.microsoft.com/office/powerpoint/2010/main" val="17255143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0B9B7B-D652-4EEC-9DDD-465F2F4E2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big picture of an embedded computer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1E0F62D-F786-4C4B-A6C0-4CD6A709DCB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85614" y="1549846"/>
            <a:ext cx="6572772" cy="4807645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EA9C78-1182-47EE-AF27-AD3F5BC69B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953F3E-7D17-46C9-8CA4-E95D4F135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857500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8B4311-F5FA-4441-BAF6-A269CDCA70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big picture of a microprocessor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D2687A-5BBF-442D-B5FA-445EC3F8F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E15865-EFA4-4B5F-89B0-AA907B51E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4</a:t>
            </a:fld>
            <a:endParaRPr lang="en-US" altLang="en-US"/>
          </a:p>
        </p:txBody>
      </p:sp>
      <p:pic>
        <p:nvPicPr>
          <p:cNvPr id="3074" name="Picture 2" descr="What Are CPU Registers ? | Types Of Registers , Functions | COA">
            <a:extLst>
              <a:ext uri="{FF2B5EF4-FFF2-40B4-BE49-F238E27FC236}">
                <a16:creationId xmlns:a16="http://schemas.microsoft.com/office/drawing/2014/main" id="{98454991-1165-4D63-8F03-B6CA7B70D97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950"/>
          <a:stretch/>
        </p:blipFill>
        <p:spPr bwMode="auto">
          <a:xfrm>
            <a:off x="342900" y="1383815"/>
            <a:ext cx="8458200" cy="5080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07943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3744B2-7C71-45D8-8DEE-7C60F4016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– a simple model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C2D256-6D3F-4B93-AF3B-0A3091AC66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4EF5BB-B116-48E5-B513-1F5971C46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5</a:t>
            </a:fld>
            <a:endParaRPr lang="en-US" alt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6535FB5-AABE-42A5-95E5-83BC3A75F8D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69"/>
          <a:stretch/>
        </p:blipFill>
        <p:spPr>
          <a:xfrm>
            <a:off x="1097491" y="1524000"/>
            <a:ext cx="6949018" cy="4937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3448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F1418-F1E4-4489-AC3C-512FF3E719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System on chip (SoC) = processor + memory + peripherals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E5D060-CDD2-48A5-AA1B-7D1DFC57C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3199CF-C5E6-4B29-B993-C6549699E8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6</a:t>
            </a:fld>
            <a:endParaRPr lang="en-US" altLang="en-US"/>
          </a:p>
        </p:txBody>
      </p:sp>
      <p:pic>
        <p:nvPicPr>
          <p:cNvPr id="1026" name="Picture 2" descr="Embedded Systems Architecture - InTechHouse">
            <a:extLst>
              <a:ext uri="{FF2B5EF4-FFF2-40B4-BE49-F238E27FC236}">
                <a16:creationId xmlns:a16="http://schemas.microsoft.com/office/drawing/2014/main" id="{AAD5870B-B60C-4388-AE59-25E487626DB2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1467644"/>
            <a:ext cx="8839200" cy="4972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50362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06A51-C66A-4139-9287-F80AC84FB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ESP32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9EE81B-8A2A-4580-AA4B-61763E0D5B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889627-AF91-4D44-A79D-54A92E1DC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1BC222AA-F175-4ACE-9818-E30ADD082EF1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9044" y="1446213"/>
            <a:ext cx="5305912" cy="5014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31293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46726-872C-47A8-911E-D7DE2A5D3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Development boards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A07E62-D651-4DF5-814E-16ACDAEB6B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9AEDCE-78C1-41B1-9B66-9983FA66E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8</a:t>
            </a:fld>
            <a:endParaRPr lang="en-US" altLang="en-US"/>
          </a:p>
        </p:txBody>
      </p:sp>
      <p:pic>
        <p:nvPicPr>
          <p:cNvPr id="3074" name="Picture 2" descr="What is Arduino Uno Hardware Board? Everything you need to know about the  Arduino Hardware">
            <a:extLst>
              <a:ext uri="{FF2B5EF4-FFF2-40B4-BE49-F238E27FC236}">
                <a16:creationId xmlns:a16="http://schemas.microsoft.com/office/drawing/2014/main" id="{C686582F-DFA1-44D0-9454-FE7E7F9F614A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0100" y="1447800"/>
            <a:ext cx="7543800" cy="5029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88496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65126-AB54-4CE3-9F98-4766289FB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Microprocessor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141FFA-F26C-4A44-8765-F75A569FC4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Size of data and address bus (8-bit, 16-bit, 32-bit)</a:t>
            </a:r>
          </a:p>
          <a:p>
            <a:r>
              <a:rPr lang="en-US" dirty="0"/>
              <a:t>Memory architecture (Harvard, von Neumann)</a:t>
            </a:r>
          </a:p>
          <a:p>
            <a:pPr lvl="1"/>
            <a:r>
              <a:rPr lang="en-US" dirty="0"/>
              <a:t>Harvard (most common in embedded): separate data and instruction bus – simultaneous fetching of data and instruction</a:t>
            </a:r>
          </a:p>
          <a:p>
            <a:pPr lvl="1"/>
            <a:r>
              <a:rPr lang="en-US" dirty="0"/>
              <a:t>Von Neumann: Unified memory for code and data</a:t>
            </a:r>
          </a:p>
          <a:p>
            <a:pPr lvl="1"/>
            <a:r>
              <a:rPr lang="en-US" dirty="0"/>
              <a:t>Modified Harvard: modern ARM Cortex-M processors</a:t>
            </a:r>
          </a:p>
          <a:p>
            <a:r>
              <a:rPr lang="en-US" dirty="0"/>
              <a:t>Instruction set architecture (ISA): What instructions are available to execute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B08D4-86C8-4F37-B591-16678A225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270637-69EE-40EC-8BD9-261D24AD95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87847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D18EE-0970-4112-AE8A-6189DF48F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Embedded ISAs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F60389-87FD-4C1A-8EB9-AD1B5C157B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RISC (reduced instruction set): most common for embedded systems (ARM, RISC-V, </a:t>
            </a:r>
            <a:r>
              <a:rPr lang="en-US" dirty="0" err="1"/>
              <a:t>xtensa</a:t>
            </a:r>
            <a:r>
              <a:rPr lang="en-US" dirty="0"/>
              <a:t>)</a:t>
            </a:r>
          </a:p>
          <a:p>
            <a:r>
              <a:rPr lang="en-US" dirty="0"/>
              <a:t>Predictable timing of each instruction</a:t>
            </a:r>
          </a:p>
          <a:p>
            <a:r>
              <a:rPr lang="en-US" dirty="0"/>
              <a:t>Lower power</a:t>
            </a:r>
          </a:p>
          <a:p>
            <a:r>
              <a:rPr lang="en-US" dirty="0"/>
              <a:t>Simpler design</a:t>
            </a:r>
          </a:p>
          <a:p>
            <a:r>
              <a:rPr lang="en-US" dirty="0"/>
              <a:t>Easy customization</a:t>
            </a:r>
          </a:p>
          <a:p>
            <a:r>
              <a:rPr lang="en-US" dirty="0"/>
              <a:t>Clear hardware-software interface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FF9AD2-19B3-4B6B-8396-8EBC9AC202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CBAE87-3039-47B4-862E-0E22902AE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500941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0FE6E-54C4-DBD5-E603-093CB1F56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Role of memory in embedded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DE217-110B-2462-30A8-444603AA45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Storage and communication for programs</a:t>
            </a:r>
          </a:p>
          <a:p>
            <a:r>
              <a:rPr lang="en-US" dirty="0"/>
              <a:t>Communication with sensors and actuators</a:t>
            </a:r>
          </a:p>
          <a:p>
            <a:r>
              <a:rPr lang="en-US" dirty="0"/>
              <a:t>More constrained than general-purpose computing</a:t>
            </a:r>
          </a:p>
          <a:p>
            <a:pPr lvl="1"/>
            <a:r>
              <a:rPr lang="en-US" dirty="0"/>
              <a:t>Size, power, reliability</a:t>
            </a:r>
          </a:p>
          <a:p>
            <a:r>
              <a:rPr lang="en-US" dirty="0"/>
              <a:t>Important for programmers to understand these constraints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62B6C3-AFD5-92FE-B6AA-8EA1A6638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659652-A386-427F-9A40-D4C53C1D85C6}" type="datetime3">
              <a:rPr lang="en-US" smtClean="0"/>
              <a:t>20 January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617AE8-97FD-C92D-70AF-0498A4DEB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ELL787: Embedded Systems and Applications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9F4A0A-FD36-38F4-2CD2-288C66BE6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4275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D063AD-553F-443F-8111-C5EDF0DCD3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4499F-FB0E-4C87-BF05-D1814EE67E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Flash / ROM </a:t>
            </a:r>
            <a:r>
              <a:rPr lang="en-US" dirty="0">
                <a:sym typeface="Wingdings" panose="05000000000000000000" pitchFamily="2" charset="2"/>
              </a:rPr>
              <a:t> store program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Persistent, fast to read but slow to write, fewer write cycles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good for bulk storage that changes infrequently</a:t>
            </a:r>
          </a:p>
          <a:p>
            <a:r>
              <a:rPr lang="en-US" dirty="0">
                <a:sym typeface="Wingdings" panose="05000000000000000000" pitchFamily="2" charset="2"/>
              </a:rPr>
              <a:t>EEPROM / NVM  store configuration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Persistent, slower, larger number of write cycles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good for storing small chunks of data that change frequently</a:t>
            </a:r>
          </a:p>
          <a:p>
            <a:r>
              <a:rPr lang="en-US" dirty="0">
                <a:sym typeface="Wingdings" panose="05000000000000000000" pitchFamily="2" charset="2"/>
              </a:rPr>
              <a:t>RAM  hold data, stack, heap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Volatile, very fast, unlimited write cycles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hold data required for immediate operation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D9375C-CAF3-4DB9-A2EF-FC1B10483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9985C0-6E41-4AC8-BA60-40BBC1272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678401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C65ED-90ED-4C1B-9AFE-1DF045E5F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memory map – what is where in the memory?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5B13A6-FE42-4861-87C1-69695C9D0A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4953000" cy="5014912"/>
          </a:xfrm>
        </p:spPr>
        <p:txBody>
          <a:bodyPr/>
          <a:lstStyle/>
          <a:p>
            <a:r>
              <a:rPr lang="en-US" dirty="0"/>
              <a:t>Different types of memories might need to be accessed by the processor</a:t>
            </a:r>
          </a:p>
          <a:p>
            <a:r>
              <a:rPr lang="en-US" dirty="0"/>
              <a:t>Put the all on the same address bus</a:t>
            </a:r>
          </a:p>
          <a:p>
            <a:r>
              <a:rPr lang="en-US" dirty="0"/>
              <a:t>Memory map: layout that shows the entire address space of a microcontroller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DA2B3E-6C8A-4D57-8021-A7818AE09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8750CE-9FED-4CE9-9850-4E2964EA4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13</a:t>
            </a:fld>
            <a:endParaRPr lang="en-US" altLang="en-US"/>
          </a:p>
        </p:txBody>
      </p:sp>
      <p:pic>
        <p:nvPicPr>
          <p:cNvPr id="4098" name="Picture 2" descr="Understanding the Memory Map of a Microcontroller | TA Embedded posted on  the topic | LinkedIn">
            <a:extLst>
              <a:ext uri="{FF2B5EF4-FFF2-40B4-BE49-F238E27FC236}">
                <a16:creationId xmlns:a16="http://schemas.microsoft.com/office/drawing/2014/main" id="{714410F0-8A62-4167-B74C-42489E4065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8800" y="1439067"/>
            <a:ext cx="3352800" cy="5029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43388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2A26E4-39EE-4401-BDB4-D533715B7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more complex memory map: ESP32-S3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C36B12-CCF4-4666-98D2-CD849D97D8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D475C0-93F7-4D0C-AB05-0385C92F0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14</a:t>
            </a:fld>
            <a:endParaRPr lang="en-US" altLang="en-US"/>
          </a:p>
        </p:txBody>
      </p:sp>
      <p:pic>
        <p:nvPicPr>
          <p:cNvPr id="6146" name="Picture 2" descr="ESP32's Family Memory Map 101. The ESP32 series of microcontrollers… | by  Marek Matej | The ESP Journal | Medium">
            <a:extLst>
              <a:ext uri="{FF2B5EF4-FFF2-40B4-BE49-F238E27FC236}">
                <a16:creationId xmlns:a16="http://schemas.microsoft.com/office/drawing/2014/main" id="{D105386D-FC15-4B37-9F15-21E2FEC33CE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9470" y="1446213"/>
            <a:ext cx="5885060" cy="5014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21410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0F23-FE16-43E3-BD1A-8169F2B86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Zooming into the memory space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04626-F381-43FC-8CCF-F06ED50ECD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F7009E-7117-430E-B3F0-991732D4D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15</a:t>
            </a:fld>
            <a:endParaRPr lang="en-US" altLang="en-US"/>
          </a:p>
        </p:txBody>
      </p:sp>
      <p:pic>
        <p:nvPicPr>
          <p:cNvPr id="5122" name="Picture 2" descr="Understanding the Memory Map of a Microcontroller | TA Embedded posted on  the topic | LinkedIn">
            <a:extLst>
              <a:ext uri="{FF2B5EF4-FFF2-40B4-BE49-F238E27FC236}">
                <a16:creationId xmlns:a16="http://schemas.microsoft.com/office/drawing/2014/main" id="{CB7076D4-B45B-4243-91AE-1C1666187E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" y="1371600"/>
            <a:ext cx="2971800" cy="4457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Microcontroller memory layout - Shattered Silicon UK">
            <a:extLst>
              <a:ext uri="{FF2B5EF4-FFF2-40B4-BE49-F238E27FC236}">
                <a16:creationId xmlns:a16="http://schemas.microsoft.com/office/drawing/2014/main" id="{C3C1DF1C-9475-4627-9BF6-91FDA8A07C50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8600" y="914400"/>
            <a:ext cx="3733800" cy="58697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88884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71A23-19A8-466C-AD4B-3DEC702A81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D94E42-F31F-4922-BDCB-C7E293D0C1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4191000" cy="5014912"/>
          </a:xfrm>
        </p:spPr>
        <p:txBody>
          <a:bodyPr/>
          <a:lstStyle/>
          <a:p>
            <a:r>
              <a:rPr lang="en-US" sz="2400" dirty="0"/>
              <a:t>Table of addresses where specific</a:t>
            </a:r>
            <a:br>
              <a:rPr lang="en-US" sz="2400" dirty="0"/>
            </a:br>
            <a:r>
              <a:rPr lang="en-US" sz="2400" dirty="0"/>
              <a:t>code lives</a:t>
            </a:r>
          </a:p>
          <a:p>
            <a:r>
              <a:rPr lang="en-US" sz="2400" dirty="0"/>
              <a:t>Where to execute from when there is a reset?</a:t>
            </a:r>
          </a:p>
          <a:p>
            <a:r>
              <a:rPr lang="en-US" sz="2400" dirty="0"/>
              <a:t>Exceptions, interrupts etc.</a:t>
            </a:r>
          </a:p>
          <a:p>
            <a:endParaRPr lang="en-US" sz="2400" dirty="0"/>
          </a:p>
          <a:p>
            <a:r>
              <a:rPr lang="en-US" sz="2400" dirty="0"/>
              <a:t>When the event occurs, processor reads the address for that event in the table, then jumps to it for execution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CCE00E-44D9-4744-BF94-785CFAD99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0FF6C8E-982B-4584-B2DE-E116EF26C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16</a:t>
            </a:fld>
            <a:endParaRPr lang="en-US" altLang="en-US"/>
          </a:p>
        </p:txBody>
      </p:sp>
      <p:pic>
        <p:nvPicPr>
          <p:cNvPr id="6" name="Picture 4" descr="Microcontroller memory layout - Shattered Silicon UK">
            <a:extLst>
              <a:ext uri="{FF2B5EF4-FFF2-40B4-BE49-F238E27FC236}">
                <a16:creationId xmlns:a16="http://schemas.microsoft.com/office/drawing/2014/main" id="{2B972443-D28A-4412-B7EB-F900F06A43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532" t="56361" r="958" b="-499"/>
          <a:stretch/>
        </p:blipFill>
        <p:spPr bwMode="auto">
          <a:xfrm>
            <a:off x="4184904" y="1066800"/>
            <a:ext cx="4806696" cy="33162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59749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6394C1-B2C2-4115-A7AD-C9FD4ACEB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500190-7280-465D-84D6-9E7BFED12E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calls</a:t>
            </a:r>
          </a:p>
          <a:p>
            <a:r>
              <a:rPr lang="en-US" dirty="0"/>
              <a:t>Local variables</a:t>
            </a:r>
          </a:p>
          <a:p>
            <a:r>
              <a:rPr lang="en-US" dirty="0"/>
              <a:t>Interrupt handling</a:t>
            </a:r>
          </a:p>
          <a:p>
            <a:r>
              <a:rPr lang="en-US" dirty="0"/>
              <a:t>LIFO (last in first out)</a:t>
            </a:r>
          </a:p>
          <a:p>
            <a:r>
              <a:rPr lang="en-US" dirty="0"/>
              <a:t>Grows downwards</a:t>
            </a:r>
          </a:p>
          <a:p>
            <a:endParaRPr lang="en-US" dirty="0"/>
          </a:p>
          <a:p>
            <a:r>
              <a:rPr lang="en-US" dirty="0"/>
              <a:t>Common failure: stack overflow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8E7772-3D89-46D8-819E-A0789EFB5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490604-16B4-4D3C-B7B5-47495255C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17</a:t>
            </a:fld>
            <a:endParaRPr lang="en-US" altLang="en-US"/>
          </a:p>
        </p:txBody>
      </p:sp>
      <p:pic>
        <p:nvPicPr>
          <p:cNvPr id="7" name="Picture 4" descr="Microcontroller memory layout - Shattered Silicon UK">
            <a:extLst>
              <a:ext uri="{FF2B5EF4-FFF2-40B4-BE49-F238E27FC236}">
                <a16:creationId xmlns:a16="http://schemas.microsoft.com/office/drawing/2014/main" id="{89C32A99-6F2C-4687-9FB9-1C58C60DB21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898" b="55862"/>
          <a:stretch/>
        </p:blipFill>
        <p:spPr bwMode="auto">
          <a:xfrm>
            <a:off x="6394704" y="874776"/>
            <a:ext cx="2633472" cy="33162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494043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95FF2-8B2D-4A58-93D7-A813C8E7B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heap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91A9E4-B2A0-4E2E-A73E-22676AC608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Dynamic memory allocation</a:t>
            </a:r>
          </a:p>
          <a:p>
            <a:r>
              <a:rPr lang="en-US" dirty="0"/>
              <a:t>Grows upwards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Risks:</a:t>
            </a:r>
          </a:p>
          <a:p>
            <a:r>
              <a:rPr lang="en-US" dirty="0"/>
              <a:t>Fragmentation</a:t>
            </a:r>
          </a:p>
          <a:p>
            <a:r>
              <a:rPr lang="en-US" dirty="0"/>
              <a:t>Unpredictable timing</a:t>
            </a:r>
          </a:p>
          <a:p>
            <a:pPr lvl="1"/>
            <a:r>
              <a:rPr lang="en-US" dirty="0"/>
              <a:t>Because allocation is dynamic (have to find free blocks, collect garbage etc.)</a:t>
            </a:r>
          </a:p>
          <a:p>
            <a:r>
              <a:rPr lang="en-US" dirty="0"/>
              <a:t>Collision with stack!</a:t>
            </a:r>
          </a:p>
          <a:p>
            <a:pPr lvl="1"/>
            <a:r>
              <a:rPr lang="en-US" dirty="0"/>
              <a:t>#1 cause of random embedded software crashes</a:t>
            </a:r>
          </a:p>
          <a:p>
            <a:endParaRPr lang="en-US" dirty="0"/>
          </a:p>
          <a:p>
            <a:r>
              <a:rPr lang="en-US" dirty="0"/>
              <a:t>Avoid heap in safety-critical paths (banned in MISRA-C)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84EC63-02E6-4188-883F-D57FA891FB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89EFDC-D787-4DAF-911D-232DB40C6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18</a:t>
            </a:fld>
            <a:endParaRPr lang="en-US" altLang="en-US"/>
          </a:p>
        </p:txBody>
      </p:sp>
      <p:pic>
        <p:nvPicPr>
          <p:cNvPr id="6" name="Picture 4" descr="Microcontroller memory layout - Shattered Silicon UK">
            <a:extLst>
              <a:ext uri="{FF2B5EF4-FFF2-40B4-BE49-F238E27FC236}">
                <a16:creationId xmlns:a16="http://schemas.microsoft.com/office/drawing/2014/main" id="{E4878178-C70D-44BF-A137-64A0D0C0E4B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898" b="55862"/>
          <a:stretch/>
        </p:blipFill>
        <p:spPr bwMode="auto">
          <a:xfrm>
            <a:off x="6394704" y="874776"/>
            <a:ext cx="2633472" cy="33162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513914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 descr="Big Endian and Little Endian in Memory -">
            <a:extLst>
              <a:ext uri="{FF2B5EF4-FFF2-40B4-BE49-F238E27FC236}">
                <a16:creationId xmlns:a16="http://schemas.microsoft.com/office/drawing/2014/main" id="{F660291B-CCAC-4E50-B7C5-8CD9283B64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2431" y="3505199"/>
            <a:ext cx="5244137" cy="2949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4812145-0493-487B-8E34-FEDAA7AF7C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alignment and endianness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FA0697-9B4B-4FBE-98AB-8FE7364866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Memory is typically byte-addressed</a:t>
            </a:r>
          </a:p>
          <a:p>
            <a:r>
              <a:rPr lang="en-US" dirty="0"/>
              <a:t>Read from an address returns multiple bytes (1, 2 or 4)</a:t>
            </a:r>
          </a:p>
          <a:p>
            <a:r>
              <a:rPr lang="en-US" dirty="0"/>
              <a:t>For example, a 32-bit integer must start at an address divisible by 4</a:t>
            </a:r>
          </a:p>
          <a:p>
            <a:endParaRPr lang="en-US" dirty="0"/>
          </a:p>
          <a:p>
            <a:r>
              <a:rPr lang="en-US" dirty="0"/>
              <a:t>Endianness</a:t>
            </a:r>
          </a:p>
          <a:p>
            <a:r>
              <a:rPr lang="en-US" dirty="0"/>
              <a:t>Matters when communicating</a:t>
            </a:r>
            <a:br>
              <a:rPr lang="en-US" dirty="0"/>
            </a:br>
            <a:r>
              <a:rPr lang="en-US" dirty="0"/>
              <a:t>across systems!!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6E2D62-4372-4196-BC26-88458C579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8997E1-08B0-4EA3-9FA1-222CA8CAC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664713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912A4-0C41-2E43-97E0-9E13FB5F4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in embedded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235B5E-1160-5253-90E7-6849FDE3C2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1609808"/>
            <a:ext cx="4188314" cy="4867191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Types of memory</a:t>
            </a:r>
          </a:p>
          <a:p>
            <a:pPr lvl="1"/>
            <a:r>
              <a:rPr lang="en-US" dirty="0"/>
              <a:t>Volatile vs non-volatile</a:t>
            </a:r>
          </a:p>
          <a:p>
            <a:pPr lvl="1"/>
            <a:r>
              <a:rPr lang="en-US" dirty="0"/>
              <a:t>SRAM vs DRAM</a:t>
            </a:r>
          </a:p>
          <a:p>
            <a:pPr lvl="1"/>
            <a:endParaRPr lang="en-US" dirty="0"/>
          </a:p>
          <a:p>
            <a:r>
              <a:rPr lang="en-US" dirty="0"/>
              <a:t>Memory architectures</a:t>
            </a:r>
          </a:p>
          <a:p>
            <a:pPr lvl="1"/>
            <a:r>
              <a:rPr lang="en-US" dirty="0"/>
              <a:t>Harvard vs von Neuman</a:t>
            </a:r>
          </a:p>
          <a:p>
            <a:pPr lvl="1"/>
            <a:r>
              <a:rPr lang="en-US" dirty="0"/>
              <a:t>Memory-mapped I/O</a:t>
            </a:r>
          </a:p>
          <a:p>
            <a:pPr lvl="1"/>
            <a:endParaRPr lang="en-US" dirty="0"/>
          </a:p>
          <a:p>
            <a:r>
              <a:rPr lang="en-US" dirty="0"/>
              <a:t>Memory organization</a:t>
            </a:r>
          </a:p>
          <a:p>
            <a:pPr lvl="1"/>
            <a:r>
              <a:rPr lang="en-US" dirty="0"/>
              <a:t>Statically allocated</a:t>
            </a:r>
          </a:p>
          <a:p>
            <a:pPr lvl="1"/>
            <a:r>
              <a:rPr lang="en-US" dirty="0"/>
              <a:t>Stacks</a:t>
            </a:r>
          </a:p>
          <a:p>
            <a:pPr lvl="1"/>
            <a:r>
              <a:rPr lang="en-US" dirty="0"/>
              <a:t>Heaps (allocation, fragmentation, garbage collection)</a:t>
            </a:r>
          </a:p>
          <a:p>
            <a:r>
              <a:rPr lang="en-US" dirty="0"/>
              <a:t>Memory hierarchies</a:t>
            </a:r>
          </a:p>
          <a:p>
            <a:endParaRPr lang="en-US" dirty="0"/>
          </a:p>
          <a:p>
            <a:r>
              <a:rPr lang="en-US" dirty="0"/>
              <a:t>Memory protection</a:t>
            </a:r>
          </a:p>
          <a:p>
            <a:pPr lvl="1"/>
            <a:r>
              <a:rPr lang="en-US" dirty="0"/>
              <a:t>Segmented spaces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67F650-856E-04FE-CA4F-35F91AE65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659652-A386-427F-9A40-D4C53C1D85C6}" type="datetime3">
              <a:rPr lang="en-US" smtClean="0"/>
              <a:t>20 January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4A7CE1-AF1E-2790-9D33-FB188991B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ELL787: Embedded Systems and Applications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A2B02A-54D3-34FB-C131-20C243A6F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20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E6A15D-1FAB-C492-FB85-E887769A3E5C}"/>
              </a:ext>
            </a:extLst>
          </p:cNvPr>
          <p:cNvSpPr txBox="1">
            <a:spLocks/>
          </p:cNvSpPr>
          <p:nvPr/>
        </p:nvSpPr>
        <p:spPr>
          <a:xfrm>
            <a:off x="4191000" y="1467841"/>
            <a:ext cx="4578165" cy="5009158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Non-volatile memory</a:t>
            </a:r>
          </a:p>
          <a:p>
            <a:pPr lvl="1"/>
            <a:r>
              <a:rPr lang="en-US" sz="15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EPROM</a:t>
            </a:r>
          </a:p>
          <a:p>
            <a:pPr lvl="1"/>
            <a:r>
              <a:rPr lang="en-US" sz="15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EEPROM</a:t>
            </a:r>
          </a:p>
          <a:p>
            <a:pPr lvl="1"/>
            <a:r>
              <a:rPr lang="en-US" sz="15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Flash memory</a:t>
            </a:r>
          </a:p>
          <a:p>
            <a:pPr lvl="1"/>
            <a:r>
              <a:rPr lang="en-US" sz="15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Disk drives</a:t>
            </a:r>
          </a:p>
          <a:p>
            <a:pPr lvl="1"/>
            <a:endParaRPr lang="en-US" sz="15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r>
              <a:rPr lang="en-US" sz="1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Volatile memory</a:t>
            </a:r>
          </a:p>
          <a:p>
            <a:pPr lvl="1"/>
            <a:r>
              <a:rPr lang="en-US" sz="15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SRAM (static random access memory)</a:t>
            </a:r>
          </a:p>
          <a:p>
            <a:pPr lvl="2"/>
            <a:r>
              <a:rPr lang="en-US" sz="135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Fast, deterministic access</a:t>
            </a:r>
          </a:p>
          <a:p>
            <a:pPr lvl="2"/>
            <a:r>
              <a:rPr lang="en-US" sz="135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Power hungry</a:t>
            </a:r>
          </a:p>
          <a:p>
            <a:pPr lvl="2"/>
            <a:r>
              <a:rPr lang="en-US" sz="135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Used for caches, scratchpads (expensive!)</a:t>
            </a:r>
          </a:p>
          <a:p>
            <a:pPr lvl="1"/>
            <a:r>
              <a:rPr lang="en-US" sz="15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DRAM (dynamic random access memory)</a:t>
            </a:r>
          </a:p>
          <a:p>
            <a:pPr lvl="2"/>
            <a:r>
              <a:rPr lang="en-US" sz="135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Slower, access time depends on sequence of addresses</a:t>
            </a:r>
          </a:p>
          <a:p>
            <a:pPr lvl="2"/>
            <a:r>
              <a:rPr lang="en-US" sz="135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Higher capacity (per unit space, $$)</a:t>
            </a:r>
          </a:p>
          <a:p>
            <a:pPr lvl="2"/>
            <a:r>
              <a:rPr lang="en-US" sz="135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Requires periodic refresh</a:t>
            </a:r>
          </a:p>
          <a:p>
            <a:pPr lvl="2"/>
            <a:r>
              <a:rPr lang="en-US" sz="135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Used for main memory</a:t>
            </a:r>
          </a:p>
          <a:p>
            <a:pPr lvl="1"/>
            <a:endParaRPr lang="en-US" sz="15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r>
              <a:rPr lang="en-US" sz="1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Bootloader</a:t>
            </a:r>
          </a:p>
          <a:p>
            <a:pPr lvl="1"/>
            <a:r>
              <a:rPr lang="en-US" sz="15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Transfers data from non-volatile to volatile memory at start-up</a:t>
            </a:r>
          </a:p>
        </p:txBody>
      </p:sp>
    </p:spTree>
    <p:extLst>
      <p:ext uri="{BB962C8B-B14F-4D97-AF65-F5344CB8AC3E}">
        <p14:creationId xmlns:p14="http://schemas.microsoft.com/office/powerpoint/2010/main" val="57994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593DA-C1AA-3D4D-CD9B-63755AF4F7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does the embedded system start up?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8AB8CC-2C2B-225C-25C0-89F0B8A596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SRAM and DRAM are empty.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What does the ROM contain?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What does the Flash contain?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PC starts with a predefined address in Flash and thus starts executing instructions from there (for example a parallel NOR flash device)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Must ensure that the flash is properly powered on by the time the CPU reads from it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Very slow, unless an I-cache is used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D895FE-FA6C-5A7E-9874-E00CA134C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659652-A386-427F-9A40-D4C53C1D85C6}" type="datetime3">
              <a:rPr lang="en-US" smtClean="0"/>
              <a:t>20 January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15A68D-246C-9172-9544-FABC5BA4F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ELL787: Embedded Systems and Applications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C2C60E-823D-C9B7-0740-3236A7275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6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6AFB0-4E28-1582-27BA-2B9282061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lacking with just starting from the NOR flash?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7CE624-158A-7F0D-F36D-1394CA4782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NOR flash is expensive compared to a serial (SPI) NAND flash</a:t>
            </a:r>
          </a:p>
          <a:p>
            <a:endParaRPr lang="en-US" dirty="0"/>
          </a:p>
          <a:p>
            <a:r>
              <a:rPr lang="en-US" dirty="0"/>
              <a:t>There may already be some NAND or other storage in the system to store data; might as well use it for the program!</a:t>
            </a:r>
          </a:p>
          <a:p>
            <a:endParaRPr lang="en-US" dirty="0"/>
          </a:p>
          <a:p>
            <a:r>
              <a:rPr lang="en-US" dirty="0"/>
              <a:t>First execute a small snippet of code that is used to set up the proper program data transfer from your choice of device into the RAM from where it can be run fast</a:t>
            </a:r>
          </a:p>
          <a:p>
            <a:endParaRPr lang="en-US" dirty="0"/>
          </a:p>
          <a:p>
            <a:r>
              <a:rPr lang="en-US" dirty="0"/>
              <a:t>Where do you put this snippet?</a:t>
            </a:r>
          </a:p>
          <a:p>
            <a:r>
              <a:rPr lang="en-US" dirty="0"/>
              <a:t>Boot ROM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903AE6-FC1A-88D8-A85E-6DFE4D8A8B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659652-A386-427F-9A40-D4C53C1D85C6}" type="datetime3">
              <a:rPr lang="en-US" smtClean="0"/>
              <a:t>20 January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B7AF15-1122-B924-E660-E23E877446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ELL787: Embedded Systems and Applications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63738F-AA70-DF43-F4ED-C066172B8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707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02A8C-C19D-001D-7362-A3DEC0806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the Boot ROM do?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E88ECD-04C3-4ACA-F139-902F3E7FDE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Which boot mode to select?</a:t>
            </a:r>
          </a:p>
          <a:p>
            <a:pPr lvl="1"/>
            <a:r>
              <a:rPr lang="en-US" dirty="0"/>
              <a:t>Flash memory, or download code via UART, USB, network, or something else…</a:t>
            </a:r>
          </a:p>
          <a:p>
            <a:r>
              <a:rPr lang="en-US" dirty="0"/>
              <a:t>Often decides by looking at signals on pre-defined pins (bootstrapping pins)</a:t>
            </a:r>
          </a:p>
          <a:p>
            <a:r>
              <a:rPr lang="en-US" dirty="0"/>
              <a:t>The ROM code then initializes the peripheral and brings in the code to run</a:t>
            </a:r>
          </a:p>
          <a:p>
            <a:endParaRPr lang="en-US" dirty="0"/>
          </a:p>
          <a:p>
            <a:r>
              <a:rPr lang="en-US" dirty="0"/>
              <a:t>Memory filling – fill 0 or 1 into certain sections of memory as ‘default state’</a:t>
            </a:r>
          </a:p>
          <a:p>
            <a:endParaRPr lang="en-US" dirty="0"/>
          </a:p>
          <a:p>
            <a:r>
              <a:rPr lang="en-US" dirty="0"/>
              <a:t>Sets default parameters for the system, related to interrupt handling, setting clock frequency etc.</a:t>
            </a:r>
          </a:p>
          <a:p>
            <a:endParaRPr lang="en-US" dirty="0"/>
          </a:p>
          <a:p>
            <a:r>
              <a:rPr lang="en-US" dirty="0"/>
              <a:t>Load hardware-specific code from Flash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E4ABE5-91D5-3984-772B-06E3FA7AF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659652-A386-427F-9A40-D4C53C1D85C6}" type="datetime3">
              <a:rPr lang="en-US" smtClean="0"/>
              <a:t>20 January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0BD29B-1C43-FE82-28F3-3F0533868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ELL787: Embedded Systems and Applications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7E6607-B0C4-855D-F18F-556D34A3E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1882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6643C-F0AD-EA55-63B0-F235F7FE2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Second stage bootloader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BD5CE1-9FFF-BF66-8A76-703485607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Handles more complex boot-up processes that the primary bootloader is not designed to handle</a:t>
            </a:r>
          </a:p>
          <a:p>
            <a:endParaRPr lang="en-US" dirty="0"/>
          </a:p>
          <a:p>
            <a:r>
              <a:rPr lang="en-US" dirty="0"/>
              <a:t>May run the POST tests</a:t>
            </a:r>
          </a:p>
          <a:p>
            <a:endParaRPr lang="en-US" dirty="0"/>
          </a:p>
          <a:p>
            <a:r>
              <a:rPr lang="en-US" dirty="0"/>
              <a:t>Initialize all other peripherals that the system will need once fully up</a:t>
            </a:r>
          </a:p>
          <a:p>
            <a:endParaRPr lang="en-US" dirty="0"/>
          </a:p>
          <a:p>
            <a:r>
              <a:rPr lang="en-US" dirty="0"/>
              <a:t>Use different memory layouts (partition tables)</a:t>
            </a:r>
          </a:p>
          <a:p>
            <a:endParaRPr lang="en-US" dirty="0"/>
          </a:p>
          <a:p>
            <a:r>
              <a:rPr lang="en-US" dirty="0"/>
              <a:t>Firmware updates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A9D88D-698A-E2DB-FB41-82922D8373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659652-A386-427F-9A40-D4C53C1D85C6}" type="datetime3">
              <a:rPr lang="en-US" smtClean="0"/>
              <a:t>20 January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34ECA7-8B8E-023A-5CFB-C2398EEB44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ELL787: Embedded Systems and Applications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EED5E-24F6-5543-7C01-BCF644AC8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18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6E2624-0764-41BC-40E7-C7ADA29DED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Flashing a bootable image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B99783-D125-3999-CA12-048EEE821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659652-A386-427F-9A40-D4C53C1D85C6}" type="datetime3">
              <a:rPr lang="en-US" smtClean="0"/>
              <a:t>20 January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979DA6-F3A3-BA08-586E-6BD5C654F1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ELL787: Embedded Systems and Applications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B88A99-3C63-718E-3041-A899D7184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25</a:t>
            </a:fld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6443A49A-BB55-5922-8A08-04B5B9D4E7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575" y="1486372"/>
            <a:ext cx="4542585" cy="2198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A8F6957-C395-38C9-FBEB-6DF6924F19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73787" y="2981886"/>
            <a:ext cx="5375639" cy="2505047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90689EDA-1BA9-A097-46FE-15DCE8B06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3870748"/>
            <a:ext cx="3579212" cy="1702136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dirty="0"/>
              <a:t>Headers contain information about the block:</a:t>
            </a:r>
          </a:p>
          <a:p>
            <a:r>
              <a:rPr lang="en-US" dirty="0"/>
              <a:t>How many bytes?</a:t>
            </a:r>
          </a:p>
          <a:p>
            <a:r>
              <a:rPr lang="en-US" dirty="0"/>
              <a:t>Where to put it in memory?</a:t>
            </a:r>
          </a:p>
          <a:p>
            <a:r>
              <a:rPr lang="en-US" dirty="0"/>
              <a:t>Any other information that the Boot ROM may need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97A2384-67C5-1270-A073-3B9674B258FC}"/>
              </a:ext>
            </a:extLst>
          </p:cNvPr>
          <p:cNvSpPr txBox="1"/>
          <p:nvPr/>
        </p:nvSpPr>
        <p:spPr>
          <a:xfrm>
            <a:off x="4893495" y="5365135"/>
            <a:ext cx="41736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900" b="1" dirty="0"/>
              <a:t>https://www.embedded.com/fundamentals-of-booting-for-embedded-processors/</a:t>
            </a:r>
          </a:p>
        </p:txBody>
      </p:sp>
      <p:pic>
        <p:nvPicPr>
          <p:cNvPr id="1026" name="Picture 2" descr="Embedded project build process | Microcontroller Embedded C">
            <a:extLst>
              <a:ext uri="{FF2B5EF4-FFF2-40B4-BE49-F238E27FC236}">
                <a16:creationId xmlns:a16="http://schemas.microsoft.com/office/drawing/2014/main" id="{21184D9D-0046-4E62-8603-2A0A1F2680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1600" y="851991"/>
            <a:ext cx="3947160" cy="22127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2434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F1489-B727-79FF-27BB-B479C812D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Starting up the embedded system (after Boot ROM has initialized)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0A0840-DC3F-7511-7FE5-353CF41254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1609808"/>
            <a:ext cx="4531214" cy="4867191"/>
          </a:xfrm>
        </p:spPr>
        <p:txBody>
          <a:bodyPr>
            <a:noAutofit/>
          </a:bodyPr>
          <a:lstStyle/>
          <a:p>
            <a:r>
              <a:rPr lang="en-US" sz="1700" dirty="0"/>
              <a:t>Reset vector: Points to a special location in Flash from where instruction read begins</a:t>
            </a:r>
          </a:p>
          <a:p>
            <a:r>
              <a:rPr lang="en-US" sz="1700" dirty="0"/>
              <a:t>Vector tables stored in Flash are copied to RAM (interrupt vectors etc.)</a:t>
            </a:r>
          </a:p>
          <a:p>
            <a:pPr lvl="1"/>
            <a:r>
              <a:rPr lang="en-US" sz="1700" dirty="0"/>
              <a:t>Decreases the latency for handling interrupts etc.</a:t>
            </a:r>
          </a:p>
          <a:p>
            <a:r>
              <a:rPr lang="en-US" sz="1700" dirty="0"/>
              <a:t>Initialized data sections are copied to RAM</a:t>
            </a:r>
          </a:p>
          <a:p>
            <a:pPr lvl="1"/>
            <a:r>
              <a:rPr lang="en-US" sz="1700" dirty="0"/>
              <a:t>Variables stored in the .data section of the linker file</a:t>
            </a:r>
          </a:p>
          <a:p>
            <a:r>
              <a:rPr lang="en-US" sz="1700" dirty="0"/>
              <a:t>Declared but uninitialized variables are copied to RAM</a:t>
            </a:r>
          </a:p>
          <a:p>
            <a:pPr lvl="1"/>
            <a:r>
              <a:rPr lang="en-US" sz="1700" dirty="0"/>
              <a:t>.</a:t>
            </a:r>
            <a:r>
              <a:rPr lang="en-US" sz="1700" dirty="0" err="1"/>
              <a:t>bss</a:t>
            </a:r>
            <a:r>
              <a:rPr lang="en-US" sz="1700" dirty="0"/>
              <a:t> section in linker</a:t>
            </a:r>
          </a:p>
          <a:p>
            <a:r>
              <a:rPr lang="en-US" sz="1700" dirty="0"/>
              <a:t>RAM functions are copied to RAM (functions that you want to run very vast)</a:t>
            </a:r>
          </a:p>
          <a:p>
            <a:r>
              <a:rPr lang="en-US" sz="1700" dirty="0"/>
              <a:t>C copy-down process</a:t>
            </a:r>
          </a:p>
          <a:p>
            <a:r>
              <a:rPr lang="en-US" sz="1700" dirty="0"/>
              <a:t>Controller jumps to Main after this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56CAB6-19B8-BBFC-BEDB-64FF04DD57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659652-A386-427F-9A40-D4C53C1D85C6}" type="datetime3">
              <a:rPr lang="en-US" smtClean="0"/>
              <a:t>20 January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771FDF-E615-9DBE-F1BB-22530CE11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ELL787: Embedded Systems and Applications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74B647-B000-3077-8054-314A58009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26</a:t>
            </a:fld>
            <a:endParaRPr lang="en-US"/>
          </a:p>
        </p:txBody>
      </p:sp>
      <p:pic>
        <p:nvPicPr>
          <p:cNvPr id="5122" name="Picture 2" descr="ESP32 부팅 시퀀스(booting sequence), 부트로더(bootloader)">
            <a:extLst>
              <a:ext uri="{FF2B5EF4-FFF2-40B4-BE49-F238E27FC236}">
                <a16:creationId xmlns:a16="http://schemas.microsoft.com/office/drawing/2014/main" id="{94238315-C824-1E8E-08CA-79C1A25D11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6096" y="1913825"/>
            <a:ext cx="4235739" cy="33550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25184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B78F4A-3E36-4A8A-A515-5A77FF3B2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40F613-29B2-4A1D-8851-750707C6D8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3352800" cy="501491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RESET puts the embedded system into a known state</a:t>
            </a:r>
          </a:p>
          <a:p>
            <a:r>
              <a:rPr lang="en-US" dirty="0"/>
              <a:t>Power-on reset</a:t>
            </a:r>
          </a:p>
          <a:p>
            <a:r>
              <a:rPr lang="en-US" dirty="0"/>
              <a:t>External reset (via a pin)</a:t>
            </a:r>
          </a:p>
          <a:p>
            <a:r>
              <a:rPr lang="en-US" dirty="0"/>
              <a:t>Watchdog reset</a:t>
            </a:r>
          </a:p>
          <a:p>
            <a:r>
              <a:rPr lang="en-US" dirty="0"/>
              <a:t>Software reset</a:t>
            </a:r>
          </a:p>
          <a:p>
            <a:r>
              <a:rPr lang="en-US" dirty="0"/>
              <a:t>Brown-out reset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4501BD-555F-4859-A7EB-5637785F2B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60E394-66A5-4B62-9006-B01F718F8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27</a:t>
            </a:fld>
            <a:endParaRPr lang="en-US" alt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656B46A-4E24-452E-801B-E539A1E08C60}"/>
              </a:ext>
            </a:extLst>
          </p:cNvPr>
          <p:cNvSpPr txBox="1">
            <a:spLocks/>
          </p:cNvSpPr>
          <p:nvPr/>
        </p:nvSpPr>
        <p:spPr bwMode="auto">
          <a:xfrm>
            <a:off x="3657600" y="1446211"/>
            <a:ext cx="5257800" cy="5014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RESET cause determines what needs to be done at start-up</a:t>
            </a:r>
          </a:p>
          <a:p>
            <a:r>
              <a:rPr lang="en-US" dirty="0"/>
              <a:t>Reinitialize fully?</a:t>
            </a:r>
          </a:p>
          <a:p>
            <a:r>
              <a:rPr lang="en-US" dirty="0"/>
              <a:t>Recovering from a software fault?</a:t>
            </a:r>
          </a:p>
          <a:p>
            <a:r>
              <a:rPr lang="en-US" dirty="0"/>
              <a:t>Logging for diagnostics</a:t>
            </a:r>
          </a:p>
        </p:txBody>
      </p:sp>
    </p:spTree>
    <p:extLst>
      <p:ext uri="{BB962C8B-B14F-4D97-AF65-F5344CB8AC3E}">
        <p14:creationId xmlns:p14="http://schemas.microsoft.com/office/powerpoint/2010/main" val="38869286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6A41B-0219-4F31-A203-D824EA827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Power modes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2597F-CFB6-468E-BE13-0D6D6D7A3E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Balance energy consumption and computation / speed</a:t>
            </a:r>
          </a:p>
          <a:p>
            <a:r>
              <a:rPr lang="en-US" dirty="0"/>
              <a:t>Selectively enable / disable peripherals</a:t>
            </a:r>
          </a:p>
          <a:p>
            <a:r>
              <a:rPr lang="en-US" dirty="0"/>
              <a:t>Common modes:</a:t>
            </a:r>
          </a:p>
          <a:p>
            <a:pPr lvl="1"/>
            <a:r>
              <a:rPr lang="en-US" dirty="0"/>
              <a:t>Active</a:t>
            </a:r>
          </a:p>
          <a:p>
            <a:pPr lvl="1"/>
            <a:r>
              <a:rPr lang="en-US" dirty="0"/>
              <a:t>Idle</a:t>
            </a:r>
          </a:p>
          <a:p>
            <a:pPr lvl="1"/>
            <a:r>
              <a:rPr lang="en-US" dirty="0"/>
              <a:t>Sleep</a:t>
            </a:r>
          </a:p>
          <a:p>
            <a:pPr lvl="1"/>
            <a:r>
              <a:rPr lang="en-US" dirty="0"/>
              <a:t>Deep sleep</a:t>
            </a:r>
          </a:p>
          <a:p>
            <a:r>
              <a:rPr lang="en-US" dirty="0"/>
              <a:t>Lower power </a:t>
            </a:r>
            <a:r>
              <a:rPr lang="en-US" dirty="0">
                <a:sym typeface="Wingdings" panose="05000000000000000000" pitchFamily="2" charset="2"/>
              </a:rPr>
              <a:t> longer wake-up time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093DB-B107-481F-9F8E-D94ABCB20E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03C1D7-4B75-426E-BB19-96AD9E717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44262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6A62D-61F7-4DF4-B447-08679418B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Waking 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ABD493-AE2D-4023-AF6B-2F17F6D014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Wake-up sources</a:t>
            </a:r>
          </a:p>
          <a:p>
            <a:pPr lvl="1"/>
            <a:r>
              <a:rPr lang="en-US" dirty="0"/>
              <a:t>Timer</a:t>
            </a:r>
          </a:p>
          <a:p>
            <a:pPr lvl="1"/>
            <a:r>
              <a:rPr lang="en-US" dirty="0"/>
              <a:t>External signal (interrupt)</a:t>
            </a:r>
          </a:p>
          <a:p>
            <a:pPr lvl="1"/>
            <a:r>
              <a:rPr lang="en-US" dirty="0"/>
              <a:t>Reset</a:t>
            </a:r>
          </a:p>
          <a:p>
            <a:r>
              <a:rPr lang="en-US" dirty="0"/>
              <a:t>Wake-up activities</a:t>
            </a:r>
          </a:p>
          <a:p>
            <a:pPr lvl="1"/>
            <a:r>
              <a:rPr lang="en-US" dirty="0"/>
              <a:t>Re-initialize relevant modules that were shut down</a:t>
            </a:r>
          </a:p>
          <a:p>
            <a:pPr lvl="1"/>
            <a:r>
              <a:rPr lang="en-US" dirty="0"/>
              <a:t>Pick up context and continue from there</a:t>
            </a:r>
          </a:p>
          <a:p>
            <a:r>
              <a:rPr lang="en-US" dirty="0"/>
              <a:t>S/W must know what state it is starting from</a:t>
            </a:r>
          </a:p>
          <a:p>
            <a:r>
              <a:rPr lang="en-US" dirty="0"/>
              <a:t>Careful about what is preserved and what is reinitialized (for example, RAM)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924E8D-ADEF-4E73-BBB4-9D0117BC0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B2F399-E83E-46A4-A047-A8DD1F7E8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86249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F28E0-A789-4730-A363-5EAE3BC8D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Interacting with the world – I/O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54EC3C-51B0-49CB-993C-50FB5AF0C6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8229600" cy="5014912"/>
          </a:xfrm>
        </p:spPr>
        <p:txBody>
          <a:bodyPr>
            <a:normAutofit/>
          </a:bodyPr>
          <a:lstStyle/>
          <a:p>
            <a:r>
              <a:rPr lang="en-US" dirty="0"/>
              <a:t>How does the CPU interact with peripherals?</a:t>
            </a:r>
          </a:p>
          <a:p>
            <a:r>
              <a:rPr lang="en-US" dirty="0"/>
              <a:t>For example:</a:t>
            </a:r>
          </a:p>
          <a:p>
            <a:pPr lvl="1"/>
            <a:r>
              <a:rPr lang="en-US" dirty="0"/>
              <a:t>An LED?</a:t>
            </a:r>
          </a:p>
          <a:p>
            <a:pPr lvl="1"/>
            <a:r>
              <a:rPr lang="en-US" dirty="0"/>
              <a:t>A motor?</a:t>
            </a:r>
          </a:p>
          <a:p>
            <a:pPr lvl="1"/>
            <a:r>
              <a:rPr lang="en-US" dirty="0"/>
              <a:t>A switch?</a:t>
            </a:r>
          </a:p>
          <a:p>
            <a:pPr lvl="1"/>
            <a:r>
              <a:rPr lang="en-US" dirty="0"/>
              <a:t>A keyboard?</a:t>
            </a:r>
          </a:p>
          <a:p>
            <a:pPr lvl="1"/>
            <a:r>
              <a:rPr lang="en-US" dirty="0"/>
              <a:t>An accelerometer?</a:t>
            </a:r>
          </a:p>
          <a:p>
            <a:pPr lvl="1"/>
            <a:r>
              <a:rPr lang="en-US" dirty="0"/>
              <a:t>An on-board ADC module?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698BD8-4728-4D12-9D4E-4BDD7A3456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793F2A-17CC-4A21-B5FD-3F7E9907D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30</a:t>
            </a:fld>
            <a:endParaRPr lang="en-US" alt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A209412-4BEB-462A-A2F4-354356ADB646}"/>
              </a:ext>
            </a:extLst>
          </p:cNvPr>
          <p:cNvSpPr txBox="1">
            <a:spLocks/>
          </p:cNvSpPr>
          <p:nvPr/>
        </p:nvSpPr>
        <p:spPr bwMode="auto">
          <a:xfrm>
            <a:off x="4343400" y="2514600"/>
            <a:ext cx="4572000" cy="40671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dirty="0"/>
              <a:t>Directly drive GPIO</a:t>
            </a:r>
          </a:p>
          <a:p>
            <a:pPr lvl="1"/>
            <a:r>
              <a:rPr lang="en-US" dirty="0"/>
              <a:t>Directly drive GPIO</a:t>
            </a:r>
          </a:p>
          <a:p>
            <a:pPr lvl="1"/>
            <a:r>
              <a:rPr lang="en-US" dirty="0"/>
              <a:t>Directly read GPIO</a:t>
            </a:r>
          </a:p>
          <a:p>
            <a:pPr lvl="1"/>
            <a:r>
              <a:rPr lang="en-US" dirty="0"/>
              <a:t>Read registers</a:t>
            </a:r>
          </a:p>
          <a:p>
            <a:pPr lvl="2"/>
            <a:r>
              <a:rPr lang="en-US" dirty="0"/>
              <a:t>Memory mapped</a:t>
            </a:r>
          </a:p>
          <a:p>
            <a:pPr lvl="2"/>
            <a:r>
              <a:rPr lang="en-US" dirty="0"/>
              <a:t>Communication busses</a:t>
            </a:r>
          </a:p>
          <a:p>
            <a:pPr lvl="2"/>
            <a:r>
              <a:rPr lang="en-US" dirty="0"/>
              <a:t>SPI, I2C, USB, PCI etc.</a:t>
            </a:r>
          </a:p>
        </p:txBody>
      </p:sp>
    </p:spTree>
    <p:extLst>
      <p:ext uri="{BB962C8B-B14F-4D97-AF65-F5344CB8AC3E}">
        <p14:creationId xmlns:p14="http://schemas.microsoft.com/office/powerpoint/2010/main" val="2309008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C2056-5230-4700-BE6C-0EBBE4D04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mapped I/O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438B27-26D7-454E-B04A-31C048F631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Peripheral registers appear as memory addresses within the processor address space</a:t>
            </a:r>
          </a:p>
          <a:p>
            <a:r>
              <a:rPr lang="en-US" dirty="0"/>
              <a:t>Software can read / write to them like any other variable</a:t>
            </a:r>
          </a:p>
          <a:p>
            <a:r>
              <a:rPr lang="en-US" dirty="0"/>
              <a:t>Unified programming model</a:t>
            </a:r>
          </a:p>
          <a:p>
            <a:pPr lvl="1"/>
            <a:r>
              <a:rPr lang="en-US" dirty="0"/>
              <a:t>No special I/O instruction, works with normal load / store operations</a:t>
            </a:r>
          </a:p>
          <a:p>
            <a:r>
              <a:rPr lang="en-US" dirty="0"/>
              <a:t>The GPIO from previous slide is, in fact, a peripheral, controlled by registers that are memory-mapped!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D85B19-4D68-4471-BC90-990B899F1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28EDB2-697C-4F7E-AF65-B9E41DAEA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9379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40E925-15CE-4103-966C-081F92DE4F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53975"/>
            <a:ext cx="8229600" cy="1195386"/>
          </a:xfrm>
        </p:spPr>
        <p:txBody>
          <a:bodyPr/>
          <a:lstStyle/>
          <a:p>
            <a:r>
              <a:rPr lang="en-US" dirty="0"/>
              <a:t>Memory mapped I/O: Example</a:t>
            </a:r>
            <a:br>
              <a:rPr lang="en-US" dirty="0"/>
            </a:br>
            <a:r>
              <a:rPr lang="en-US" dirty="0"/>
              <a:t>Look for the ‘register map’ for your device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9CCCFB-AE95-45A4-9547-5064A852E6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E9FE28-658D-4EE0-8F66-BD267DA03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32</a:t>
            </a:fld>
            <a:endParaRPr lang="en-US" altLang="en-US"/>
          </a:p>
        </p:txBody>
      </p:sp>
      <p:pic>
        <p:nvPicPr>
          <p:cNvPr id="10" name="Picture 2" descr="Understanding the Memory Map of a Microcontroller | TA Embedded posted on  the topic | LinkedIn">
            <a:extLst>
              <a:ext uri="{FF2B5EF4-FFF2-40B4-BE49-F238E27FC236}">
                <a16:creationId xmlns:a16="http://schemas.microsoft.com/office/drawing/2014/main" id="{13CB0C71-355F-4681-B47A-9EAF5FCFC6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736" y="1370083"/>
            <a:ext cx="2033011" cy="30495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How to Access Memory Mapped Peripheral Registers of Microcontrollers">
            <a:extLst>
              <a:ext uri="{FF2B5EF4-FFF2-40B4-BE49-F238E27FC236}">
                <a16:creationId xmlns:a16="http://schemas.microsoft.com/office/drawing/2014/main" id="{00A233DB-C983-4C4A-AD09-24900BD629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 bwMode="auto">
          <a:xfrm>
            <a:off x="2008632" y="2307149"/>
            <a:ext cx="1343143" cy="14462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Embedded Systems Study Group | Notes and Assignments of embedded systems  study group">
            <a:extLst>
              <a:ext uri="{FF2B5EF4-FFF2-40B4-BE49-F238E27FC236}">
                <a16:creationId xmlns:a16="http://schemas.microsoft.com/office/drawing/2014/main" id="{45506E17-3D76-4586-B8EB-1C721F3BA33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9000" y="1600200"/>
            <a:ext cx="5638800" cy="46520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66905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84A97-1E37-4A29-A704-AFED03E27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is asynchronous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C701C-04E3-4A50-B636-3ABE4AFF58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Software runs sequentially – one instruction after another in a serial order</a:t>
            </a:r>
          </a:p>
          <a:p>
            <a:r>
              <a:rPr lang="en-US" dirty="0"/>
              <a:t>Timing of each instruction is fixed relative to other instructions</a:t>
            </a:r>
          </a:p>
          <a:p>
            <a:r>
              <a:rPr lang="en-US" dirty="0"/>
              <a:t>External events are asynchronous, i.e. their timing is unrelated to the instructions being run</a:t>
            </a:r>
          </a:p>
          <a:p>
            <a:r>
              <a:rPr lang="en-US" dirty="0"/>
              <a:t>How do we handle asynchronous events happening in the external world?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3509B5-C499-4E74-AC5A-8EEF859AF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B50786-62F5-4C43-8009-FD4949177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72440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0483FB-C18E-4411-963F-D28ABEA82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Dealing with asynchronous events – polling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77E91F-5A68-44BA-80D3-C5D90A91B5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Option 1: software periodically asks I/O devices for updates</a:t>
            </a:r>
          </a:p>
          <a:p>
            <a:r>
              <a:rPr lang="en-US" sz="2400" dirty="0">
                <a:solidFill>
                  <a:srgbClr val="72C3E8"/>
                </a:solidFill>
              </a:rPr>
              <a:t>Polling</a:t>
            </a:r>
            <a:r>
              <a:rPr lang="en-US" sz="2400" dirty="0"/>
              <a:t>: reading a ‘status’ bit or register periodically to check if the peripheral is ready for I/O</a:t>
            </a:r>
          </a:p>
          <a:p>
            <a:r>
              <a:rPr lang="en-US" sz="2400" dirty="0"/>
              <a:t>How often should software ask for updates?</a:t>
            </a:r>
          </a:p>
          <a:p>
            <a:r>
              <a:rPr lang="en-US" sz="2400" dirty="0"/>
              <a:t>I/O device speed as well as event rates span across a wide range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2460C8-34CB-4E4A-8D23-6EB09ED03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5F4DF5-D047-47B3-9BD0-DB0CC39F83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34</a:t>
            </a:fld>
            <a:endParaRPr lang="en-US" altLang="en-US"/>
          </a:p>
        </p:txBody>
      </p:sp>
      <p:pic>
        <p:nvPicPr>
          <p:cNvPr id="6" name="Content Placeholder 7">
            <a:extLst>
              <a:ext uri="{FF2B5EF4-FFF2-40B4-BE49-F238E27FC236}">
                <a16:creationId xmlns:a16="http://schemas.microsoft.com/office/drawing/2014/main" id="{25B6A5C8-600F-4183-8B2A-E254DD0709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89462" y="3661640"/>
            <a:ext cx="4995018" cy="26881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3D4E8AD-6720-4523-A50A-99C5487A8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647" y="4343400"/>
            <a:ext cx="2483695" cy="1324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2055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F19F1-FFE3-4BC0-A8E6-41F3EC391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Polling I/O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BC5BC7-9208-4936-BB9E-31CAC475EC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Simple</a:t>
            </a:r>
          </a:p>
          <a:p>
            <a:r>
              <a:rPr lang="en-US" dirty="0"/>
              <a:t>Very predictable – know exactly after what interval I/O will be read / updated</a:t>
            </a:r>
          </a:p>
          <a:p>
            <a:r>
              <a:rPr lang="en-US" dirty="0"/>
              <a:t>Wastes CPU time and power</a:t>
            </a:r>
          </a:p>
          <a:p>
            <a:r>
              <a:rPr lang="en-US" dirty="0"/>
              <a:t>Increases latency</a:t>
            </a:r>
          </a:p>
          <a:p>
            <a:r>
              <a:rPr lang="en-US" dirty="0"/>
              <a:t>Cannot scale with many peripherals</a:t>
            </a:r>
          </a:p>
          <a:p>
            <a:endParaRPr lang="en-US" dirty="0"/>
          </a:p>
          <a:p>
            <a:r>
              <a:rPr lang="en-US" dirty="0"/>
              <a:t>Responsiveness == polling frequency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41421D-E27A-414A-A995-4EC333B5C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5D3876-E074-4DD6-A1D5-4EF17D659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376293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97BC7-E162-454B-864E-67355B8006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polling is acceptable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CA8227-ADF5-4896-B87E-079213CE84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Events are slow / infrequent</a:t>
            </a:r>
          </a:p>
          <a:p>
            <a:r>
              <a:rPr lang="en-US" dirty="0"/>
              <a:t>Timing requirements are not tight (can afford some latency)</a:t>
            </a:r>
          </a:p>
          <a:p>
            <a:r>
              <a:rPr lang="en-US" dirty="0"/>
              <a:t>Power is not critical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71E203-C58C-40F1-9CAF-5BD759C445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381985-7C83-4660-924A-C06527BB4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26604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9CA8A-288F-521C-7B07-3679EBC9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Is there an alternative to polling?</a:t>
            </a:r>
          </a:p>
        </p:txBody>
      </p:sp>
      <p:pic>
        <p:nvPicPr>
          <p:cNvPr id="2050" name="Picture 2" descr="Professor I Am The Only One Who Is Not Asleep Stock Photo - Download Image  Now - Boredom, Professor, Lecture Hall - iStock">
            <a:extLst>
              <a:ext uri="{FF2B5EF4-FFF2-40B4-BE49-F238E27FC236}">
                <a16:creationId xmlns:a16="http://schemas.microsoft.com/office/drawing/2014/main" id="{951C9CE5-28E6-5317-7664-943B91EAEC96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 bwMode="auto">
          <a:xfrm>
            <a:off x="838962" y="1435607"/>
            <a:ext cx="7466076" cy="4977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EBF4F4-C41E-62F8-BB78-71574E2E9E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20 January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79573E-49AA-0BB6-BAD8-A16F3E1174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F3160-E475-9E80-BE58-94D4ED1A6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0905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BDEF66-B977-47D5-9EC9-E1C2E199A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Interrupts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5D78C-6F1E-4D89-A931-756CDFF404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Hardware events capture CPU attention</a:t>
            </a:r>
          </a:p>
          <a:p>
            <a:r>
              <a:rPr lang="en-US" dirty="0"/>
              <a:t>Normal execution is temporarily suspended</a:t>
            </a:r>
          </a:p>
          <a:p>
            <a:r>
              <a:rPr lang="en-US" dirty="0"/>
              <a:t>A function (“handler”) is called to handle the event</a:t>
            </a:r>
          </a:p>
          <a:p>
            <a:r>
              <a:rPr lang="en-US" dirty="0"/>
              <a:t>Normal execution resumes after event is handled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72C3E8"/>
                </a:solidFill>
              </a:rPr>
              <a:t>Hardware decides when the software reacts</a:t>
            </a:r>
          </a:p>
          <a:p>
            <a:pPr marL="0" indent="0">
              <a:buNone/>
            </a:pPr>
            <a:endParaRPr lang="en-US" dirty="0">
              <a:solidFill>
                <a:srgbClr val="72C3E8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72C3E8"/>
                </a:solidFill>
              </a:rPr>
              <a:t>More responsive!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17D5E8-DCB5-4BB5-B6FC-DAA92D5FD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38C07F-89D1-42D8-913D-93835D610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801317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24ABCF-3BA7-4FF6-9E29-8B61A96468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it mean to ‘handle an event’?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644854-F0DB-4322-85B5-C5EEA02617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Examples:</a:t>
            </a:r>
          </a:p>
          <a:p>
            <a:r>
              <a:rPr lang="en-US" dirty="0"/>
              <a:t>A keyboard key press</a:t>
            </a:r>
          </a:p>
          <a:p>
            <a:r>
              <a:rPr lang="en-US" dirty="0"/>
              <a:t>New temperature measurement available in a weather logger</a:t>
            </a:r>
          </a:p>
          <a:p>
            <a:r>
              <a:rPr lang="en-US" dirty="0"/>
              <a:t>New temperature measurement available in the infusion pump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72C3E8"/>
                </a:solidFill>
              </a:rPr>
              <a:t>Handling interrupts correctly is critical – do the bare minimal for survival (and design survival accordingly)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5EAD4D-0830-4219-B373-857BA4CA4E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3866DA-7D76-434E-9F12-0D1B9652D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77315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3C47C-8BB4-402F-82B1-8B1E57E2B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Handling multiple interrupt 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4750F3-48CD-450A-A911-4B1A2B395D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>
              <a:spcBef>
                <a:spcPts val="1000"/>
              </a:spcBef>
            </a:pPr>
            <a:r>
              <a:rPr lang="en-US" dirty="0"/>
              <a:t>What if an interrupt comes while handling another interrupt?</a:t>
            </a:r>
          </a:p>
          <a:p>
            <a:pPr>
              <a:spcBef>
                <a:spcPts val="1000"/>
              </a:spcBef>
            </a:pPr>
            <a:r>
              <a:rPr lang="en-US" dirty="0"/>
              <a:t>Infusion pump:</a:t>
            </a:r>
          </a:p>
          <a:p>
            <a:pPr lvl="1">
              <a:spcBef>
                <a:spcPts val="1000"/>
              </a:spcBef>
            </a:pPr>
            <a:r>
              <a:rPr lang="en-US" dirty="0"/>
              <a:t>temperature sensor interrupt comes while handling user input</a:t>
            </a:r>
          </a:p>
          <a:p>
            <a:pPr lvl="1">
              <a:spcBef>
                <a:spcPts val="1000"/>
              </a:spcBef>
            </a:pPr>
            <a:r>
              <a:rPr lang="en-US" dirty="0"/>
              <a:t>User input interrupt comes while handling temperature sensor</a:t>
            </a:r>
          </a:p>
          <a:p>
            <a:pPr lvl="1">
              <a:spcBef>
                <a:spcPts val="1000"/>
              </a:spcBef>
            </a:pPr>
            <a:r>
              <a:rPr lang="en-US" dirty="0"/>
              <a:t>Temperature sensor vs bubble sensor</a:t>
            </a:r>
          </a:p>
          <a:p>
            <a:pPr>
              <a:spcBef>
                <a:spcPts val="1000"/>
              </a:spcBef>
            </a:pPr>
            <a:r>
              <a:rPr lang="en-US" dirty="0"/>
              <a:t>Disabling interrupts</a:t>
            </a:r>
          </a:p>
          <a:p>
            <a:pPr>
              <a:spcBef>
                <a:spcPts val="1000"/>
              </a:spcBef>
            </a:pPr>
            <a:r>
              <a:rPr lang="en-US" dirty="0"/>
              <a:t>Priorities</a:t>
            </a:r>
          </a:p>
          <a:p>
            <a:pPr>
              <a:spcBef>
                <a:spcPts val="1000"/>
              </a:spcBef>
            </a:pPr>
            <a:r>
              <a:rPr lang="en-US" dirty="0"/>
              <a:t>Hybrid model: poll slowly changing signals, and use interrupts for critical events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D1BA9A-9A8C-4F45-9D66-4B2847D7B2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E8EDC8-D45D-4E2D-851A-47B80AAE25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40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596589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AD367-BA69-448D-A576-2A9F0151DB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7622A1-A33B-4788-BA95-8E0954D2DB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C6D0E5-23C5-4654-97EE-168740587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C7BEAD-2508-4804-9493-0D06D9753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41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81099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pptA48A.tmp</Template>
  <TotalTime>12729</TotalTime>
  <Words>1789</Words>
  <Application>Microsoft Office PowerPoint</Application>
  <PresentationFormat>On-screen Show (4:3)</PresentationFormat>
  <Paragraphs>367</Paragraphs>
  <Slides>41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Software for Embedded Systems</vt:lpstr>
      <vt:lpstr>Embedded fundamentals</vt:lpstr>
      <vt:lpstr>The big picture of an embedded computer</vt:lpstr>
      <vt:lpstr>The big picture of a microprocessor</vt:lpstr>
      <vt:lpstr>Memory – a simple model</vt:lpstr>
      <vt:lpstr>System on chip (SoC) = processor + memory + peripherals</vt:lpstr>
      <vt:lpstr>Example: ESP32</vt:lpstr>
      <vt:lpstr>Development boards</vt:lpstr>
      <vt:lpstr>Microprocessor architecture</vt:lpstr>
      <vt:lpstr>Embedded ISAs</vt:lpstr>
      <vt:lpstr>Role of memory in embedded systems</vt:lpstr>
      <vt:lpstr>Types of memory</vt:lpstr>
      <vt:lpstr>A memory map – what is where in the memory?</vt:lpstr>
      <vt:lpstr>A more complex memory map: ESP32-S3</vt:lpstr>
      <vt:lpstr>Zooming into the memory space</vt:lpstr>
      <vt:lpstr>Vector table</vt:lpstr>
      <vt:lpstr>The stack</vt:lpstr>
      <vt:lpstr>The heap</vt:lpstr>
      <vt:lpstr>Memory alignment and endianness</vt:lpstr>
      <vt:lpstr>Memory in embedded systems</vt:lpstr>
      <vt:lpstr>How does the embedded system start up?</vt:lpstr>
      <vt:lpstr>What is lacking with just starting from the NOR flash?</vt:lpstr>
      <vt:lpstr>What does the Boot ROM do?</vt:lpstr>
      <vt:lpstr>Second stage bootloader</vt:lpstr>
      <vt:lpstr>Flashing a bootable image</vt:lpstr>
      <vt:lpstr>Starting up the embedded system (after Boot ROM has initialized)</vt:lpstr>
      <vt:lpstr>RESET</vt:lpstr>
      <vt:lpstr>Power modes</vt:lpstr>
      <vt:lpstr>Waking up</vt:lpstr>
      <vt:lpstr>Interacting with the world – I/O</vt:lpstr>
      <vt:lpstr>Memory mapped I/O</vt:lpstr>
      <vt:lpstr>Memory mapped I/O: Example Look for the ‘register map’ for your device</vt:lpstr>
      <vt:lpstr>I/O is asynchronous</vt:lpstr>
      <vt:lpstr>Dealing with asynchronous events – polling</vt:lpstr>
      <vt:lpstr>Polling I/O</vt:lpstr>
      <vt:lpstr>When polling is acceptable</vt:lpstr>
      <vt:lpstr>Is there an alternative to polling?</vt:lpstr>
      <vt:lpstr>Interrupts</vt:lpstr>
      <vt:lpstr>What does it mean to ‘handle an event’?</vt:lpstr>
      <vt:lpstr>Handling multiple interrupt sources</vt:lpstr>
      <vt:lpstr>PowerPoint Presentation</vt:lpstr>
    </vt:vector>
  </TitlesOfParts>
  <Company>bits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 Time Systems</dc:title>
  <dc:creator>a</dc:creator>
  <cp:lastModifiedBy>Saurabh Gandhi</cp:lastModifiedBy>
  <cp:revision>634</cp:revision>
  <dcterms:created xsi:type="dcterms:W3CDTF">2010-01-15T20:22:21Z</dcterms:created>
  <dcterms:modified xsi:type="dcterms:W3CDTF">2026-01-20T06:27:42Z</dcterms:modified>
</cp:coreProperties>
</file>