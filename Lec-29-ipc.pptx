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37" r:id="rId2"/>
    <p:sldId id="338" r:id="rId3"/>
    <p:sldId id="339" r:id="rId4"/>
    <p:sldId id="340" r:id="rId5"/>
    <p:sldId id="341" r:id="rId6"/>
    <p:sldId id="342" r:id="rId7"/>
    <p:sldId id="346" r:id="rId8"/>
    <p:sldId id="347" r:id="rId9"/>
    <p:sldId id="348" r:id="rId10"/>
    <p:sldId id="350" r:id="rId11"/>
    <p:sldId id="351" r:id="rId12"/>
    <p:sldId id="352" r:id="rId13"/>
    <p:sldId id="343" r:id="rId14"/>
    <p:sldId id="353" r:id="rId15"/>
    <p:sldId id="354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3E8"/>
    <a:srgbClr val="EA3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92" d="100"/>
          <a:sy n="92" d="100"/>
        </p:scale>
        <p:origin x="888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Software for Embedded Systems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DF55-2054-263F-1F80-3FC57BBC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multitasking embedded software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DC8CC-F9A4-DBF2-CFD1-4E01F71AB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Multitasking introduces:</a:t>
            </a:r>
          </a:p>
          <a:p>
            <a:r>
              <a:rPr lang="en-US" dirty="0"/>
              <a:t>Concurrent execution</a:t>
            </a:r>
          </a:p>
          <a:p>
            <a:r>
              <a:rPr lang="en-US" dirty="0"/>
              <a:t>Shared data</a:t>
            </a:r>
          </a:p>
          <a:p>
            <a:r>
              <a:rPr lang="en-US" dirty="0"/>
              <a:t>Asynchronous events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Race conditions</a:t>
            </a:r>
          </a:p>
          <a:p>
            <a:r>
              <a:rPr lang="en-US" dirty="0"/>
              <a:t>Inconsistent state of the system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Need for synchronization and inter process communication (IPC)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8D7FD-FC1C-644A-A409-1EAB92531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E9772-D828-1F50-702B-2240046E6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440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C4E7-1592-1961-0DC4-503F3FCD9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5CE19-5B60-0ACD-7D55-851618463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7ACB3-B559-D69C-7DAC-8F6C6A01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7C14A3-2ACE-DE7C-9055-B46ED7C3C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6" y="1797818"/>
            <a:ext cx="2438740" cy="4067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03ABC8-722A-C696-13CB-C23F34194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208" y="1813025"/>
            <a:ext cx="3077004" cy="4182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13DBBC-2A09-F11D-ADAB-5D4EF2642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234" y="1864502"/>
            <a:ext cx="3191320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9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BD08D-F0DD-C051-3A3A-D15E3510A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91171-F530-0E8C-FCFB-65BD091FE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problem do you foresee</a:t>
            </a:r>
            <a:br>
              <a:rPr lang="en-US" dirty="0"/>
            </a:br>
            <a:r>
              <a:rPr lang="en-US" dirty="0"/>
              <a:t>with this code?</a:t>
            </a:r>
          </a:p>
          <a:p>
            <a:endParaRPr lang="en-US" dirty="0"/>
          </a:p>
          <a:p>
            <a:r>
              <a:rPr lang="en-US" dirty="0"/>
              <a:t>Multiple correct operations</a:t>
            </a:r>
          </a:p>
          <a:p>
            <a:r>
              <a:rPr lang="en-US" dirty="0"/>
              <a:t>But depending on timing / order, result can be incorrect / non-deterministic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E33B0-7EDF-32D3-FBF2-E21C18CC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3B458-B79D-7E86-E92C-9420D6812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B65E76-D703-FEA0-A559-376870C34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116" y="1524000"/>
            <a:ext cx="2574284" cy="223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0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30EE4-96FF-9FB1-695D-34FBC4A5D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Inconsistent system state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A7685-53C0-4890-040F-482DC64E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8BFA2A-25C9-4B0D-F41C-F4C961851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ED9E74-E38E-323F-84AC-F7D8C4A9C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00200"/>
            <a:ext cx="3147333" cy="205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45C9B4-2CAD-3E6C-1D6F-617B06DA8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886200"/>
            <a:ext cx="3660032" cy="1143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CDBA53-CF3F-82E8-7C65-CB184CF40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847187"/>
            <a:ext cx="5010889" cy="154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2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2CBF9-80AA-D545-97BE-77419E758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avoid these?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E6923-A7E2-8A8A-C6B2-7E15BB531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Problem areas:</a:t>
            </a:r>
          </a:p>
          <a:p>
            <a:r>
              <a:rPr lang="en-US" dirty="0"/>
              <a:t>Data exchange  </a:t>
            </a:r>
            <a:r>
              <a:rPr lang="en-US" dirty="0">
                <a:sym typeface="Wingdings" panose="05000000000000000000" pitchFamily="2" charset="2"/>
              </a:rPr>
              <a:t>  IPC</a:t>
            </a:r>
          </a:p>
          <a:p>
            <a:r>
              <a:rPr lang="en-US" dirty="0">
                <a:sym typeface="Wingdings" panose="05000000000000000000" pitchFamily="2" charset="2"/>
              </a:rPr>
              <a:t>Safe access / ordering 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  Synchronization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Communication paradigms:</a:t>
            </a:r>
          </a:p>
          <a:p>
            <a:r>
              <a:rPr lang="en-US" dirty="0">
                <a:sym typeface="Wingdings" panose="05000000000000000000" pitchFamily="2" charset="2"/>
              </a:rPr>
              <a:t>Shared memory</a:t>
            </a:r>
          </a:p>
          <a:p>
            <a:r>
              <a:rPr lang="en-US" dirty="0">
                <a:sym typeface="Wingdings" panose="05000000000000000000" pitchFamily="2" charset="2"/>
              </a:rPr>
              <a:t>Message passing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BD4DF-6CDD-AE7E-FE33-E135DA75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664C7-DB26-4069-DB0A-423504605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187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CEFD6-EBED-5435-12DF-DACF7DD7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96903-D61A-351D-57D3-924B55B34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18C6B-F55F-417E-B602-52320AAF6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D3555F-8AF0-A1FC-D0FD-85EF63FC1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46211"/>
            <a:ext cx="3657600" cy="283088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C219E0-3BA1-FEF4-CD19-6BFE38BA8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419600"/>
            <a:ext cx="3657600" cy="7635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Problematic – race condition possible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795087-DA92-8BBE-EF35-27FAFC429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855790"/>
            <a:ext cx="2743199" cy="9144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F624E55-2E32-FFFE-68E0-D8BEEE623972}"/>
              </a:ext>
            </a:extLst>
          </p:cNvPr>
          <p:cNvSpPr txBox="1">
            <a:spLocks/>
          </p:cNvSpPr>
          <p:nvPr/>
        </p:nvSpPr>
        <p:spPr bwMode="auto">
          <a:xfrm>
            <a:off x="4038600" y="1465513"/>
            <a:ext cx="3657600" cy="1816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Critical section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800" dirty="0">
                <a:solidFill>
                  <a:schemeClr val="tx1"/>
                </a:solidFill>
              </a:rPr>
              <a:t>Limit access of shared memory ( / resource) to only one task at a time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E55D7D-7FF2-AAF0-C569-7C950BFCEFBC}"/>
              </a:ext>
            </a:extLst>
          </p:cNvPr>
          <p:cNvSpPr txBox="1">
            <a:spLocks/>
          </p:cNvSpPr>
          <p:nvPr/>
        </p:nvSpPr>
        <p:spPr bwMode="auto">
          <a:xfrm>
            <a:off x="4034413" y="3962400"/>
            <a:ext cx="3657600" cy="1816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Mutex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800" dirty="0">
                <a:solidFill>
                  <a:schemeClr val="tx1"/>
                </a:solidFill>
              </a:rPr>
              <a:t>Binary lock to ensure resource is not used by other processes</a:t>
            </a:r>
          </a:p>
        </p:txBody>
      </p:sp>
    </p:spTree>
    <p:extLst>
      <p:ext uri="{BB962C8B-B14F-4D97-AF65-F5344CB8AC3E}">
        <p14:creationId xmlns:p14="http://schemas.microsoft.com/office/powerpoint/2010/main" val="48949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1" grpId="0" build="p"/>
      <p:bldP spid="1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7A00F-CDCD-E55A-27D2-7EA86246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Mutex example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6A41E-3674-A3B8-63DD-D295F95F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FDD69-D2CF-45CE-A6DA-1D8BBC36D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E908E7-93DB-289A-9133-C553A02C7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24" y="1524000"/>
            <a:ext cx="2709798" cy="16764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9291915-DC25-CCC2-4EA8-3A278E089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284539"/>
            <a:ext cx="2709798" cy="3810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Shared resource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F820BF-B8A3-ADC3-AC58-38D204C5D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" y="3833698"/>
            <a:ext cx="3657601" cy="194239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982985-4EA5-ACFD-DA93-A4616C4D5C82}"/>
              </a:ext>
            </a:extLst>
          </p:cNvPr>
          <p:cNvSpPr txBox="1">
            <a:spLocks/>
          </p:cNvSpPr>
          <p:nvPr/>
        </p:nvSpPr>
        <p:spPr bwMode="auto">
          <a:xfrm>
            <a:off x="152399" y="5863014"/>
            <a:ext cx="382954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</a:rPr>
              <a:t>Initialize the mutex for this resource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0236C9-F451-C56D-E843-03B2DB1F1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286" y="1524000"/>
            <a:ext cx="4280313" cy="3750678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26443B6-44E8-F90E-76FD-812B324E742D}"/>
              </a:ext>
            </a:extLst>
          </p:cNvPr>
          <p:cNvSpPr txBox="1">
            <a:spLocks/>
          </p:cNvSpPr>
          <p:nvPr/>
        </p:nvSpPr>
        <p:spPr bwMode="auto">
          <a:xfrm>
            <a:off x="3949286" y="5378346"/>
            <a:ext cx="382954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</a:rPr>
              <a:t>Producer task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37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1" grpId="0" build="p"/>
      <p:bldP spid="1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D07D-4EBB-787C-271F-F6EDE81B5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Mutex example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3C494-79C5-4991-79AA-DEB8DB610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21A86-9FC2-29CC-FACE-4F826DB40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B06A1C-A340-A855-9FC0-1A484D79A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4280313" cy="375067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5C5A64-6A15-39DD-A38A-52A97FDE8229}"/>
              </a:ext>
            </a:extLst>
          </p:cNvPr>
          <p:cNvSpPr txBox="1">
            <a:spLocks/>
          </p:cNvSpPr>
          <p:nvPr/>
        </p:nvSpPr>
        <p:spPr bwMode="auto">
          <a:xfrm>
            <a:off x="0" y="5225946"/>
            <a:ext cx="382954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</a:rPr>
              <a:t>Producer task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1B1E2B-74E0-2B32-A682-0A52F000B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981200"/>
            <a:ext cx="5257800" cy="416382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653974-E233-260F-1AE6-58FF393653C5}"/>
              </a:ext>
            </a:extLst>
          </p:cNvPr>
          <p:cNvSpPr txBox="1">
            <a:spLocks/>
          </p:cNvSpPr>
          <p:nvPr/>
        </p:nvSpPr>
        <p:spPr bwMode="auto">
          <a:xfrm>
            <a:off x="3886200" y="6145021"/>
            <a:ext cx="382954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</a:rPr>
              <a:t>Consumer task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470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D2510-5935-8E34-AAC5-BA18E4F9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72551-3256-1DC3-C3AD-FC0105212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F25BA-2C9E-D48D-D98E-3E1A54146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464700-65D3-B9D0-FC46-66017863E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98" y="1447800"/>
            <a:ext cx="1594208" cy="10668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2F6F77-81D4-DD62-1A10-E67859142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590800"/>
            <a:ext cx="3033765" cy="3810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Message = type + payload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0FC105-EFFD-500C-6A56-E2ECB4B4A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124200"/>
            <a:ext cx="2770226" cy="22860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A50955F-13A3-A4AA-FC49-AFF3C96473C7}"/>
              </a:ext>
            </a:extLst>
          </p:cNvPr>
          <p:cNvSpPr txBox="1">
            <a:spLocks/>
          </p:cNvSpPr>
          <p:nvPr/>
        </p:nvSpPr>
        <p:spPr bwMode="auto">
          <a:xfrm>
            <a:off x="165798" y="5444532"/>
            <a:ext cx="303376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</a:rPr>
              <a:t>Queue = buffer for messages + pointers to head and tail + queue size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71861F-E98D-F1F4-C728-73A761543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4374" y="1447800"/>
            <a:ext cx="2758584" cy="1195386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D11ED82-5F20-4B4F-E48E-CCE77D25E18C}"/>
              </a:ext>
            </a:extLst>
          </p:cNvPr>
          <p:cNvSpPr txBox="1">
            <a:spLocks/>
          </p:cNvSpPr>
          <p:nvPr/>
        </p:nvSpPr>
        <p:spPr bwMode="auto">
          <a:xfrm>
            <a:off x="3744374" y="2651125"/>
            <a:ext cx="303376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</a:rPr>
              <a:t>Initialization of a queue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A89D3A3-A685-266A-D31D-6A4B61053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4374" y="3124200"/>
            <a:ext cx="3570826" cy="3648694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B6E83EA-DBD3-CF9E-7F82-DD1C42D63806}"/>
              </a:ext>
            </a:extLst>
          </p:cNvPr>
          <p:cNvSpPr txBox="1">
            <a:spLocks/>
          </p:cNvSpPr>
          <p:nvPr/>
        </p:nvSpPr>
        <p:spPr bwMode="auto">
          <a:xfrm>
            <a:off x="5867400" y="5999286"/>
            <a:ext cx="317988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</a:rPr>
              <a:t>Adding an item to the queue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23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1" grpId="0" build="p"/>
      <p:bldP spid="14" grpId="0" build="p"/>
      <p:bldP spid="1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A0BBB-FA60-F3F1-0DFA-3163A35CB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F0935-25EB-2D39-DAAB-30ECD3B2E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81EE8-3BA7-295B-60C4-99417446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E226B4-38D2-3B4A-1BD1-48BC986CA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47800"/>
            <a:ext cx="3570826" cy="364869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505C8C-4440-8891-4335-7479F195FE9B}"/>
              </a:ext>
            </a:extLst>
          </p:cNvPr>
          <p:cNvSpPr txBox="1">
            <a:spLocks/>
          </p:cNvSpPr>
          <p:nvPr/>
        </p:nvSpPr>
        <p:spPr bwMode="auto">
          <a:xfrm>
            <a:off x="76200" y="5040923"/>
            <a:ext cx="317988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</a:rPr>
              <a:t>Adding an item to the queue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2458F2-71C4-CE76-8EF5-5AE810AFF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447800"/>
            <a:ext cx="3570826" cy="367220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E44FCA2-18E8-476F-D919-D19B19C8D711}"/>
              </a:ext>
            </a:extLst>
          </p:cNvPr>
          <p:cNvSpPr txBox="1">
            <a:spLocks/>
          </p:cNvSpPr>
          <p:nvPr/>
        </p:nvSpPr>
        <p:spPr bwMode="auto">
          <a:xfrm>
            <a:off x="4114800" y="5096494"/>
            <a:ext cx="3810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/>
                </a:solidFill>
              </a:rPr>
              <a:t>Receiving an item from the queue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27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45CB9-F062-3642-B47C-E1480877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05FCC-DB1D-CB07-119E-6ADAC2EAD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1BB44-2844-7EE6-37DB-11A1F14C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D52D14-EA1A-5DD9-4662-521784AC2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5" y="1447800"/>
            <a:ext cx="4191000" cy="31464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0C6F9B-10C3-E4D5-2B66-302D2CCE3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191" y="3200400"/>
            <a:ext cx="3886200" cy="30630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7ACCEE-8F65-BBE8-2BE8-A3B0F60FD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191" y="2007283"/>
            <a:ext cx="4647314" cy="127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83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A7B4B-C11C-3E01-CBE1-F0BA90956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Event Driven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BF774-02F0-77DB-BC72-3CE33F7E1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reacts to events</a:t>
            </a:r>
          </a:p>
          <a:p>
            <a:r>
              <a:rPr lang="en-US" dirty="0"/>
              <a:t>Event producer process must communicate with event consumer</a:t>
            </a:r>
          </a:p>
          <a:p>
            <a:r>
              <a:rPr lang="en-US" dirty="0"/>
              <a:t>Events placed in queue</a:t>
            </a:r>
          </a:p>
          <a:p>
            <a:r>
              <a:rPr lang="en-US" dirty="0"/>
              <a:t>Tasks consume events</a:t>
            </a:r>
          </a:p>
          <a:p>
            <a:endParaRPr lang="en-US" dirty="0"/>
          </a:p>
          <a:p>
            <a:r>
              <a:rPr lang="en-US" dirty="0"/>
              <a:t>Decouples producers and consumers</a:t>
            </a:r>
          </a:p>
          <a:p>
            <a:r>
              <a:rPr lang="en-US" dirty="0"/>
              <a:t>Supports asynchronous systems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640A-934D-8FD7-EF81-5BB7C994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7CE91-C5F4-EA98-4258-CC2E65767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366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07E2C-924A-9932-1E48-053A1C1D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vs message passing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77FD49B-C2BC-02DF-759D-8D236CD9EA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7858511"/>
              </p:ext>
            </p:extLst>
          </p:nvPr>
        </p:nvGraphicFramePr>
        <p:xfrm>
          <a:off x="152400" y="2707799"/>
          <a:ext cx="8839200" cy="221742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300731622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39064587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5937552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effectLst/>
                        </a:rPr>
                        <a:t>Feature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b="1" dirty="0">
                          <a:effectLst/>
                        </a:rPr>
                        <a:t>Shared Memory (with Mutex)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b="1" dirty="0">
                          <a:effectLst/>
                        </a:rPr>
                        <a:t>Message Passing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073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b="1">
                          <a:effectLst/>
                        </a:rPr>
                        <a:t>Speed</a:t>
                      </a:r>
                      <a:r>
                        <a:rPr lang="en-IN">
                          <a:effectLst/>
                        </a:rPr>
                        <a:t>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>
                          <a:effectLst/>
                        </a:rPr>
                        <a:t>Maximum (zero-copy)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>
                          <a:effectLst/>
                        </a:rPr>
                        <a:t>Slower (copy overhead)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941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b="1">
                          <a:effectLst/>
                        </a:rPr>
                        <a:t>Safety</a:t>
                      </a:r>
                      <a:r>
                        <a:rPr lang="en-IN">
                          <a:effectLst/>
                        </a:rPr>
                        <a:t>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>
                          <a:effectLst/>
                        </a:rPr>
                        <a:t>High risk of race conditions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>
                          <a:effectLst/>
                        </a:rPr>
                        <a:t>Safer, encapsulated data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507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b="1">
                          <a:effectLst/>
                        </a:rPr>
                        <a:t>Synchronization</a:t>
                      </a:r>
                      <a:r>
                        <a:rPr lang="en-IN">
                          <a:effectLst/>
                        </a:rPr>
                        <a:t>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>
                          <a:effectLst/>
                        </a:rPr>
                        <a:t>Explicit (Mutex/Semaphore)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>
                          <a:effectLst/>
                        </a:rPr>
                        <a:t>Implicit (Send/Receive)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055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b="1">
                          <a:effectLst/>
                        </a:rPr>
                        <a:t>Topology</a:t>
                      </a:r>
                      <a:r>
                        <a:rPr lang="en-IN">
                          <a:effectLst/>
                        </a:rPr>
                        <a:t>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>
                          <a:effectLst/>
                        </a:rPr>
                        <a:t>Single system only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>
                          <a:effectLst/>
                        </a:rPr>
                        <a:t>Distributed/Multi-processor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2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b="1">
                          <a:effectLst/>
                        </a:rPr>
                        <a:t>Kernel Role</a:t>
                      </a:r>
                      <a:r>
                        <a:rPr lang="en-IN">
                          <a:effectLst/>
                        </a:rPr>
                        <a:t>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>
                          <a:effectLst/>
                        </a:rPr>
                        <a:t>Setup only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dirty="0">
                          <a:effectLst/>
                        </a:rPr>
                        <a:t>Involved in every transfer </a:t>
                      </a:r>
                    </a:p>
                  </a:txBody>
                  <a:tcPr marL="47625" marR="47625" marT="47625" marB="47625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33767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5A286-6A22-3FE0-2371-4ECCE08E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9BB72-4B65-294C-4531-0ED9EF37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264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1B7-34F7-2862-B5DC-FD7B62A20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guidelines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709D2-A086-425A-6650-CB724ED80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critical sections short</a:t>
            </a:r>
          </a:p>
          <a:p>
            <a:r>
              <a:rPr lang="en-US" dirty="0"/>
              <a:t>Prefer message passing for complex systems</a:t>
            </a:r>
          </a:p>
          <a:p>
            <a:r>
              <a:rPr lang="en-US" dirty="0"/>
              <a:t>Use bounded queues</a:t>
            </a:r>
          </a:p>
          <a:p>
            <a:r>
              <a:rPr lang="en-US" dirty="0"/>
              <a:t>Avoid nested locks</a:t>
            </a:r>
          </a:p>
          <a:p>
            <a:r>
              <a:rPr lang="en-US" dirty="0"/>
              <a:t>Use priority protocols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8564E-8263-C394-EAD4-F6CAAA67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0C162-4B78-9979-0792-8BC54194E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397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16014</TotalTime>
  <Words>348</Words>
  <Application>Microsoft Office PowerPoint</Application>
  <PresentationFormat>On-screen Show (4:3)</PresentationFormat>
  <Paragraphs>111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Software for Embedded Systems</vt:lpstr>
      <vt:lpstr>Building a multitasking embedded software system</vt:lpstr>
      <vt:lpstr>Race conditions</vt:lpstr>
      <vt:lpstr>Race conditions</vt:lpstr>
      <vt:lpstr>Inconsistent system state</vt:lpstr>
      <vt:lpstr>How do we avoid these?</vt:lpstr>
      <vt:lpstr>Shared memory</vt:lpstr>
      <vt:lpstr>Mutex example</vt:lpstr>
      <vt:lpstr>Mutex example</vt:lpstr>
      <vt:lpstr>Message passing</vt:lpstr>
      <vt:lpstr>Message passing</vt:lpstr>
      <vt:lpstr>Message passing</vt:lpstr>
      <vt:lpstr>Example – Event Driven Systems</vt:lpstr>
      <vt:lpstr>Shared memory vs message passing</vt:lpstr>
      <vt:lpstr>Practical guidelines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741</cp:revision>
  <dcterms:created xsi:type="dcterms:W3CDTF">2010-01-15T20:22:21Z</dcterms:created>
  <dcterms:modified xsi:type="dcterms:W3CDTF">2026-04-02T06:37:54Z</dcterms:modified>
</cp:coreProperties>
</file>