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17"/>
  </p:notesMasterIdLst>
  <p:sldIdLst>
    <p:sldId id="337" r:id="rId2"/>
    <p:sldId id="338" r:id="rId3"/>
    <p:sldId id="339" r:id="rId4"/>
    <p:sldId id="340" r:id="rId5"/>
    <p:sldId id="341" r:id="rId6"/>
    <p:sldId id="342" r:id="rId7"/>
    <p:sldId id="346" r:id="rId8"/>
    <p:sldId id="347" r:id="rId9"/>
    <p:sldId id="348" r:id="rId10"/>
    <p:sldId id="350" r:id="rId11"/>
    <p:sldId id="351" r:id="rId12"/>
    <p:sldId id="352" r:id="rId13"/>
    <p:sldId id="343" r:id="rId14"/>
    <p:sldId id="353" r:id="rId15"/>
    <p:sldId id="354" r:id="rId16"/>
  </p:sldIdLst>
  <p:sldSz cx="9144000" cy="6858000" type="screen4x3"/>
  <p:notesSz cx="6858000" cy="9144000"/>
  <p:defaultTextStyle>
    <a:defPPr>
      <a:defRPr lang="en-US"/>
    </a:defPPr>
    <a:lvl1pPr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2C3E8"/>
    <a:srgbClr val="EA3F2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FD0F851-EC5A-4D38-B0AD-8093EC10F338}" styleName="Light Style 1 - Accent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004" autoAdjust="0"/>
    <p:restoredTop sz="92730" autoAdjust="0"/>
  </p:normalViewPr>
  <p:slideViewPr>
    <p:cSldViewPr>
      <p:cViewPr varScale="1">
        <p:scale>
          <a:sx n="95" d="100"/>
          <a:sy n="95" d="100"/>
        </p:scale>
        <p:origin x="798" y="45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00" d="100"/>
        <a:sy n="100" d="100"/>
      </p:scale>
      <p:origin x="0" y="5556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130" name="Rectangle 2">
            <a:extLst>
              <a:ext uri="{FF2B5EF4-FFF2-40B4-BE49-F238E27FC236}">
                <a16:creationId xmlns:a16="http://schemas.microsoft.com/office/drawing/2014/main" id="{9BA1A87E-813F-AF0F-041D-CE232B7A18C3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1" hangingPunct="1">
              <a:defRPr sz="1200">
                <a:latin typeface="Calibri" pitchFamily="34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8131" name="Rectangle 3">
            <a:extLst>
              <a:ext uri="{FF2B5EF4-FFF2-40B4-BE49-F238E27FC236}">
                <a16:creationId xmlns:a16="http://schemas.microsoft.com/office/drawing/2014/main" id="{90A33BCA-FF2B-904A-6ACB-421B4697E719}"/>
              </a:ext>
            </a:extLst>
          </p:cNvPr>
          <p:cNvSpPr>
            <a:spLocks noGrp="1" noChangeArrowheads="1"/>
          </p:cNvSpPr>
          <p:nvPr>
            <p:ph type="dt" idx="1"/>
          </p:nvPr>
        </p:nvSpPr>
        <p:spPr bwMode="auto">
          <a:xfrm>
            <a:off x="3884613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latin typeface="Calibri" pitchFamily="34" charset="0"/>
              </a:defRPr>
            </a:lvl1pPr>
          </a:lstStyle>
          <a:p>
            <a:pPr>
              <a:defRPr/>
            </a:pPr>
            <a:fld id="{864C4CF4-219F-4C78-A5BA-B2F154A2CDD2}" type="datetimeFigureOut">
              <a:rPr lang="en-US"/>
              <a:pPr>
                <a:defRPr/>
              </a:pPr>
              <a:t>4/2/2026</a:t>
            </a:fld>
            <a:endParaRPr lang="en-US"/>
          </a:p>
        </p:txBody>
      </p:sp>
      <p:sp>
        <p:nvSpPr>
          <p:cNvPr id="19460" name="Rectangle 4">
            <a:extLst>
              <a:ext uri="{FF2B5EF4-FFF2-40B4-BE49-F238E27FC236}">
                <a16:creationId xmlns:a16="http://schemas.microsoft.com/office/drawing/2014/main" id="{E6881BB2-A257-BEB2-B237-5C60E2FE8C72}"/>
              </a:ext>
            </a:extLst>
          </p:cNvPr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1143000" y="685800"/>
            <a:ext cx="4572000" cy="34290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48133" name="Rectangle 5">
            <a:extLst>
              <a:ext uri="{FF2B5EF4-FFF2-40B4-BE49-F238E27FC236}">
                <a16:creationId xmlns:a16="http://schemas.microsoft.com/office/drawing/2014/main" id="{84E1F9B0-0E05-EEE3-8B09-3292F5E58FDD}"/>
              </a:ext>
            </a:extLst>
          </p:cNvPr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48134" name="Rectangle 6">
            <a:extLst>
              <a:ext uri="{FF2B5EF4-FFF2-40B4-BE49-F238E27FC236}">
                <a16:creationId xmlns:a16="http://schemas.microsoft.com/office/drawing/2014/main" id="{FD94DB07-1FBF-48D8-BE9B-EAD1CA856026}"/>
              </a:ext>
            </a:extLst>
          </p:cNvPr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eaLnBrk="1" hangingPunct="1">
              <a:defRPr sz="1200">
                <a:latin typeface="Calibri" pitchFamily="34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8135" name="Rectangle 7">
            <a:extLst>
              <a:ext uri="{FF2B5EF4-FFF2-40B4-BE49-F238E27FC236}">
                <a16:creationId xmlns:a16="http://schemas.microsoft.com/office/drawing/2014/main" id="{B2D67A9F-79F1-685B-B7CE-85E68E027A3D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4613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latin typeface="Calibri" panose="020F0502020204030204" pitchFamily="34" charset="0"/>
              </a:defRPr>
            </a:lvl1pPr>
          </a:lstStyle>
          <a:p>
            <a:pPr>
              <a:defRPr/>
            </a:pPr>
            <a:fld id="{082BB320-F13B-41AF-BB84-306DCE92248C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itchFamily="34" charset="0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itchFamily="34" charset="0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itchFamily="34" charset="0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itchFamily="34" charset="0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itchFamily="34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6" name="Slide Image Placeholder 1">
            <a:extLst>
              <a:ext uri="{FF2B5EF4-FFF2-40B4-BE49-F238E27FC236}">
                <a16:creationId xmlns:a16="http://schemas.microsoft.com/office/drawing/2014/main" id="{44FFA8F6-8FBE-2312-B2D6-012FDBF058E2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1507" name="Notes Placeholder 2">
            <a:extLst>
              <a:ext uri="{FF2B5EF4-FFF2-40B4-BE49-F238E27FC236}">
                <a16:creationId xmlns:a16="http://schemas.microsoft.com/office/drawing/2014/main" id="{60994F52-302D-250C-116C-52081CB94A4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/>
          </a:p>
        </p:txBody>
      </p:sp>
      <p:sp>
        <p:nvSpPr>
          <p:cNvPr id="21508" name="Slide Number Placeholder 3">
            <a:extLst>
              <a:ext uri="{FF2B5EF4-FFF2-40B4-BE49-F238E27FC236}">
                <a16:creationId xmlns:a16="http://schemas.microsoft.com/office/drawing/2014/main" id="{B92E2681-B4AB-B23F-9CED-5892333F865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fld id="{89A8604D-9FA4-4914-BD57-93266632D9AF}" type="slidenum">
              <a:rPr lang="en-US" altLang="en-US" smtClean="0">
                <a:latin typeface="Calibri" panose="020F0502020204030204" pitchFamily="34" charset="0"/>
              </a:rPr>
              <a:pPr/>
              <a:t>1</a:t>
            </a:fld>
            <a:endParaRPr lang="en-US" altLang="en-US">
              <a:latin typeface="Calibri" panose="020F0502020204030204" pitchFamily="34" charset="0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0210E9-01D5-7472-677A-3B0AA2AD0F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CD2DDE-7A51-A1A8-5C34-99C6FAA2B3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0FD8106-2EFE-B03C-0DCC-E1803F83D0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7F5451D-6138-4BA6-B687-6C9F908488A2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6018327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FFC000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2pPr>
            <a:lvl3pPr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3pPr>
            <a:lvl4pPr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4pPr>
            <a:lvl5pPr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23E8660-BD03-9DBA-9F27-92B953591E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B170716-1DFD-E96E-77AC-224DB37BB5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F0094D3-6482-D516-F215-AAD295B6F9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A887A73-1AE0-46F8-856A-18EA1CF30A1B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75623073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544638"/>
            <a:ext cx="7772400" cy="1362075"/>
          </a:xfrm>
        </p:spPr>
        <p:txBody>
          <a:bodyPr anchor="t"/>
          <a:lstStyle>
            <a:lvl1pPr algn="l">
              <a:defRPr sz="4000" b="1" cap="all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DE40EF-D719-C1DF-C21A-2CF2ACF954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0154D67-7283-208E-229E-EF4878C71D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87FBDCE-B7CC-6ED6-F37D-087059BBCD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79D9D01-1391-45E0-A9C5-C04635A43651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DEFD4032-0DCD-4B56-8C1A-A046DCFB4D2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85800" y="3048000"/>
            <a:ext cx="7772400" cy="3124200"/>
          </a:xfrm>
        </p:spPr>
        <p:txBody>
          <a:bodyPr/>
          <a:lstStyle>
            <a:lvl1pPr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2pPr>
            <a:lvl3pPr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3pPr>
            <a:lvl4pPr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4pPr>
            <a:lvl5pPr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93880321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8A1B8B84-BA43-81F2-03D3-23F157EDDE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9C23C139-D613-6FE7-8352-A2E3C1C6D2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D763CA6A-FAB2-9598-5FD6-5C5FFE4CC8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4877344-E1C7-49F4-9630-5A0F623202D9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72023579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AC99FE01-5AE9-7CCB-1DBD-1304A57ADB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3A2B8239-FCBD-23CF-FA37-CDC50DB052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7E3DACE7-853A-4CB8-B825-278E151B17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ED20D7B-F2AF-465A-8627-050A33B6A2E6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89979719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>
            <a:extLst>
              <a:ext uri="{FF2B5EF4-FFF2-40B4-BE49-F238E27FC236}">
                <a16:creationId xmlns:a16="http://schemas.microsoft.com/office/drawing/2014/main" id="{70E68BBE-9DA8-9C9C-D822-7FC9D3829C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3BD6A7CF-E35D-4F42-293C-8BAB3F1350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5D87C34F-2852-49F1-C32D-490DE97430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3FB3AC73-65EA-4970-A755-094E5C634C8C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5993879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>
            <a:extLst>
              <a:ext uri="{FF2B5EF4-FFF2-40B4-BE49-F238E27FC236}">
                <a16:creationId xmlns:a16="http://schemas.microsoft.com/office/drawing/2014/main" id="{D25E5740-931D-F5B1-D23F-DCBD0C38C0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F48D1279-085F-FADC-9335-EE951FC2FE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2FCD80BA-8A05-EF30-056C-D3B895E354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05AE7E5-2F0D-40CB-89DC-60190FE7F765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12596058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B0265D46-A9C7-CD06-5134-985F832761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C8A55F7D-AFEF-402F-45C6-533ED83EFE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FF7864CC-5912-595A-947D-86ED4368FB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48715581-CD01-4CEC-BC8F-7353CE826851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82044642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AE467ABF-5DBD-0F44-6269-D1296B6693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31729259-95EB-ABB4-8CC1-6AAA526DCD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762D7086-DF65-36F8-E6B6-082068B3EE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B2052F0-E69A-488D-AA78-DE7ABB9591C3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26502669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049C7B9-97C1-73C5-069B-8304F71A59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D44205D-B0EA-B535-1BCB-C052B27F31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8810C2-A27B-66A7-0574-10C225192F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F29212A-F0D7-4AFF-A386-0ACFB0AAC5E4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79841231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599E6BE-7F7F-94ED-1232-D89436CBCA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B9733A2-CB01-A6CE-B5D3-DB2ECAFBBC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5721FBA-0C17-A4B8-E194-E3AAE05723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ED9BE82-4715-4ACA-919F-DBB11A70F4E4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95570814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ustom Layout">
    <p:bg>
      <p:bgPr>
        <a:blipFill dpi="0" rotWithShape="0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AFFBFFBE-14B2-F0AF-F4AC-4976B5EA7B3E}"/>
              </a:ext>
            </a:extLst>
          </p:cNvPr>
          <p:cNvSpPr/>
          <p:nvPr userDrawn="1"/>
        </p:nvSpPr>
        <p:spPr>
          <a:xfrm>
            <a:off x="0" y="3352800"/>
            <a:ext cx="8686800" cy="2743200"/>
          </a:xfrm>
          <a:prstGeom prst="rect">
            <a:avLst/>
          </a:prstGeom>
          <a:solidFill>
            <a:srgbClr val="1011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hangingPunct="1">
              <a:defRPr/>
            </a:pPr>
            <a:endParaRPr lang="en-US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A176F73-2534-EA66-9BA3-389159441E1E}"/>
              </a:ext>
            </a:extLst>
          </p:cNvPr>
          <p:cNvSpPr/>
          <p:nvPr userDrawn="1"/>
        </p:nvSpPr>
        <p:spPr>
          <a:xfrm>
            <a:off x="2895600" y="6096000"/>
            <a:ext cx="2895600" cy="76200"/>
          </a:xfrm>
          <a:prstGeom prst="rect">
            <a:avLst/>
          </a:prstGeom>
          <a:solidFill>
            <a:srgbClr val="76C2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hangingPunct="1">
              <a:defRPr/>
            </a:pPr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1143B4A-14C2-1094-BE58-15BD80B6D446}"/>
              </a:ext>
            </a:extLst>
          </p:cNvPr>
          <p:cNvSpPr/>
          <p:nvPr userDrawn="1"/>
        </p:nvSpPr>
        <p:spPr>
          <a:xfrm>
            <a:off x="0" y="6096000"/>
            <a:ext cx="2895600" cy="76200"/>
          </a:xfrm>
          <a:prstGeom prst="rect">
            <a:avLst/>
          </a:prstGeom>
          <a:solidFill>
            <a:srgbClr val="FCB0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hangingPunct="1">
              <a:defRPr/>
            </a:pPr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2D759AA-21D7-ABA4-D5D7-76848EAA814B}"/>
              </a:ext>
            </a:extLst>
          </p:cNvPr>
          <p:cNvSpPr/>
          <p:nvPr userDrawn="1"/>
        </p:nvSpPr>
        <p:spPr>
          <a:xfrm>
            <a:off x="5791200" y="6096000"/>
            <a:ext cx="2895600" cy="76200"/>
          </a:xfrm>
          <a:prstGeom prst="rect">
            <a:avLst/>
          </a:prstGeom>
          <a:solidFill>
            <a:srgbClr val="FF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hangingPunct="1">
              <a:defRPr/>
            </a:pPr>
            <a:endParaRPr lang="en-US"/>
          </a:p>
        </p:txBody>
      </p:sp>
      <p:pic>
        <p:nvPicPr>
          <p:cNvPr id="8" name="Picture 10" descr="BITS_university_logo_whitevert.png">
            <a:extLst>
              <a:ext uri="{FF2B5EF4-FFF2-40B4-BE49-F238E27FC236}">
                <a16:creationId xmlns:a16="http://schemas.microsoft.com/office/drawing/2014/main" id="{4AC502B5-9275-C45A-F485-E98B733254DA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" b="28592"/>
          <a:stretch>
            <a:fillRect/>
          </a:stretch>
        </p:blipFill>
        <p:spPr bwMode="auto">
          <a:xfrm>
            <a:off x="76200" y="3352800"/>
            <a:ext cx="2057400" cy="19796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68A90F2E-DD9A-35C4-D90C-49EB0FD21D5D}"/>
              </a:ext>
            </a:extLst>
          </p:cNvPr>
          <p:cNvSpPr txBox="1"/>
          <p:nvPr userDrawn="1"/>
        </p:nvSpPr>
        <p:spPr>
          <a:xfrm>
            <a:off x="-76200" y="5257800"/>
            <a:ext cx="2209800" cy="554038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 algn="ctr" eaLnBrk="1" hangingPunct="1">
              <a:defRPr/>
            </a:pPr>
            <a:r>
              <a:rPr lang="en-US" sz="2900" b="1" spc="-150" dirty="0">
                <a:solidFill>
                  <a:schemeClr val="bg1"/>
                </a:solidFill>
                <a:latin typeface="Arial"/>
                <a:cs typeface="Arial"/>
              </a:rPr>
              <a:t>BITS</a:t>
            </a:r>
            <a:r>
              <a:rPr lang="en-US" sz="2900" spc="-150" dirty="0">
                <a:solidFill>
                  <a:schemeClr val="bg1"/>
                </a:solidFill>
                <a:latin typeface="Arial"/>
                <a:cs typeface="Arial"/>
              </a:rPr>
              <a:t> Pilani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E235B97-BCD1-B200-8B0C-6E7F31A5DD6E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152400" y="5667375"/>
            <a:ext cx="1905000" cy="276225"/>
          </a:xfrm>
          <a:prstGeom prst="rect">
            <a:avLst/>
          </a:prstGeom>
          <a:noFill/>
          <a:ln>
            <a:noFill/>
          </a:ln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defRPr/>
            </a:pPr>
            <a:r>
              <a:rPr lang="en-US" sz="1200">
                <a:solidFill>
                  <a:srgbClr val="FFFFFF"/>
                </a:solidFill>
                <a:cs typeface="Arial" charset="0"/>
              </a:rPr>
              <a:t>Pilani Campus</a:t>
            </a:r>
          </a:p>
        </p:txBody>
      </p:sp>
      <p:sp>
        <p:nvSpPr>
          <p:cNvPr id="7" name="Content Placeholder 6"/>
          <p:cNvSpPr>
            <a:spLocks noGrp="1"/>
          </p:cNvSpPr>
          <p:nvPr>
            <p:ph sz="quarter" idx="13"/>
          </p:nvPr>
        </p:nvSpPr>
        <p:spPr>
          <a:xfrm>
            <a:off x="2514600" y="5410200"/>
            <a:ext cx="6019800" cy="533400"/>
          </a:xfrm>
        </p:spPr>
        <p:txBody>
          <a:bodyPr anchor="b">
            <a:noAutofit/>
          </a:bodyPr>
          <a:lstStyle>
            <a:lvl1pPr marL="0" indent="0" algn="r">
              <a:lnSpc>
                <a:spcPts val="1800"/>
              </a:lnSpc>
              <a:spcBef>
                <a:spcPts val="0"/>
              </a:spcBef>
              <a:buNone/>
              <a:defRPr sz="1800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14600" y="3810000"/>
            <a:ext cx="6019800" cy="1524000"/>
          </a:xfrm>
        </p:spPr>
        <p:txBody>
          <a:bodyPr>
            <a:noAutofit/>
          </a:bodyPr>
          <a:lstStyle>
            <a:lvl1pPr algn="l">
              <a:lnSpc>
                <a:spcPts val="4000"/>
              </a:lnSpc>
              <a:defRPr sz="4400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2737192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>
            <a:extLst>
              <a:ext uri="{FF2B5EF4-FFF2-40B4-BE49-F238E27FC236}">
                <a16:creationId xmlns:a16="http://schemas.microsoft.com/office/drawing/2014/main" id="{BA203AAE-04EA-FB40-EB07-8B5C207984B1}"/>
              </a:ext>
            </a:extLst>
          </p:cNvPr>
          <p:cNvSpPr>
            <a:spLocks noGrp="1"/>
          </p:cNvSpPr>
          <p:nvPr>
            <p:ph type="title"/>
          </p:nvPr>
        </p:nvSpPr>
        <p:spPr bwMode="auto">
          <a:xfrm>
            <a:off x="152400" y="53975"/>
            <a:ext cx="6324600" cy="119538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 dirty="0"/>
              <a:t>Click to edit Master title style</a:t>
            </a:r>
          </a:p>
        </p:txBody>
      </p:sp>
      <p:sp>
        <p:nvSpPr>
          <p:cNvPr id="1027" name="Text Placeholder 2">
            <a:extLst>
              <a:ext uri="{FF2B5EF4-FFF2-40B4-BE49-F238E27FC236}">
                <a16:creationId xmlns:a16="http://schemas.microsoft.com/office/drawing/2014/main" id="{B0F4528A-9CB7-CDAF-ED2B-34ED92441136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xfrm>
            <a:off x="152400" y="1446211"/>
            <a:ext cx="8839200" cy="50149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 dirty="0"/>
              <a:t>Click to edit Master text styles</a:t>
            </a:r>
          </a:p>
          <a:p>
            <a:pPr lvl="1"/>
            <a:r>
              <a:rPr lang="en-US" altLang="en-US" dirty="0"/>
              <a:t>Second level</a:t>
            </a:r>
          </a:p>
          <a:p>
            <a:pPr lvl="2"/>
            <a:r>
              <a:rPr lang="en-US" altLang="en-US" dirty="0"/>
              <a:t>Third level</a:t>
            </a:r>
          </a:p>
          <a:p>
            <a:pPr lvl="3"/>
            <a:r>
              <a:rPr lang="en-US" altLang="en-US" dirty="0"/>
              <a:t>Fourth level</a:t>
            </a:r>
          </a:p>
          <a:p>
            <a:pPr lvl="4"/>
            <a:r>
              <a:rPr lang="en-US" alt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1C94811-E68F-A5B1-AEDA-C6AFA290A81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0" y="6599238"/>
            <a:ext cx="1828800" cy="25876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+mn-lt"/>
              </a:defRPr>
            </a:lvl1pPr>
          </a:lstStyle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D210422-B7F7-81EF-261E-27508681B4B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124200" y="6599238"/>
            <a:ext cx="2895600" cy="258762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ctr" eaLnBrk="1" hangingPunct="1">
              <a:defRPr sz="1200">
                <a:solidFill>
                  <a:srgbClr val="898989"/>
                </a:solidFill>
                <a:latin typeface="Calibri" pitchFamily="34" charset="0"/>
              </a:defRPr>
            </a:lvl1pPr>
          </a:lstStyle>
          <a:p>
            <a:pPr>
              <a:defRPr/>
            </a:pPr>
            <a:r>
              <a:rPr lang="en-US" b="1" dirty="0">
                <a:solidFill>
                  <a:srgbClr val="101141"/>
                </a:solidFill>
                <a:cs typeface="Arial" charset="0"/>
              </a:rPr>
              <a:t>BITS </a:t>
            </a:r>
            <a:r>
              <a:rPr lang="en-US" dirty="0" err="1">
                <a:solidFill>
                  <a:srgbClr val="101141"/>
                </a:solidFill>
                <a:cs typeface="Arial" charset="0"/>
              </a:rPr>
              <a:t>Pilani</a:t>
            </a:r>
            <a:r>
              <a:rPr lang="en-US" dirty="0">
                <a:solidFill>
                  <a:srgbClr val="101141"/>
                </a:solidFill>
                <a:cs typeface="Arial" charset="0"/>
              </a:rPr>
              <a:t>, </a:t>
            </a:r>
            <a:r>
              <a:rPr lang="en-US" dirty="0" err="1">
                <a:solidFill>
                  <a:srgbClr val="101141"/>
                </a:solidFill>
                <a:cs typeface="Arial" charset="0"/>
              </a:rPr>
              <a:t>Pilani</a:t>
            </a:r>
            <a:r>
              <a:rPr lang="en-US" dirty="0">
                <a:solidFill>
                  <a:srgbClr val="101141"/>
                </a:solidFill>
                <a:cs typeface="Arial" charset="0"/>
              </a:rPr>
              <a:t> Campus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2938BB7-5B9C-07D9-CEF5-0333C505508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86800" y="6599238"/>
            <a:ext cx="457200" cy="258762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solidFill>
                  <a:srgbClr val="898989"/>
                </a:solidFill>
                <a:latin typeface="Calibri" panose="020F0502020204030204" pitchFamily="34" charset="0"/>
              </a:defRPr>
            </a:lvl1pPr>
          </a:lstStyle>
          <a:p>
            <a:pPr>
              <a:defRPr/>
            </a:pPr>
            <a:fld id="{5875A4CA-FE82-4068-9563-37A5A44B5871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  <p:pic>
        <p:nvPicPr>
          <p:cNvPr id="7" name="Picture 11" descr="Picture 7.png">
            <a:extLst>
              <a:ext uri="{FF2B5EF4-FFF2-40B4-BE49-F238E27FC236}">
                <a16:creationId xmlns:a16="http://schemas.microsoft.com/office/drawing/2014/main" id="{B1A82462-8175-42D8-B46C-67766E05E740}"/>
              </a:ext>
            </a:extLst>
          </p:cNvPr>
          <p:cNvPicPr>
            <a:picLocks noChangeAspect="1"/>
          </p:cNvPicPr>
          <p:nvPr userDrawn="1"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23" b="5336"/>
          <a:stretch>
            <a:fillRect/>
          </a:stretch>
        </p:blipFill>
        <p:spPr bwMode="auto">
          <a:xfrm>
            <a:off x="6629400" y="0"/>
            <a:ext cx="2193925" cy="6921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8" name="Group 18">
            <a:extLst>
              <a:ext uri="{FF2B5EF4-FFF2-40B4-BE49-F238E27FC236}">
                <a16:creationId xmlns:a16="http://schemas.microsoft.com/office/drawing/2014/main" id="{F71B9737-4DA8-4B8F-9335-5F2A7C906531}"/>
              </a:ext>
            </a:extLst>
          </p:cNvPr>
          <p:cNvGrpSpPr>
            <a:grpSpLocks/>
          </p:cNvGrpSpPr>
          <p:nvPr userDrawn="1"/>
        </p:nvGrpSpPr>
        <p:grpSpPr bwMode="auto">
          <a:xfrm>
            <a:off x="2133600" y="6553200"/>
            <a:ext cx="7010400" cy="46038"/>
            <a:chOff x="1905000" y="6553200"/>
            <a:chExt cx="7010400" cy="45719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F32335E3-1C88-4FEB-B3EA-2686D6520BDF}"/>
                </a:ext>
              </a:extLst>
            </p:cNvPr>
            <p:cNvSpPr/>
            <p:nvPr/>
          </p:nvSpPr>
          <p:spPr>
            <a:xfrm>
              <a:off x="4267200" y="6553200"/>
              <a:ext cx="2328863" cy="45719"/>
            </a:xfrm>
            <a:prstGeom prst="rect">
              <a:avLst/>
            </a:prstGeom>
            <a:solidFill>
              <a:srgbClr val="76C2E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>
                <a:solidFill>
                  <a:prstClr val="white"/>
                </a:solidFill>
              </a:endParaRPr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E57711E8-77A4-4937-A983-1A5FDBFC0894}"/>
                </a:ext>
              </a:extLst>
            </p:cNvPr>
            <p:cNvSpPr/>
            <p:nvPr/>
          </p:nvSpPr>
          <p:spPr>
            <a:xfrm>
              <a:off x="1905000" y="6553200"/>
              <a:ext cx="2362200" cy="45719"/>
            </a:xfrm>
            <a:prstGeom prst="rect">
              <a:avLst/>
            </a:prstGeom>
            <a:solidFill>
              <a:srgbClr val="FCB017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>
                <a:solidFill>
                  <a:prstClr val="white"/>
                </a:solidFill>
              </a:endParaRP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2C71875C-BA0F-4B96-BF59-4025A49FA021}"/>
                </a:ext>
              </a:extLst>
            </p:cNvPr>
            <p:cNvSpPr/>
            <p:nvPr userDrawn="1"/>
          </p:nvSpPr>
          <p:spPr>
            <a:xfrm>
              <a:off x="6586538" y="6553200"/>
              <a:ext cx="2328862" cy="45719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>
                <a:solidFill>
                  <a:prstClr val="white"/>
                </a:solidFill>
              </a:endParaRPr>
            </a:p>
          </p:txBody>
        </p:sp>
      </p:grpSp>
      <p:grpSp>
        <p:nvGrpSpPr>
          <p:cNvPr id="12" name="Group 22">
            <a:extLst>
              <a:ext uri="{FF2B5EF4-FFF2-40B4-BE49-F238E27FC236}">
                <a16:creationId xmlns:a16="http://schemas.microsoft.com/office/drawing/2014/main" id="{C2B4447A-9437-4C8F-B654-838CD5BB8615}"/>
              </a:ext>
            </a:extLst>
          </p:cNvPr>
          <p:cNvGrpSpPr>
            <a:grpSpLocks/>
          </p:cNvGrpSpPr>
          <p:nvPr userDrawn="1"/>
        </p:nvGrpSpPr>
        <p:grpSpPr bwMode="auto">
          <a:xfrm>
            <a:off x="0" y="1295400"/>
            <a:ext cx="7010400" cy="46038"/>
            <a:chOff x="1905000" y="6553200"/>
            <a:chExt cx="7010400" cy="45719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56377527-4981-49F2-8F12-B5DB6F066126}"/>
                </a:ext>
              </a:extLst>
            </p:cNvPr>
            <p:cNvSpPr/>
            <p:nvPr/>
          </p:nvSpPr>
          <p:spPr>
            <a:xfrm>
              <a:off x="4267200" y="6553200"/>
              <a:ext cx="2328863" cy="45719"/>
            </a:xfrm>
            <a:prstGeom prst="rect">
              <a:avLst/>
            </a:prstGeom>
            <a:solidFill>
              <a:srgbClr val="76C2E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>
                <a:solidFill>
                  <a:prstClr val="white"/>
                </a:solidFill>
              </a:endParaRPr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85B94671-9EEF-4175-9164-57B69291B8A6}"/>
                </a:ext>
              </a:extLst>
            </p:cNvPr>
            <p:cNvSpPr/>
            <p:nvPr/>
          </p:nvSpPr>
          <p:spPr>
            <a:xfrm>
              <a:off x="1905000" y="6553200"/>
              <a:ext cx="2362200" cy="45719"/>
            </a:xfrm>
            <a:prstGeom prst="rect">
              <a:avLst/>
            </a:prstGeom>
            <a:solidFill>
              <a:srgbClr val="FCB017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>
                <a:solidFill>
                  <a:prstClr val="white"/>
                </a:solidFill>
              </a:endParaRPr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CD2EC7A3-548A-4998-81D6-DC9D9CECAAD8}"/>
                </a:ext>
              </a:extLst>
            </p:cNvPr>
            <p:cNvSpPr/>
            <p:nvPr userDrawn="1"/>
          </p:nvSpPr>
          <p:spPr>
            <a:xfrm>
              <a:off x="6586538" y="6553200"/>
              <a:ext cx="2328862" cy="45719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>
                <a:solidFill>
                  <a:prstClr val="white"/>
                </a:solidFill>
              </a:endParaRPr>
            </a:p>
          </p:txBody>
        </p:sp>
      </p:grpSp>
    </p:spTree>
  </p:cSld>
  <p:clrMap bg1="lt1" tx1="dk1" bg2="lt2" tx2="dk2" accent1="accent1" accent2="accent2" accent3="accent3" accent4="accent4" accent5="accent5" accent6="accent6" hlink="hlink" folHlink="folHlink"/>
  <p:sldLayoutIdLst>
    <p:sldLayoutId id="2147484833" r:id="rId1"/>
    <p:sldLayoutId id="2147484834" r:id="rId2"/>
    <p:sldLayoutId id="2147484835" r:id="rId3"/>
    <p:sldLayoutId id="2147484836" r:id="rId4"/>
    <p:sldLayoutId id="2147484837" r:id="rId5"/>
    <p:sldLayoutId id="2147484838" r:id="rId6"/>
    <p:sldLayoutId id="2147484839" r:id="rId7"/>
    <p:sldLayoutId id="2147484840" r:id="rId8"/>
    <p:sldLayoutId id="2147484841" r:id="rId9"/>
    <p:sldLayoutId id="2147484842" r:id="rId10"/>
    <p:sldLayoutId id="2147484843" r:id="rId11"/>
    <p:sldLayoutId id="2147484844" r:id="rId12"/>
  </p:sldLayoutIdLst>
  <p:hf hdr="0" ftr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3600" b="1" kern="1200">
          <a:solidFill>
            <a:srgbClr val="FFC000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3200" kern="1200">
          <a:solidFill>
            <a:schemeClr val="tx1">
              <a:lumMod val="50000"/>
              <a:lumOff val="50000"/>
            </a:schemeClr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sz="2800" kern="1200">
          <a:solidFill>
            <a:schemeClr val="tx1">
              <a:lumMod val="50000"/>
              <a:lumOff val="50000"/>
            </a:schemeClr>
          </a:solidFill>
          <a:latin typeface="+mn-lt"/>
          <a:ea typeface="+mn-ea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2400" kern="1200">
          <a:solidFill>
            <a:schemeClr val="tx1">
              <a:lumMod val="50000"/>
              <a:lumOff val="50000"/>
            </a:schemeClr>
          </a:solidFill>
          <a:latin typeface="+mn-lt"/>
          <a:ea typeface="+mn-ea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sz="2000" kern="1200">
          <a:solidFill>
            <a:schemeClr val="tx1">
              <a:lumMod val="50000"/>
              <a:lumOff val="50000"/>
            </a:schemeClr>
          </a:solidFill>
          <a:latin typeface="+mn-lt"/>
          <a:ea typeface="+mn-ea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»"/>
        <a:defRPr sz="2000" kern="1200">
          <a:solidFill>
            <a:schemeClr val="tx1">
              <a:lumMod val="50000"/>
              <a:lumOff val="50000"/>
            </a:schemeClr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4.png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2" name="Title 4">
            <a:extLst>
              <a:ext uri="{FF2B5EF4-FFF2-40B4-BE49-F238E27FC236}">
                <a16:creationId xmlns:a16="http://schemas.microsoft.com/office/drawing/2014/main" id="{82CCF8E8-8D44-B829-5D34-BCFE6E2C94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altLang="en-US" dirty="0"/>
              <a:t>Software for Embedded Systems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4BD772D-9840-4762-E3C3-128057D3E943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en-US" sz="2000" dirty="0"/>
              <a:t>Prof. Saurabh Gandhi (EEE department)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E3DF55-2054-263F-1F80-3FC57BBCBC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Building a multitasking embedded software system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7DC8CC-F9A4-DBF2-CFD1-4E01F71ABB1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dirty="0"/>
              <a:t>Multitasking introduces:</a:t>
            </a:r>
          </a:p>
          <a:p>
            <a:r>
              <a:rPr lang="en-US" dirty="0"/>
              <a:t>Concurrent execution</a:t>
            </a:r>
          </a:p>
          <a:p>
            <a:r>
              <a:rPr lang="en-US" dirty="0"/>
              <a:t>Shared data</a:t>
            </a:r>
          </a:p>
          <a:p>
            <a:r>
              <a:rPr lang="en-US" dirty="0"/>
              <a:t>Asynchronous events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Race conditions</a:t>
            </a:r>
          </a:p>
          <a:p>
            <a:r>
              <a:rPr lang="en-US" dirty="0"/>
              <a:t>Inconsistent state of the system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Need for synchronization and inter process communication (IPC)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678D7FD-FC1C-644A-A409-1EAB92531A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42E9772-D828-1F50-702B-2240046E66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2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8144092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1AC4E7-1592-1961-0DC4-503F3FCD9C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Race conditions</a:t>
            </a:r>
            <a:endParaRPr lang="en-IN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005CE19-5B60-0ACD-7D55-8516184630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4A7ACB3-B559-D69C-7DAC-8F6C6A010E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3</a:t>
            </a:fld>
            <a:endParaRPr lang="en-US" alt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17C14A3-2ACE-DE7C-9055-B46ED7C3C25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446" y="1797818"/>
            <a:ext cx="2438740" cy="4067743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8E03ABC8-722A-C696-13CB-C23F34194B7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57208" y="1813025"/>
            <a:ext cx="3077004" cy="4182059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B013DBBC-2A09-F11D-ADAB-5D4EF2642CE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29234" y="1864502"/>
            <a:ext cx="3191320" cy="39343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393934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7BD08D-F0DD-C051-3A3A-D15E3510AE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Race conditions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B91171-F530-0E8C-FCFB-65BD091FE42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What problem do you foresee</a:t>
            </a:r>
            <a:br>
              <a:rPr lang="en-US" dirty="0"/>
            </a:br>
            <a:r>
              <a:rPr lang="en-US" dirty="0"/>
              <a:t>with this code?</a:t>
            </a:r>
          </a:p>
          <a:p>
            <a:endParaRPr lang="en-US" dirty="0"/>
          </a:p>
          <a:p>
            <a:r>
              <a:rPr lang="en-US" dirty="0"/>
              <a:t>Multiple correct operations</a:t>
            </a:r>
          </a:p>
          <a:p>
            <a:r>
              <a:rPr lang="en-US" dirty="0"/>
              <a:t>But depending on timing / order, result can be incorrect / non-deterministic</a:t>
            </a:r>
            <a:endParaRPr lang="en-IN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75E33B0-7EDF-32D3-FBF2-E21C18CC8A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B43B458-B79D-7E86-E92C-9420D68120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4</a:t>
            </a:fld>
            <a:endParaRPr lang="en-US" alt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4B65E76-D703-FEA0-A559-376870C340B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41116" y="1524000"/>
            <a:ext cx="2574284" cy="22380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108047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E30EE4-96FF-9FB1-695D-34FBC4A5D7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Inconsistent system state</a:t>
            </a:r>
            <a:endParaRPr lang="en-IN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30A7685-53C0-4890-040F-482DC64E0D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68BFA2A-25C9-4B0D-F41C-F4C9618517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5</a:t>
            </a:fld>
            <a:endParaRPr lang="en-US" alt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3ED9E74-E38E-323F-84AC-F7D8C4A9C0A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4800" y="1600200"/>
            <a:ext cx="3147333" cy="205740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6B45C9B4-2CAD-3E6C-1D6F-617B06DA8BD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4800" y="3886200"/>
            <a:ext cx="3660032" cy="114300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73CDBA53-CF3F-82E8-7C65-CB184CF4061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86200" y="1847187"/>
            <a:ext cx="5010889" cy="15474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911269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12CBF9-80AA-D545-97BE-77419E7580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do we avoid these?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8E6923-A7E2-8A8A-C6B2-7E15BB5313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Problem areas:</a:t>
            </a:r>
          </a:p>
          <a:p>
            <a:r>
              <a:rPr lang="en-US" dirty="0"/>
              <a:t>Data exchange  </a:t>
            </a:r>
            <a:r>
              <a:rPr lang="en-US" dirty="0">
                <a:sym typeface="Wingdings" panose="05000000000000000000" pitchFamily="2" charset="2"/>
              </a:rPr>
              <a:t>  IPC</a:t>
            </a:r>
          </a:p>
          <a:p>
            <a:r>
              <a:rPr lang="en-US" dirty="0">
                <a:sym typeface="Wingdings" panose="05000000000000000000" pitchFamily="2" charset="2"/>
              </a:rPr>
              <a:t>Safe access / ordering </a:t>
            </a:r>
            <a:r>
              <a:rPr lang="en-US" dirty="0"/>
              <a:t> </a:t>
            </a:r>
            <a:r>
              <a:rPr lang="en-US" dirty="0">
                <a:sym typeface="Wingdings" panose="05000000000000000000" pitchFamily="2" charset="2"/>
              </a:rPr>
              <a:t>  Synchronization</a:t>
            </a:r>
          </a:p>
          <a:p>
            <a:endParaRPr lang="en-US" dirty="0">
              <a:sym typeface="Wingdings" panose="05000000000000000000" pitchFamily="2" charset="2"/>
            </a:endParaRPr>
          </a:p>
          <a:p>
            <a:pPr marL="0" indent="0">
              <a:buNone/>
            </a:pPr>
            <a:r>
              <a:rPr lang="en-US" dirty="0">
                <a:sym typeface="Wingdings" panose="05000000000000000000" pitchFamily="2" charset="2"/>
              </a:rPr>
              <a:t>Communication paradigms:</a:t>
            </a:r>
          </a:p>
          <a:p>
            <a:r>
              <a:rPr lang="en-US" dirty="0">
                <a:sym typeface="Wingdings" panose="05000000000000000000" pitchFamily="2" charset="2"/>
              </a:rPr>
              <a:t>Shared memory</a:t>
            </a:r>
          </a:p>
          <a:p>
            <a:r>
              <a:rPr lang="en-US" dirty="0">
                <a:sym typeface="Wingdings" panose="05000000000000000000" pitchFamily="2" charset="2"/>
              </a:rPr>
              <a:t>Message passing</a:t>
            </a:r>
            <a:endParaRPr lang="en-IN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5BBD4DF-6CDD-AE7E-FE33-E135DA7566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B6664C7-DB26-4069-DB0A-4235046052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6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40118704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9CEFD6-EBED-5435-12DF-DACF7DD752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Shared memory</a:t>
            </a:r>
            <a:endParaRPr lang="en-IN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3D96903-D61A-351D-57D3-924B55B340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6218C6B-F55F-417E-B602-52320AAF62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7</a:t>
            </a:fld>
            <a:endParaRPr lang="en-US" alt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9D3555F-8AF0-A1FC-D0FD-85EF63FC111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400" y="1446211"/>
            <a:ext cx="3657600" cy="2830882"/>
          </a:xfrm>
          <a:prstGeom prst="rect">
            <a:avLst/>
          </a:prstGeom>
        </p:spPr>
      </p:pic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47C219E0-3BA1-FEF4-CD19-6BFE38BA84E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2400" y="4419600"/>
            <a:ext cx="3657600" cy="763589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Problematic – race condition possible</a:t>
            </a:r>
            <a:endParaRPr lang="en-IN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0E795087-DA92-8BBE-EF35-27FAFC429E6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76800" y="2855790"/>
            <a:ext cx="2743199" cy="914400"/>
          </a:xfrm>
          <a:prstGeom prst="rect">
            <a:avLst/>
          </a:prstGeom>
        </p:spPr>
      </p:pic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FF624E55-2E32-FFFE-68E0-D8BEEE623972}"/>
              </a:ext>
            </a:extLst>
          </p:cNvPr>
          <p:cNvSpPr txBox="1">
            <a:spLocks/>
          </p:cNvSpPr>
          <p:nvPr/>
        </p:nvSpPr>
        <p:spPr bwMode="auto">
          <a:xfrm>
            <a:off x="4038600" y="1465513"/>
            <a:ext cx="3657600" cy="181699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3200" kern="120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800" kern="120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2400" kern="120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 kern="120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 kern="120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/>
              <a:t>Critical section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IN" sz="1800" dirty="0">
                <a:solidFill>
                  <a:schemeClr val="tx1"/>
                </a:solidFill>
              </a:rPr>
              <a:t>Limit access of shared memory ( / resource) to only one task at a time</a:t>
            </a:r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24E55D7D-7FF2-AAF0-C569-7C950BFCEFBC}"/>
              </a:ext>
            </a:extLst>
          </p:cNvPr>
          <p:cNvSpPr txBox="1">
            <a:spLocks/>
          </p:cNvSpPr>
          <p:nvPr/>
        </p:nvSpPr>
        <p:spPr bwMode="auto">
          <a:xfrm>
            <a:off x="4034413" y="3962400"/>
            <a:ext cx="3657600" cy="181699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3200" kern="120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800" kern="120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2400" kern="120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 kern="120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 kern="120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/>
              <a:t>Mutex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IN" sz="1800" dirty="0">
                <a:solidFill>
                  <a:schemeClr val="tx1"/>
                </a:solidFill>
              </a:rPr>
              <a:t>Binary lock to ensure resource is not used by other processes</a:t>
            </a:r>
          </a:p>
        </p:txBody>
      </p:sp>
    </p:spTree>
    <p:extLst>
      <p:ext uri="{BB962C8B-B14F-4D97-AF65-F5344CB8AC3E}">
        <p14:creationId xmlns:p14="http://schemas.microsoft.com/office/powerpoint/2010/main" val="4894904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build="p"/>
      <p:bldP spid="11" grpId="0" build="p"/>
      <p:bldP spid="12" grpId="0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07A00F-CDCD-E55A-27D2-7EA8624647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Mutex example</a:t>
            </a:r>
            <a:endParaRPr lang="en-IN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746A41E-3674-A3B8-63DD-D295F95FA7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85FDD69-D2CF-45CE-A6DA-1D8BBC36D1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8</a:t>
            </a:fld>
            <a:endParaRPr lang="en-US" alt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7E908E7-93DB-289A-9133-C553A02C7E5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7424" y="1524000"/>
            <a:ext cx="2709798" cy="1676400"/>
          </a:xfrm>
          <a:prstGeom prst="rect">
            <a:avLst/>
          </a:prstGeom>
        </p:spPr>
      </p:pic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79291915-DC25-CCC2-4EA8-3A278E08975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2400" y="3284539"/>
            <a:ext cx="2709798" cy="381000"/>
          </a:xfrm>
        </p:spPr>
        <p:txBody>
          <a:bodyPr/>
          <a:lstStyle/>
          <a:p>
            <a:pPr marL="0" indent="0">
              <a:buNone/>
            </a:pPr>
            <a:r>
              <a:rPr lang="en-US" sz="2000" dirty="0">
                <a:solidFill>
                  <a:schemeClr val="tx1"/>
                </a:solidFill>
              </a:rPr>
              <a:t>Shared resource</a:t>
            </a:r>
            <a:endParaRPr lang="en-IN" sz="2000" dirty="0">
              <a:solidFill>
                <a:schemeClr val="tx1"/>
              </a:solidFill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A8F820BF-B8A3-ADC3-AC58-38D204C5D66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399" y="3833698"/>
            <a:ext cx="3657601" cy="1942390"/>
          </a:xfrm>
          <a:prstGeom prst="rect">
            <a:avLst/>
          </a:prstGeom>
        </p:spPr>
      </p:pic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DB982985-4EA5-ACFD-DA93-A4616C4D5C82}"/>
              </a:ext>
            </a:extLst>
          </p:cNvPr>
          <p:cNvSpPr txBox="1">
            <a:spLocks/>
          </p:cNvSpPr>
          <p:nvPr/>
        </p:nvSpPr>
        <p:spPr bwMode="auto">
          <a:xfrm>
            <a:off x="152399" y="5863014"/>
            <a:ext cx="3829545" cy="381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3200" kern="120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800" kern="120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2400" kern="120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 kern="120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 kern="120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2000" dirty="0">
                <a:solidFill>
                  <a:schemeClr val="tx1"/>
                </a:solidFill>
              </a:rPr>
              <a:t>Initialize the mutex for this resource</a:t>
            </a:r>
            <a:endParaRPr lang="en-IN" sz="2000" dirty="0">
              <a:solidFill>
                <a:schemeClr val="tx1"/>
              </a:solidFill>
            </a:endParaRP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310236C9-F451-C56D-E843-03B2DB1F19A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49286" y="1524000"/>
            <a:ext cx="4280313" cy="3750678"/>
          </a:xfrm>
          <a:prstGeom prst="rect">
            <a:avLst/>
          </a:prstGeom>
        </p:spPr>
      </p:pic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A26443B6-44E8-F90E-76FD-812B324E742D}"/>
              </a:ext>
            </a:extLst>
          </p:cNvPr>
          <p:cNvSpPr txBox="1">
            <a:spLocks/>
          </p:cNvSpPr>
          <p:nvPr/>
        </p:nvSpPr>
        <p:spPr bwMode="auto">
          <a:xfrm>
            <a:off x="3949286" y="5378346"/>
            <a:ext cx="3829545" cy="381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3200" kern="120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800" kern="120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2400" kern="120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 kern="120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 kern="120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2000" dirty="0">
                <a:solidFill>
                  <a:schemeClr val="tx1"/>
                </a:solidFill>
              </a:rPr>
              <a:t>Producer task</a:t>
            </a:r>
            <a:endParaRPr lang="en-IN" sz="20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493793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build="p"/>
      <p:bldP spid="11" grpId="0" build="p"/>
      <p:bldP spid="14" grpId="0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27D07D-4EBB-787C-271F-F6EDE81B5E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Mutex example</a:t>
            </a:r>
            <a:endParaRPr lang="en-IN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743C494-79C5-4991-79AA-DEB8DB610F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BC21A86-9FC2-29CC-FACE-4F826DB40D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9</a:t>
            </a:fld>
            <a:endParaRPr lang="en-US" alt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DB06A1C-A340-A855-9FC0-1A484D79A63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371600"/>
            <a:ext cx="4280313" cy="3750678"/>
          </a:xfrm>
          <a:prstGeom prst="rect">
            <a:avLst/>
          </a:prstGeom>
        </p:spPr>
      </p:pic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795C5A64-6A15-39DD-A38A-52A97FDE8229}"/>
              </a:ext>
            </a:extLst>
          </p:cNvPr>
          <p:cNvSpPr txBox="1">
            <a:spLocks/>
          </p:cNvSpPr>
          <p:nvPr/>
        </p:nvSpPr>
        <p:spPr bwMode="auto">
          <a:xfrm>
            <a:off x="0" y="5225946"/>
            <a:ext cx="3829545" cy="381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3200" kern="120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800" kern="120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2400" kern="120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 kern="120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 kern="120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2000" dirty="0">
                <a:solidFill>
                  <a:schemeClr val="tx1"/>
                </a:solidFill>
              </a:rPr>
              <a:t>Producer task</a:t>
            </a:r>
            <a:endParaRPr lang="en-IN" sz="2000" dirty="0">
              <a:solidFill>
                <a:schemeClr val="tx1"/>
              </a:solidFill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5C1B1E2B-74E0-2B32-A682-0A52F000B49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86200" y="1981200"/>
            <a:ext cx="5257800" cy="4163821"/>
          </a:xfrm>
          <a:prstGeom prst="rect">
            <a:avLst/>
          </a:prstGeom>
        </p:spPr>
      </p:pic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DD653974-E233-260F-1AE6-58FF393653C5}"/>
              </a:ext>
            </a:extLst>
          </p:cNvPr>
          <p:cNvSpPr txBox="1">
            <a:spLocks/>
          </p:cNvSpPr>
          <p:nvPr/>
        </p:nvSpPr>
        <p:spPr bwMode="auto">
          <a:xfrm>
            <a:off x="3886200" y="6145021"/>
            <a:ext cx="3829545" cy="381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3200" kern="120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800" kern="120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2400" kern="120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 kern="120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 kern="120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2000" dirty="0">
                <a:solidFill>
                  <a:schemeClr val="tx1"/>
                </a:solidFill>
              </a:rPr>
              <a:t>Consumer task</a:t>
            </a:r>
            <a:endParaRPr lang="en-IN" sz="20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5447070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3D2510-5935-8E34-AAC5-BA18E4F901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Message passing</a:t>
            </a:r>
            <a:endParaRPr lang="en-IN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E72551-3256-1DC3-C3AD-FC0105212E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22F25BA-2C9E-D48D-D98E-3E1A541462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10</a:t>
            </a:fld>
            <a:endParaRPr lang="en-US" alt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68464700-65D3-B9D0-FC46-66017863E90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5798" y="1447800"/>
            <a:ext cx="1594208" cy="1066800"/>
          </a:xfrm>
          <a:prstGeom prst="rect">
            <a:avLst/>
          </a:prstGeom>
        </p:spPr>
      </p:pic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E62F6F77-81D4-DD62-1A10-E678591426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2400" y="2590800"/>
            <a:ext cx="3033765" cy="381000"/>
          </a:xfrm>
        </p:spPr>
        <p:txBody>
          <a:bodyPr/>
          <a:lstStyle/>
          <a:p>
            <a:pPr marL="0" indent="0">
              <a:buNone/>
            </a:pPr>
            <a:r>
              <a:rPr lang="en-US" sz="2000" dirty="0">
                <a:solidFill>
                  <a:schemeClr val="tx1"/>
                </a:solidFill>
              </a:rPr>
              <a:t>Message = type + payload</a:t>
            </a:r>
            <a:endParaRPr lang="en-IN" sz="2000" dirty="0">
              <a:solidFill>
                <a:schemeClr val="tx1"/>
              </a:solidFill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EB0FC105-EFFD-500C-6A56-E2ECB4B4A8A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400" y="3124200"/>
            <a:ext cx="2770226" cy="2286000"/>
          </a:xfrm>
          <a:prstGeom prst="rect">
            <a:avLst/>
          </a:prstGeom>
        </p:spPr>
      </p:pic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FA50955F-13A3-A4AA-FC49-AFF3C96473C7}"/>
              </a:ext>
            </a:extLst>
          </p:cNvPr>
          <p:cNvSpPr txBox="1">
            <a:spLocks/>
          </p:cNvSpPr>
          <p:nvPr/>
        </p:nvSpPr>
        <p:spPr bwMode="auto">
          <a:xfrm>
            <a:off x="165798" y="5444532"/>
            <a:ext cx="3033765" cy="381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3200" kern="120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800" kern="120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2400" kern="120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 kern="120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 kern="120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2000" dirty="0">
                <a:solidFill>
                  <a:schemeClr val="tx1"/>
                </a:solidFill>
              </a:rPr>
              <a:t>Queue = buffer for messages + pointers to head and tail + queue size</a:t>
            </a:r>
            <a:endParaRPr lang="en-IN" sz="2000" dirty="0">
              <a:solidFill>
                <a:schemeClr val="tx1"/>
              </a:solidFill>
            </a:endParaRP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2271861F-E98D-F1F4-C728-73A761543F8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44374" y="1447800"/>
            <a:ext cx="2758584" cy="1195386"/>
          </a:xfrm>
          <a:prstGeom prst="rect">
            <a:avLst/>
          </a:prstGeom>
        </p:spPr>
      </p:pic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7D11ED82-5F20-4B4F-E48E-CCE77D25E18C}"/>
              </a:ext>
            </a:extLst>
          </p:cNvPr>
          <p:cNvSpPr txBox="1">
            <a:spLocks/>
          </p:cNvSpPr>
          <p:nvPr/>
        </p:nvSpPr>
        <p:spPr bwMode="auto">
          <a:xfrm>
            <a:off x="3744374" y="2651125"/>
            <a:ext cx="3033765" cy="381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3200" kern="120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800" kern="120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2400" kern="120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 kern="120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 kern="120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2000" dirty="0">
                <a:solidFill>
                  <a:schemeClr val="tx1"/>
                </a:solidFill>
              </a:rPr>
              <a:t>Initialization of a queue</a:t>
            </a:r>
            <a:endParaRPr lang="en-IN" sz="2000" dirty="0">
              <a:solidFill>
                <a:schemeClr val="tx1"/>
              </a:solidFill>
            </a:endParaRP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DA89D3A3-A685-266A-D31D-6A4B6105345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44374" y="3124200"/>
            <a:ext cx="3570826" cy="3648694"/>
          </a:xfrm>
          <a:prstGeom prst="rect">
            <a:avLst/>
          </a:prstGeom>
        </p:spPr>
      </p:pic>
      <p:sp>
        <p:nvSpPr>
          <p:cNvPr id="17" name="Content Placeholder 2">
            <a:extLst>
              <a:ext uri="{FF2B5EF4-FFF2-40B4-BE49-F238E27FC236}">
                <a16:creationId xmlns:a16="http://schemas.microsoft.com/office/drawing/2014/main" id="{8B6E83EA-DBD3-CF9E-7F82-DD1C42D63806}"/>
              </a:ext>
            </a:extLst>
          </p:cNvPr>
          <p:cNvSpPr txBox="1">
            <a:spLocks/>
          </p:cNvSpPr>
          <p:nvPr/>
        </p:nvSpPr>
        <p:spPr bwMode="auto">
          <a:xfrm>
            <a:off x="5867400" y="5999286"/>
            <a:ext cx="3179885" cy="381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3200" kern="120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800" kern="120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2400" kern="120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 kern="120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 kern="120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2000" dirty="0">
                <a:solidFill>
                  <a:schemeClr val="tx1"/>
                </a:solidFill>
              </a:rPr>
              <a:t>Adding an item to the queue</a:t>
            </a:r>
            <a:endParaRPr lang="en-IN" sz="20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752336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build="p"/>
      <p:bldP spid="11" grpId="0" build="p"/>
      <p:bldP spid="14" grpId="0" build="p"/>
      <p:bldP spid="17" grpId="0" build="p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CA0BBB-FA60-F3F1-0DFA-3163A35CB5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Message passing</a:t>
            </a:r>
            <a:endParaRPr lang="en-IN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B3F0935-25EB-2D39-DAAB-30ECD3B2E5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F881EE8-3BA7-295B-60C4-9941744670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11</a:t>
            </a:fld>
            <a:endParaRPr lang="en-US" alt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BE226B4-38D2-3B4A-1BD1-48BC986CAA8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400" y="1447800"/>
            <a:ext cx="3570826" cy="3648694"/>
          </a:xfrm>
          <a:prstGeom prst="rect">
            <a:avLst/>
          </a:prstGeom>
        </p:spPr>
      </p:pic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DD505C8C-4440-8891-4335-7479F195FE9B}"/>
              </a:ext>
            </a:extLst>
          </p:cNvPr>
          <p:cNvSpPr txBox="1">
            <a:spLocks/>
          </p:cNvSpPr>
          <p:nvPr/>
        </p:nvSpPr>
        <p:spPr bwMode="auto">
          <a:xfrm>
            <a:off x="76200" y="5040923"/>
            <a:ext cx="3179885" cy="381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3200" kern="120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800" kern="120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2400" kern="120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 kern="120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 kern="120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2000" dirty="0">
                <a:solidFill>
                  <a:schemeClr val="tx1"/>
                </a:solidFill>
              </a:rPr>
              <a:t>Adding an item to the queue</a:t>
            </a:r>
            <a:endParaRPr lang="en-IN" sz="2000" dirty="0">
              <a:solidFill>
                <a:schemeClr val="tx1"/>
              </a:solidFill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8D2458F2-71C4-CE76-8EF5-5AE810AFF67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0" y="1447800"/>
            <a:ext cx="3570826" cy="3672206"/>
          </a:xfrm>
          <a:prstGeom prst="rect">
            <a:avLst/>
          </a:prstGeom>
        </p:spPr>
      </p:pic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8E44FCA2-18E8-476F-D919-D19B19C8D711}"/>
              </a:ext>
            </a:extLst>
          </p:cNvPr>
          <p:cNvSpPr txBox="1">
            <a:spLocks/>
          </p:cNvSpPr>
          <p:nvPr/>
        </p:nvSpPr>
        <p:spPr bwMode="auto">
          <a:xfrm>
            <a:off x="4114800" y="5096494"/>
            <a:ext cx="3810000" cy="381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3200" kern="120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800" kern="120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2400" kern="120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 kern="120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 kern="120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2000" dirty="0">
                <a:solidFill>
                  <a:schemeClr val="tx1"/>
                </a:solidFill>
              </a:rPr>
              <a:t>Receiving an item from the queue</a:t>
            </a:r>
            <a:endParaRPr lang="en-IN" sz="20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612780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build="p"/>
      <p:bldP spid="10" grpId="0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145CB9-F062-3642-B47C-E148087754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Message passing</a:t>
            </a:r>
            <a:endParaRPr lang="en-IN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4405FCC-DB1D-CB07-119E-6ADAC2EAD7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611BB44-2844-7EE6-37DB-11A1F14CE6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12</a:t>
            </a:fld>
            <a:endParaRPr lang="en-US" alt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3D52D14-EA1A-5DD9-4662-521784AC2FD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905" y="1447800"/>
            <a:ext cx="4191000" cy="3146473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DE0C6F9B-10C3-E4D5-2B66-302D2CCE32D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63191" y="3200400"/>
            <a:ext cx="3886200" cy="3063081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317ACCEE-8F65-BBE8-2BE8-A3B0F60FD6F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63191" y="2007283"/>
            <a:ext cx="4647314" cy="12780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08365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BA7B4B-C11C-3E01-CBE1-F0BA909562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– Event Driven Systems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BEBF774-02F0-77DB-BC72-3CE33F7E1F6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System reacts to events</a:t>
            </a:r>
          </a:p>
          <a:p>
            <a:r>
              <a:rPr lang="en-US" dirty="0"/>
              <a:t>Event producer process must communicate with event consumer</a:t>
            </a:r>
          </a:p>
          <a:p>
            <a:r>
              <a:rPr lang="en-US" dirty="0"/>
              <a:t>Events placed in queue</a:t>
            </a:r>
          </a:p>
          <a:p>
            <a:r>
              <a:rPr lang="en-US" dirty="0"/>
              <a:t>Tasks consume events</a:t>
            </a:r>
          </a:p>
          <a:p>
            <a:endParaRPr lang="en-US" dirty="0"/>
          </a:p>
          <a:p>
            <a:r>
              <a:rPr lang="en-US" dirty="0"/>
              <a:t>Decouples producers and consumers</a:t>
            </a:r>
          </a:p>
          <a:p>
            <a:r>
              <a:rPr lang="en-US" dirty="0"/>
              <a:t>Supports asynchronous systems</a:t>
            </a:r>
            <a:endParaRPr lang="en-IN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09640A-934D-8FD7-EF81-5BB7C99402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C07CE91-C5F4-EA98-4258-CC2E65767F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13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1836663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607E2C-924A-9932-1E48-053A1C1D2D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Shared memory vs message passing</a:t>
            </a:r>
            <a:endParaRPr lang="en-IN" dirty="0"/>
          </a:p>
        </p:txBody>
      </p:sp>
      <p:graphicFrame>
        <p:nvGraphicFramePr>
          <p:cNvPr id="6" name="Content Placeholder 5">
            <a:extLst>
              <a:ext uri="{FF2B5EF4-FFF2-40B4-BE49-F238E27FC236}">
                <a16:creationId xmlns:a16="http://schemas.microsoft.com/office/drawing/2014/main" id="{777FD49B-C2BC-02DF-759D-8D236CD9EA8A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697858511"/>
              </p:ext>
            </p:extLst>
          </p:nvPr>
        </p:nvGraphicFramePr>
        <p:xfrm>
          <a:off x="152400" y="2707799"/>
          <a:ext cx="8839200" cy="2217420"/>
        </p:xfrm>
        <a:graphic>
          <a:graphicData uri="http://schemas.openxmlformats.org/drawingml/2006/table">
            <a:tbl>
              <a:tblPr/>
              <a:tblGrid>
                <a:gridCol w="1981200">
                  <a:extLst>
                    <a:ext uri="{9D8B030D-6E8A-4147-A177-3AD203B41FA5}">
                      <a16:colId xmlns:a16="http://schemas.microsoft.com/office/drawing/2014/main" val="2300731622"/>
                    </a:ext>
                  </a:extLst>
                </a:gridCol>
                <a:gridCol w="3911600">
                  <a:extLst>
                    <a:ext uri="{9D8B030D-6E8A-4147-A177-3AD203B41FA5}">
                      <a16:colId xmlns:a16="http://schemas.microsoft.com/office/drawing/2014/main" val="39064587"/>
                    </a:ext>
                  </a:extLst>
                </a:gridCol>
                <a:gridCol w="2946400">
                  <a:extLst>
                    <a:ext uri="{9D8B030D-6E8A-4147-A177-3AD203B41FA5}">
                      <a16:colId xmlns:a16="http://schemas.microsoft.com/office/drawing/2014/main" val="259375521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US" b="1" dirty="0">
                          <a:effectLst/>
                        </a:rPr>
                        <a:t>Feature</a:t>
                      </a:r>
                    </a:p>
                  </a:txBody>
                  <a:tcPr marL="47625" marR="47625" marT="47625" marB="47625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IN" b="1" dirty="0">
                          <a:effectLst/>
                        </a:rPr>
                        <a:t>Shared Memory (with Mutex) </a:t>
                      </a:r>
                    </a:p>
                  </a:txBody>
                  <a:tcPr marL="47625" marR="47625" marT="47625" marB="47625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IN" b="1" dirty="0">
                          <a:effectLst/>
                        </a:rPr>
                        <a:t>Message Passing </a:t>
                      </a:r>
                    </a:p>
                  </a:txBody>
                  <a:tcPr marL="47625" marR="47625" marT="47625" marB="47625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4207343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IN" b="1">
                          <a:effectLst/>
                        </a:rPr>
                        <a:t>Speed</a:t>
                      </a:r>
                      <a:r>
                        <a:rPr lang="en-IN">
                          <a:effectLst/>
                        </a:rPr>
                        <a:t> </a:t>
                      </a:r>
                    </a:p>
                  </a:txBody>
                  <a:tcPr marL="47625" marR="47625" marT="47625" marB="47625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IN">
                          <a:effectLst/>
                        </a:rPr>
                        <a:t>Maximum (zero-copy) </a:t>
                      </a:r>
                    </a:p>
                  </a:txBody>
                  <a:tcPr marL="47625" marR="47625" marT="47625" marB="47625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IN">
                          <a:effectLst/>
                        </a:rPr>
                        <a:t>Slower (copy overhead) </a:t>
                      </a:r>
                    </a:p>
                  </a:txBody>
                  <a:tcPr marL="47625" marR="47625" marT="47625" marB="47625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1594182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IN" b="1">
                          <a:effectLst/>
                        </a:rPr>
                        <a:t>Safety</a:t>
                      </a:r>
                      <a:r>
                        <a:rPr lang="en-IN">
                          <a:effectLst/>
                        </a:rPr>
                        <a:t> </a:t>
                      </a:r>
                    </a:p>
                  </a:txBody>
                  <a:tcPr marL="47625" marR="47625" marT="47625" marB="47625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US">
                          <a:effectLst/>
                        </a:rPr>
                        <a:t>High risk of race conditions </a:t>
                      </a:r>
                    </a:p>
                  </a:txBody>
                  <a:tcPr marL="47625" marR="47625" marT="47625" marB="47625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IN">
                          <a:effectLst/>
                        </a:rPr>
                        <a:t>Safer, encapsulated data </a:t>
                      </a:r>
                    </a:p>
                  </a:txBody>
                  <a:tcPr marL="47625" marR="47625" marT="47625" marB="47625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7650786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IN" b="1">
                          <a:effectLst/>
                        </a:rPr>
                        <a:t>Synchronization</a:t>
                      </a:r>
                      <a:r>
                        <a:rPr lang="en-IN">
                          <a:effectLst/>
                        </a:rPr>
                        <a:t> </a:t>
                      </a:r>
                    </a:p>
                  </a:txBody>
                  <a:tcPr marL="47625" marR="47625" marT="47625" marB="47625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IN">
                          <a:effectLst/>
                        </a:rPr>
                        <a:t>Explicit (Mutex/Semaphore) </a:t>
                      </a:r>
                    </a:p>
                  </a:txBody>
                  <a:tcPr marL="47625" marR="47625" marT="47625" marB="47625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IN">
                          <a:effectLst/>
                        </a:rPr>
                        <a:t>Implicit (Send/Receive) </a:t>
                      </a:r>
                    </a:p>
                  </a:txBody>
                  <a:tcPr marL="47625" marR="47625" marT="47625" marB="47625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5405523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IN" b="1">
                          <a:effectLst/>
                        </a:rPr>
                        <a:t>Topology</a:t>
                      </a:r>
                      <a:r>
                        <a:rPr lang="en-IN">
                          <a:effectLst/>
                        </a:rPr>
                        <a:t> </a:t>
                      </a:r>
                    </a:p>
                  </a:txBody>
                  <a:tcPr marL="47625" marR="47625" marT="47625" marB="47625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IN">
                          <a:effectLst/>
                        </a:rPr>
                        <a:t>Single system only </a:t>
                      </a:r>
                    </a:p>
                  </a:txBody>
                  <a:tcPr marL="47625" marR="47625" marT="47625" marB="47625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IN">
                          <a:effectLst/>
                        </a:rPr>
                        <a:t>Distributed/Multi-processor </a:t>
                      </a:r>
                    </a:p>
                  </a:txBody>
                  <a:tcPr marL="47625" marR="47625" marT="47625" marB="47625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829262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IN" b="1">
                          <a:effectLst/>
                        </a:rPr>
                        <a:t>Kernel Role</a:t>
                      </a:r>
                      <a:r>
                        <a:rPr lang="en-IN">
                          <a:effectLst/>
                        </a:rPr>
                        <a:t> </a:t>
                      </a:r>
                    </a:p>
                  </a:txBody>
                  <a:tcPr marL="47625" marR="47625" marT="47625" marB="47625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IN">
                          <a:effectLst/>
                        </a:rPr>
                        <a:t>Setup only </a:t>
                      </a:r>
                    </a:p>
                  </a:txBody>
                  <a:tcPr marL="47625" marR="47625" marT="47625" marB="47625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IN" dirty="0">
                          <a:effectLst/>
                        </a:rPr>
                        <a:t>Involved in every transfer </a:t>
                      </a:r>
                    </a:p>
                  </a:txBody>
                  <a:tcPr marL="47625" marR="47625" marT="47625" marB="47625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41337671"/>
                  </a:ext>
                </a:extLst>
              </a:tr>
            </a:tbl>
          </a:graphicData>
        </a:graphic>
      </p:graphicFrame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245A286-6A22-3FE0-2371-4ECCE08E71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F39BB72-4B65-294C-4531-0ED9EF370E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14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42726449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7871B7-34F7-2862-B5DC-FD7B62A20E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Practical guidelines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3709D2-A086-425A-6650-CB724ED8091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Keep critical sections short</a:t>
            </a:r>
          </a:p>
          <a:p>
            <a:r>
              <a:rPr lang="en-US" dirty="0"/>
              <a:t>Prefer message passing for complex systems</a:t>
            </a:r>
          </a:p>
          <a:p>
            <a:r>
              <a:rPr lang="en-US" dirty="0"/>
              <a:t>Use bounded queues</a:t>
            </a:r>
          </a:p>
          <a:p>
            <a:r>
              <a:rPr lang="en-US" dirty="0"/>
              <a:t>Avoid nested locks</a:t>
            </a:r>
          </a:p>
          <a:p>
            <a:r>
              <a:rPr lang="en-US" dirty="0"/>
              <a:t>Use priority protocols</a:t>
            </a:r>
            <a:endParaRPr lang="en-IN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778564E-8263-C394-EAD4-F6CAAA67F1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5F0C162-4B78-9979-0792-8BC54194E5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15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5939770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pptA48A.tmp</Template>
  <TotalTime>16014</TotalTime>
  <Words>348</Words>
  <Application>Microsoft Office PowerPoint</Application>
  <PresentationFormat>On-screen Show (4:3)</PresentationFormat>
  <Paragraphs>111</Paragraphs>
  <Slides>15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9" baseType="lpstr">
      <vt:lpstr>Arial</vt:lpstr>
      <vt:lpstr>Calibri</vt:lpstr>
      <vt:lpstr>Wingdings</vt:lpstr>
      <vt:lpstr>Office Theme</vt:lpstr>
      <vt:lpstr>Software for Embedded Systems</vt:lpstr>
      <vt:lpstr>Building a multitasking embedded software system</vt:lpstr>
      <vt:lpstr>Race conditions</vt:lpstr>
      <vt:lpstr>Race conditions</vt:lpstr>
      <vt:lpstr>Inconsistent system state</vt:lpstr>
      <vt:lpstr>How do we avoid these?</vt:lpstr>
      <vt:lpstr>Shared memory</vt:lpstr>
      <vt:lpstr>Mutex example</vt:lpstr>
      <vt:lpstr>Mutex example</vt:lpstr>
      <vt:lpstr>Message passing</vt:lpstr>
      <vt:lpstr>Message passing</vt:lpstr>
      <vt:lpstr>Message passing</vt:lpstr>
      <vt:lpstr>Example – Event Driven Systems</vt:lpstr>
      <vt:lpstr>Shared memory vs message passing</vt:lpstr>
      <vt:lpstr>Practical guidelines</vt:lpstr>
    </vt:vector>
  </TitlesOfParts>
  <Company>bits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Real Time Systems</dc:title>
  <dc:creator>a</dc:creator>
  <cp:lastModifiedBy>Saurabh Gandhi</cp:lastModifiedBy>
  <cp:revision>741</cp:revision>
  <dcterms:created xsi:type="dcterms:W3CDTF">2010-01-15T20:22:21Z</dcterms:created>
  <dcterms:modified xsi:type="dcterms:W3CDTF">2026-04-02T06:33:21Z</dcterms:modified>
</cp:coreProperties>
</file>