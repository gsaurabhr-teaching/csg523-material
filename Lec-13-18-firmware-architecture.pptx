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sldIdLst>
    <p:sldId id="337" r:id="rId2"/>
    <p:sldId id="354" r:id="rId3"/>
    <p:sldId id="355" r:id="rId4"/>
    <p:sldId id="356" r:id="rId5"/>
    <p:sldId id="338" r:id="rId6"/>
    <p:sldId id="339" r:id="rId7"/>
    <p:sldId id="357" r:id="rId8"/>
    <p:sldId id="358" r:id="rId9"/>
    <p:sldId id="359" r:id="rId10"/>
    <p:sldId id="360" r:id="rId11"/>
    <p:sldId id="350" r:id="rId12"/>
    <p:sldId id="361" r:id="rId13"/>
    <p:sldId id="362" r:id="rId14"/>
    <p:sldId id="363" r:id="rId15"/>
    <p:sldId id="364" r:id="rId16"/>
    <p:sldId id="366" r:id="rId17"/>
    <p:sldId id="367" r:id="rId18"/>
    <p:sldId id="369" r:id="rId19"/>
    <p:sldId id="368" r:id="rId20"/>
    <p:sldId id="371" r:id="rId21"/>
    <p:sldId id="372" r:id="rId22"/>
    <p:sldId id="373" r:id="rId23"/>
    <p:sldId id="374" r:id="rId24"/>
    <p:sldId id="381" r:id="rId25"/>
    <p:sldId id="375" r:id="rId26"/>
    <p:sldId id="376" r:id="rId27"/>
    <p:sldId id="370" r:id="rId28"/>
    <p:sldId id="377" r:id="rId29"/>
    <p:sldId id="378" r:id="rId30"/>
    <p:sldId id="379" r:id="rId31"/>
    <p:sldId id="380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3" r:id="rId44"/>
    <p:sldId id="394" r:id="rId45"/>
    <p:sldId id="396" r:id="rId46"/>
    <p:sldId id="397" r:id="rId47"/>
    <p:sldId id="398" r:id="rId48"/>
    <p:sldId id="399" r:id="rId49"/>
    <p:sldId id="400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136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module</a:t>
            </a:r>
            <a:r>
              <a:rPr lang="en-US" dirty="0"/>
              <a:t> is about </a:t>
            </a:r>
            <a:r>
              <a:rPr lang="en-US" i="1" dirty="0"/>
              <a:t>responsibility</a:t>
            </a:r>
            <a:r>
              <a:rPr lang="en-US" dirty="0"/>
              <a:t>, not files</a:t>
            </a:r>
          </a:p>
          <a:p>
            <a:r>
              <a:rPr lang="en-US" dirty="0"/>
              <a:t>An </a:t>
            </a:r>
            <a:r>
              <a:rPr lang="en-US" b="1" dirty="0"/>
              <a:t>interface</a:t>
            </a:r>
            <a:r>
              <a:rPr lang="en-US" dirty="0"/>
              <a:t> is about </a:t>
            </a:r>
            <a:r>
              <a:rPr lang="en-US" i="1" dirty="0"/>
              <a:t>permission</a:t>
            </a:r>
            <a:r>
              <a:rPr lang="en-US" dirty="0"/>
              <a:t>, not convenience</a:t>
            </a:r>
          </a:p>
          <a:p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owns </a:t>
            </a:r>
            <a:r>
              <a:rPr lang="en-US" i="1" dirty="0"/>
              <a:t>time</a:t>
            </a: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interrupt</a:t>
            </a:r>
            <a:r>
              <a:rPr lang="en-US" dirty="0"/>
              <a:t> owns </a:t>
            </a:r>
            <a:r>
              <a:rPr lang="en-US" i="1" dirty="0"/>
              <a:t>urgency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state machine</a:t>
            </a:r>
            <a:r>
              <a:rPr lang="en-US" dirty="0"/>
              <a:t> owns </a:t>
            </a:r>
            <a:r>
              <a:rPr lang="en-US" i="1" dirty="0"/>
              <a:t>legality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driver</a:t>
            </a:r>
            <a:r>
              <a:rPr lang="en-US" dirty="0"/>
              <a:t> owns </a:t>
            </a:r>
            <a:r>
              <a:rPr lang="en-US" i="1" dirty="0"/>
              <a:t>hardware access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895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google-styleguide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BC96-6B6F-455B-9267-7A9A8F7D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1298-8DB9-40F4-9213-90B2123C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5440E-C2A5-49A4-AEB3-A6D4021B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2" descr="Image of the V-model software development lifecycle">
            <a:extLst>
              <a:ext uri="{FF2B5EF4-FFF2-40B4-BE49-F238E27FC236}">
                <a16:creationId xmlns:a16="http://schemas.microsoft.com/office/drawing/2014/main" id="{271C45B4-1A09-446B-AE73-B370A426D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78" y="1446213"/>
            <a:ext cx="7434044" cy="50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36A2D3-D99D-41CD-AD1F-234CE51C6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0" y="1547814"/>
            <a:ext cx="1150188" cy="106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051A37-ACC9-4E57-82A2-4A2B45172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905000"/>
            <a:ext cx="600769" cy="5572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6FCE3B-FD51-4119-AAB5-8C6EDFBBB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590230"/>
            <a:ext cx="1150188" cy="1066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F5E200-FF0D-4719-B619-403E24A3A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863" y="2743200"/>
            <a:ext cx="600769" cy="55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9D16-4AB8-4F4F-8B63-889D2F12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UML has given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ABE0-D3E0-426A-AFFC-67234E13D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completeness of system</a:t>
            </a:r>
          </a:p>
          <a:p>
            <a:r>
              <a:rPr lang="en-US" dirty="0"/>
              <a:t>Correct behavioral flow (no missing states or transitions)</a:t>
            </a:r>
          </a:p>
          <a:p>
            <a:r>
              <a:rPr lang="en-US" dirty="0"/>
              <a:t>Explicit safety states</a:t>
            </a:r>
          </a:p>
          <a:p>
            <a:r>
              <a:rPr lang="en-US" dirty="0"/>
              <a:t>Valid and ordered interactions between components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Provided we are able to implement the system that we modeled!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0192E-39C4-4BEE-ABA5-50BDF0D8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9FBC6-28A3-43CF-AE5A-7F4D7617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79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BAB0-5F2F-46CF-A3B4-DF7109BB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UML does not decide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16DC-36A3-4868-B180-FCBF0F1FE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actual implementation</a:t>
            </a:r>
          </a:p>
          <a:p>
            <a:r>
              <a:rPr lang="en-US" dirty="0"/>
              <a:t>Relationship with the hardware</a:t>
            </a:r>
          </a:p>
          <a:p>
            <a:r>
              <a:rPr lang="en-US" dirty="0"/>
              <a:t>Where each piece of code lives</a:t>
            </a:r>
          </a:p>
          <a:p>
            <a:r>
              <a:rPr lang="en-US" dirty="0"/>
              <a:t>What part of code performs what action</a:t>
            </a:r>
          </a:p>
          <a:p>
            <a:r>
              <a:rPr lang="en-US" dirty="0"/>
              <a:t>How hardware resources are shared</a:t>
            </a:r>
          </a:p>
          <a:p>
            <a:endParaRPr lang="en-US" dirty="0"/>
          </a:p>
          <a:p>
            <a:r>
              <a:rPr lang="en-US" dirty="0"/>
              <a:t>UML models are deliberately hardware agnostic (so we can focus on behavior first)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72C3E8"/>
                </a:solidFill>
                <a:sym typeface="Wingdings" panose="05000000000000000000" pitchFamily="2" charset="2"/>
              </a:rPr>
              <a:t>What should happen?</a:t>
            </a:r>
            <a:endParaRPr lang="en-US" dirty="0">
              <a:solidFill>
                <a:srgbClr val="72C3E8"/>
              </a:solidFill>
            </a:endParaRPr>
          </a:p>
          <a:p>
            <a:r>
              <a:rPr lang="en-US" dirty="0"/>
              <a:t>But now, we need to think about implementation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72C3E8"/>
                </a:solidFill>
                <a:sym typeface="Wingdings" panose="05000000000000000000" pitchFamily="2" charset="2"/>
              </a:rPr>
              <a:t>How to make it happen?</a:t>
            </a:r>
            <a:endParaRPr lang="en-US" dirty="0">
              <a:solidFill>
                <a:srgbClr val="72C3E8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CD9F5-9400-46D1-A7C9-8921B76A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7D885-3F5E-4E96-B1E5-23C79FAC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70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9F4A-9C12-46B1-B873-F11D3F5D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BDEED-0F9F-4246-A8E8-B25CC65F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0D6F2-DFFB-48F6-A130-E7D5A2E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20CBC-7EE9-4906-820D-C0252DF89B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structure software so that the behavior we modeled </a:t>
            </a:r>
            <a:r>
              <a:rPr lang="en-US" b="1" i="1" dirty="0"/>
              <a:t>cannot be violated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238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D980-555D-4175-A410-5B3CEB30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firmware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776E-93A4-4B3D-8CE9-9A69F2F71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Firmware architecture defines:</a:t>
            </a:r>
          </a:p>
          <a:p>
            <a:pPr>
              <a:spcBef>
                <a:spcPts val="1200"/>
              </a:spcBef>
            </a:pPr>
            <a:r>
              <a:rPr lang="en-US" dirty="0"/>
              <a:t>Major software components</a:t>
            </a:r>
          </a:p>
          <a:p>
            <a:pPr>
              <a:spcBef>
                <a:spcPts val="1200"/>
              </a:spcBef>
            </a:pPr>
            <a:r>
              <a:rPr lang="en-US" dirty="0"/>
              <a:t>Their responsibilities</a:t>
            </a:r>
          </a:p>
          <a:p>
            <a:pPr>
              <a:spcBef>
                <a:spcPts val="1200"/>
              </a:spcBef>
            </a:pPr>
            <a:r>
              <a:rPr lang="en-US" dirty="0"/>
              <a:t>Allowed communication channels between components</a:t>
            </a:r>
          </a:p>
          <a:p>
            <a:pPr>
              <a:spcBef>
                <a:spcPts val="1200"/>
              </a:spcBef>
            </a:pPr>
            <a:r>
              <a:rPr lang="en-US" dirty="0"/>
              <a:t>Execution context boundaries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It tells us:</a:t>
            </a:r>
          </a:p>
          <a:p>
            <a:pPr>
              <a:spcBef>
                <a:spcPts val="1200"/>
              </a:spcBef>
            </a:pPr>
            <a:r>
              <a:rPr lang="en-US" dirty="0"/>
              <a:t>Who runs where?</a:t>
            </a:r>
          </a:p>
          <a:p>
            <a:pPr>
              <a:spcBef>
                <a:spcPts val="1200"/>
              </a:spcBef>
            </a:pPr>
            <a:r>
              <a:rPr lang="en-US" dirty="0"/>
              <a:t>Who may call whom?</a:t>
            </a:r>
          </a:p>
          <a:p>
            <a:pPr>
              <a:spcBef>
                <a:spcPts val="1200"/>
              </a:spcBef>
            </a:pPr>
            <a:r>
              <a:rPr lang="en-US" dirty="0"/>
              <a:t>Who may block whom?</a:t>
            </a:r>
          </a:p>
          <a:p>
            <a:pPr>
              <a:spcBef>
                <a:spcPts val="1200"/>
              </a:spcBef>
            </a:pPr>
            <a:r>
              <a:rPr lang="en-US" dirty="0"/>
              <a:t>Who reacts to events?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4D999-4AC5-4636-90E1-D105EA4E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11CFE-C81B-44A9-A56B-B386E000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00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979B-654E-46A8-9E7E-DABDA12A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building blocks of a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3273C-9841-492B-AE71-B0541605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BF3FB-7634-4968-9CC2-B273E4C2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3D52E29-7543-4084-BB9F-914BDAB89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77176"/>
          <a:stretch/>
        </p:blipFill>
        <p:spPr>
          <a:xfrm>
            <a:off x="651470" y="1446213"/>
            <a:ext cx="7841060" cy="1144587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F4C299F0-78C5-4E00-AC61-49A4F5ECE8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63500"/>
          <a:stretch/>
        </p:blipFill>
        <p:spPr bwMode="auto">
          <a:xfrm>
            <a:off x="651470" y="1446213"/>
            <a:ext cx="7841060" cy="18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83D86EAA-6521-4D03-9411-B42558020E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" b="48304"/>
          <a:stretch/>
        </p:blipFill>
        <p:spPr bwMode="auto">
          <a:xfrm>
            <a:off x="651470" y="1446213"/>
            <a:ext cx="7841060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7880A5F0-6B18-45E9-A236-E8E82DFFE9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" b="33109"/>
          <a:stretch/>
        </p:blipFill>
        <p:spPr bwMode="auto">
          <a:xfrm>
            <a:off x="651470" y="1446212"/>
            <a:ext cx="7841060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10">
            <a:extLst>
              <a:ext uri="{FF2B5EF4-FFF2-40B4-BE49-F238E27FC236}">
                <a16:creationId xmlns:a16="http://schemas.microsoft.com/office/drawing/2014/main" id="{C53C87E4-B8C5-474D-93B2-5C405E997F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877"/>
          <a:stretch/>
        </p:blipFill>
        <p:spPr bwMode="auto">
          <a:xfrm>
            <a:off x="651470" y="1446212"/>
            <a:ext cx="7841060" cy="426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FD5B0870-A5D9-46DD-8153-22ED885A22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1202"/>
          <a:stretch/>
        </p:blipFill>
        <p:spPr bwMode="auto">
          <a:xfrm>
            <a:off x="651470" y="1446212"/>
            <a:ext cx="7841060" cy="49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51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9524-5822-4ED8-AE0C-40685215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Are Units of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EB4BB-5C39-4BDF-AE37-6ECDE1C96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module has</a:t>
            </a:r>
          </a:p>
          <a:p>
            <a:r>
              <a:rPr lang="en-US" dirty="0"/>
              <a:t>One responsibility</a:t>
            </a:r>
          </a:p>
          <a:p>
            <a:r>
              <a:rPr lang="en-US" dirty="0"/>
              <a:t>A public interface</a:t>
            </a:r>
          </a:p>
          <a:p>
            <a:r>
              <a:rPr lang="en-US" dirty="0"/>
              <a:t>Hidden state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Motor module</a:t>
            </a:r>
          </a:p>
          <a:p>
            <a:pPr lvl="1"/>
            <a:r>
              <a:rPr lang="en-US" dirty="0"/>
              <a:t>handles motor operations</a:t>
            </a:r>
          </a:p>
          <a:p>
            <a:pPr lvl="1"/>
            <a:r>
              <a:rPr lang="en-US" dirty="0"/>
              <a:t>exposes start() and stop() on its interface</a:t>
            </a:r>
          </a:p>
          <a:p>
            <a:pPr lvl="1"/>
            <a:r>
              <a:rPr lang="en-US" dirty="0"/>
              <a:t>hides states of internal registers required for function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DF247-1ADE-4347-88F9-6EA9708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1F5D7-4131-47C2-8241-DDA77F88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57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BDDD-0F4B-4345-849E-7DB83819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 of time and urgency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7D99-735E-43F0-B416-23B372B55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Tasks:</a:t>
            </a:r>
          </a:p>
          <a:p>
            <a:r>
              <a:rPr lang="en-US" dirty="0"/>
              <a:t>Own execution flow</a:t>
            </a:r>
          </a:p>
          <a:p>
            <a:r>
              <a:rPr lang="en-US" dirty="0"/>
              <a:t>Run independently</a:t>
            </a:r>
          </a:p>
          <a:p>
            <a:pPr marL="0" indent="0">
              <a:buNone/>
            </a:pPr>
            <a:r>
              <a:rPr lang="en-US" dirty="0"/>
              <a:t>Interrupts:</a:t>
            </a:r>
          </a:p>
          <a:p>
            <a:r>
              <a:rPr lang="en-US" dirty="0"/>
              <a:t>Preempt tasks</a:t>
            </a:r>
          </a:p>
          <a:p>
            <a:r>
              <a:rPr lang="en-US" dirty="0"/>
              <a:t>Detect emergencies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Therapy task controls infusion</a:t>
            </a:r>
          </a:p>
          <a:p>
            <a:r>
              <a:rPr lang="en-US" dirty="0"/>
              <a:t>Pressure interrupt detects occlusion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29B11-CE7B-4C7B-957E-38AB3B95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99D56-6986-44B8-AFD8-E9B4AFAD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248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A674-8A50-461A-9635-58A32963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decides vs who executes?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6982-E064-42F3-9B40-B49FAC189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machine decides what (action) is allowed</a:t>
            </a:r>
          </a:p>
          <a:p>
            <a:r>
              <a:rPr lang="en-US" dirty="0"/>
              <a:t>Driver executes the action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State machine enters ‘alarm’ state</a:t>
            </a:r>
          </a:p>
          <a:p>
            <a:r>
              <a:rPr lang="en-US" dirty="0"/>
              <a:t>Motor driver stops motor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46CFD-199C-4991-8CD2-810C2BB9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D4D50-A42B-4945-B0B2-9E3D0988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40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E0E56-2D91-49A5-9E4A-113ECE3D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Architecture: How do we arrange these blocks?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944C5-5846-47A4-BFB2-AD9C258A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ACF54-639E-4F97-80E8-BE248A68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59EA9-1988-4C14-B276-D80258B792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8305800" cy="3124200"/>
          </a:xfrm>
        </p:spPr>
        <p:txBody>
          <a:bodyPr/>
          <a:lstStyle/>
          <a:p>
            <a:r>
              <a:rPr lang="en-US" dirty="0"/>
              <a:t>So that behavior is realized?</a:t>
            </a:r>
          </a:p>
          <a:p>
            <a:r>
              <a:rPr lang="en-US" dirty="0"/>
              <a:t>Which module decides? Executes?</a:t>
            </a:r>
          </a:p>
          <a:p>
            <a:r>
              <a:rPr lang="en-US" dirty="0"/>
              <a:t>Who can override whom?</a:t>
            </a:r>
          </a:p>
          <a:p>
            <a:r>
              <a:rPr lang="en-US" dirty="0"/>
              <a:t>A critical concern: shared resources</a:t>
            </a:r>
          </a:p>
          <a:p>
            <a:pPr marL="0" indent="0">
              <a:buNone/>
            </a:pPr>
            <a:r>
              <a:rPr lang="en-US" dirty="0">
                <a:solidFill>
                  <a:srgbClr val="72C3E8"/>
                </a:solidFill>
              </a:rPr>
              <a:t>Where do we start building our actual software?</a:t>
            </a:r>
          </a:p>
        </p:txBody>
      </p:sp>
    </p:spTree>
    <p:extLst>
      <p:ext uri="{BB962C8B-B14F-4D97-AF65-F5344CB8AC3E}">
        <p14:creationId xmlns:p14="http://schemas.microsoft.com/office/powerpoint/2010/main" val="329614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4ED2-B862-4D1C-A2E3-C55FD7B2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diagrams!</a:t>
            </a:r>
            <a:br>
              <a:rPr lang="en-US" dirty="0"/>
            </a:br>
            <a:r>
              <a:rPr lang="en-US" dirty="0"/>
              <a:t>Creating system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AFB3-B345-4EED-AC60-23B90ECE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Why make more diagrams?</a:t>
            </a:r>
          </a:p>
          <a:p>
            <a:r>
              <a:rPr lang="en-US" dirty="0"/>
              <a:t>Identify shared resources</a:t>
            </a:r>
          </a:p>
          <a:p>
            <a:r>
              <a:rPr lang="en-US" dirty="0"/>
              <a:t>Find difficult code components</a:t>
            </a:r>
          </a:p>
          <a:p>
            <a:r>
              <a:rPr lang="en-US" dirty="0"/>
              <a:t>How to balance complexity, flexibility, ease of implementation?</a:t>
            </a:r>
          </a:p>
          <a:p>
            <a:r>
              <a:rPr lang="en-US" dirty="0"/>
              <a:t>Delegate development tasks within teams</a:t>
            </a:r>
          </a:p>
          <a:p>
            <a:r>
              <a:rPr lang="en-US" dirty="0"/>
              <a:t>Reduce interdependencies between modules</a:t>
            </a:r>
          </a:p>
          <a:p>
            <a:r>
              <a:rPr lang="en-US" dirty="0"/>
              <a:t>Protect modules from each other</a:t>
            </a:r>
          </a:p>
          <a:p>
            <a:r>
              <a:rPr lang="en-US" dirty="0"/>
              <a:t>Identify interfaces</a:t>
            </a:r>
          </a:p>
          <a:p>
            <a:r>
              <a:rPr lang="en-US" dirty="0"/>
              <a:t>Define precise tests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074C5-2E4F-4530-BB12-10CF1BA2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AD034-75C9-45C7-8CC2-72301749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64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759F-43E2-4128-8996-F5982718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1: block diagrams</a:t>
            </a:r>
            <a:br>
              <a:rPr lang="en-US" dirty="0"/>
            </a:br>
            <a:r>
              <a:rPr lang="en-US" dirty="0"/>
              <a:t>What exists in the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2090-457E-407E-AFE2-CD32B36FD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446211"/>
            <a:ext cx="5772931" cy="50149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Start with the physical objects in your system – the microcontroller and peripherals</a:t>
            </a:r>
          </a:p>
          <a:p>
            <a:r>
              <a:rPr lang="en-US" dirty="0"/>
              <a:t>How do you talk to these?</a:t>
            </a:r>
          </a:p>
          <a:p>
            <a:pPr lvl="1"/>
            <a:r>
              <a:rPr lang="en-US" dirty="0"/>
              <a:t>Communication goes inside the processor box (part of software)</a:t>
            </a:r>
          </a:p>
          <a:p>
            <a:r>
              <a:rPr lang="en-US" dirty="0"/>
              <a:t>How do you control the peripheral?</a:t>
            </a:r>
          </a:p>
          <a:p>
            <a:pPr lvl="1"/>
            <a:r>
              <a:rPr lang="en-US" dirty="0"/>
              <a:t>Add another box, a driver</a:t>
            </a:r>
          </a:p>
          <a:p>
            <a:r>
              <a:rPr lang="en-US" dirty="0"/>
              <a:t>What are you using the peripheral for?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860BE-B1B7-493C-8DEA-536776BA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0FF6A-0997-45C5-AB3A-A491C3FA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4F212-A91B-4B4A-9E1F-0A0AAA7786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056"/>
          <a:stretch/>
        </p:blipFill>
        <p:spPr>
          <a:xfrm>
            <a:off x="5925331" y="914401"/>
            <a:ext cx="3210560" cy="1572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C5872-FBF1-4BD1-88D5-70AC2D19E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188"/>
          <a:stretch/>
        </p:blipFill>
        <p:spPr>
          <a:xfrm>
            <a:off x="5925331" y="914401"/>
            <a:ext cx="3210560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78881-AB11-4E2F-8C54-913B13B0A7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936488" y="914400"/>
            <a:ext cx="3210560" cy="4038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E75BB4-4C3E-44C6-A180-2B07968A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536" y="5063735"/>
            <a:ext cx="3052066" cy="142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5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8965-FFBD-4836-99DC-E7B18E99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1: block diagrams</a:t>
            </a:r>
            <a:br>
              <a:rPr lang="en-US" dirty="0"/>
            </a:br>
            <a:r>
              <a:rPr lang="en-US" dirty="0"/>
              <a:t>What exists in the system?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0DA5BC-FC29-40AC-808D-905662781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99" y="1472060"/>
            <a:ext cx="8792802" cy="496321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7FFAE-EAA7-4826-AC7F-5BDFB495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1292E-0FFE-470D-B74E-CF7333AA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151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7C40-EA7D-4F79-91A6-10A189FA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2: Hierarchy of Control</a:t>
            </a:r>
            <a:br>
              <a:rPr lang="en-US" dirty="0"/>
            </a:br>
            <a:r>
              <a:rPr lang="en-US" dirty="0"/>
              <a:t>Who controls whom?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58B437-EB72-4177-BE4D-F2362D378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77" t="3070" r="2077" b="87813"/>
          <a:stretch/>
        </p:blipFill>
        <p:spPr>
          <a:xfrm>
            <a:off x="1132332" y="1505329"/>
            <a:ext cx="5486400" cy="4572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D8E5D-B8A9-4E06-9F26-2781BB82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0E2EB-1C2D-4A00-B80A-DF40A782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C76C6D29-66BF-4CAB-8B63-27935B0E74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7" t="3070" r="2077" b="68059"/>
          <a:stretch/>
        </p:blipFill>
        <p:spPr bwMode="auto">
          <a:xfrm>
            <a:off x="1132332" y="1505329"/>
            <a:ext cx="5486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0DEBE898-4270-4EDA-BDAB-4F9A2339C6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7" t="3070" r="2077" b="55903"/>
          <a:stretch/>
        </p:blipFill>
        <p:spPr bwMode="auto">
          <a:xfrm>
            <a:off x="1132332" y="1505329"/>
            <a:ext cx="5486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AF820C05-69F5-44E4-8F24-814BAD23D5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7" t="3069" r="2077" b="36150"/>
          <a:stretch/>
        </p:blipFill>
        <p:spPr bwMode="auto">
          <a:xfrm>
            <a:off x="1132332" y="1505329"/>
            <a:ext cx="5486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BAFB3E27-C4F2-49F0-BF16-121005BA6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86" t="29" r="746" b="-318"/>
          <a:stretch/>
        </p:blipFill>
        <p:spPr bwMode="auto">
          <a:xfrm>
            <a:off x="979932" y="1352929"/>
            <a:ext cx="5715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D85582-107B-48A8-A930-40CA7024D8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932" y="1352928"/>
            <a:ext cx="7184136" cy="514274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9392A87-E4AD-43B4-84DA-844EF923B597}"/>
              </a:ext>
            </a:extLst>
          </p:cNvPr>
          <p:cNvGrpSpPr/>
          <p:nvPr/>
        </p:nvGrpSpPr>
        <p:grpSpPr>
          <a:xfrm>
            <a:off x="2362200" y="4096897"/>
            <a:ext cx="3594654" cy="1922903"/>
            <a:chOff x="2959608" y="4366419"/>
            <a:chExt cx="3594654" cy="192290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C86703-647F-4484-9868-342280C98F3A}"/>
                </a:ext>
              </a:extLst>
            </p:cNvPr>
            <p:cNvSpPr/>
            <p:nvPr/>
          </p:nvSpPr>
          <p:spPr>
            <a:xfrm>
              <a:off x="2959608" y="4366419"/>
              <a:ext cx="1600200" cy="14478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8AC67B-2EEC-4AE7-903D-C92B7286F92A}"/>
                </a:ext>
              </a:extLst>
            </p:cNvPr>
            <p:cNvSpPr txBox="1"/>
            <p:nvPr/>
          </p:nvSpPr>
          <p:spPr>
            <a:xfrm>
              <a:off x="4343400" y="5642991"/>
              <a:ext cx="22108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Sharing resources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Be careful!!!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014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3A2A-FA67-4829-BA2E-38565BFB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7696200" cy="1195386"/>
          </a:xfrm>
        </p:spPr>
        <p:txBody>
          <a:bodyPr/>
          <a:lstStyle/>
          <a:p>
            <a:r>
              <a:rPr lang="en-US" dirty="0"/>
              <a:t>View 3: the layered view</a:t>
            </a:r>
            <a:br>
              <a:rPr lang="en-US" dirty="0"/>
            </a:br>
            <a:r>
              <a:rPr lang="en-US" dirty="0"/>
              <a:t>Size and relationship between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F7E1-F1D7-4597-8F28-DC4976F7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419599"/>
            <a:ext cx="8839200" cy="2041523"/>
          </a:xfrm>
        </p:spPr>
        <p:txBody>
          <a:bodyPr/>
          <a:lstStyle/>
          <a:p>
            <a:r>
              <a:rPr lang="en-US" dirty="0"/>
              <a:t>Start at the bottom with peripherals (not shown)</a:t>
            </a:r>
          </a:p>
          <a:p>
            <a:r>
              <a:rPr lang="en-US" dirty="0"/>
              <a:t>Move up while adding blocks as layers</a:t>
            </a:r>
          </a:p>
          <a:p>
            <a:pPr lvl="1"/>
            <a:r>
              <a:rPr lang="en-US" dirty="0"/>
              <a:t>Size proportional to complexity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E7931-2833-4B7B-A767-AAABDDE5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FBA94-B59A-4343-A0B9-CF62DEC0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F182E-8A15-4961-B5C2-802ECD07F3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9" t="8766" r="1919" b="17257"/>
          <a:stretch/>
        </p:blipFill>
        <p:spPr>
          <a:xfrm>
            <a:off x="85344" y="1524000"/>
            <a:ext cx="8973312" cy="261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46BA-E9CF-41F5-AE81-C17A7106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system diagrams:</a:t>
            </a:r>
            <a:br>
              <a:rPr lang="en-US" dirty="0"/>
            </a:br>
            <a:r>
              <a:rPr lang="en-US" dirty="0"/>
              <a:t>Simplifying the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1B59-AF91-494F-B0B5-D1BD56DC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D5B08-33D8-4A37-87D1-F6226620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AFA09-72D8-4019-9607-EF5BECDF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141" y="1343249"/>
            <a:ext cx="2378419" cy="2038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65A514-0AD8-4A21-B659-65BEEB64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270" t="3327" r="2270" b="9252"/>
          <a:stretch/>
        </p:blipFill>
        <p:spPr>
          <a:xfrm>
            <a:off x="6207588" y="3429000"/>
            <a:ext cx="2905932" cy="190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8ECA51-42BE-4CB0-8B50-A6ED12FFCA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9" t="8766" r="1919" b="17257"/>
          <a:stretch/>
        </p:blipFill>
        <p:spPr>
          <a:xfrm>
            <a:off x="5152502" y="5411789"/>
            <a:ext cx="3961018" cy="11522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E1A953E-1FFA-41E7-B0A4-58E1D7373C80}"/>
              </a:ext>
            </a:extLst>
          </p:cNvPr>
          <p:cNvSpPr/>
          <p:nvPr/>
        </p:nvSpPr>
        <p:spPr>
          <a:xfrm>
            <a:off x="6781800" y="4724400"/>
            <a:ext cx="6096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614921-871C-409B-952D-27CE7DCB7E43}"/>
              </a:ext>
            </a:extLst>
          </p:cNvPr>
          <p:cNvSpPr/>
          <p:nvPr/>
        </p:nvSpPr>
        <p:spPr>
          <a:xfrm>
            <a:off x="7968996" y="4416552"/>
            <a:ext cx="609600" cy="612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C7F4BD-0CF2-4AB7-A92A-118D420ECAB6}"/>
              </a:ext>
            </a:extLst>
          </p:cNvPr>
          <p:cNvSpPr/>
          <p:nvPr/>
        </p:nvSpPr>
        <p:spPr>
          <a:xfrm>
            <a:off x="7709916" y="5903976"/>
            <a:ext cx="609600" cy="612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849B0C-BE1D-4C98-9CF6-8D8B87F433BE}"/>
              </a:ext>
            </a:extLst>
          </p:cNvPr>
          <p:cNvSpPr/>
          <p:nvPr/>
        </p:nvSpPr>
        <p:spPr>
          <a:xfrm>
            <a:off x="5542194" y="5917533"/>
            <a:ext cx="1544406" cy="40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F35C6F-6DA5-4498-B054-87C8BEBB9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" y="1446211"/>
            <a:ext cx="6066065" cy="5014912"/>
          </a:xfrm>
        </p:spPr>
        <p:txBody>
          <a:bodyPr/>
          <a:lstStyle/>
          <a:p>
            <a:r>
              <a:rPr lang="en-US" sz="2400" dirty="0"/>
              <a:t>Difficult code components – boxes that are very different across views!</a:t>
            </a:r>
          </a:p>
          <a:p>
            <a:r>
              <a:rPr lang="en-US" sz="2400" dirty="0"/>
              <a:t>Resource sharing: what peripherals can we keep independent?</a:t>
            </a:r>
          </a:p>
          <a:p>
            <a:r>
              <a:rPr lang="en-US" sz="2400" dirty="0"/>
              <a:t>Can any boxes be combined?</a:t>
            </a:r>
          </a:p>
          <a:p>
            <a:pPr lvl="1"/>
            <a:r>
              <a:rPr lang="en-US" sz="2000" dirty="0"/>
              <a:t>In hierarchy: objects used by only one other object</a:t>
            </a:r>
          </a:p>
          <a:p>
            <a:pPr lvl="1"/>
            <a:r>
              <a:rPr lang="en-US" sz="2000" dirty="0"/>
              <a:t>In layers: objects in a layer that are always used together (shared connections above and below)</a:t>
            </a:r>
          </a:p>
          <a:p>
            <a:r>
              <a:rPr lang="en-US" sz="2400" dirty="0"/>
              <a:t>What boxes need splitting?</a:t>
            </a:r>
          </a:p>
          <a:p>
            <a:pPr lvl="1"/>
            <a:r>
              <a:rPr lang="en-US" sz="2000" dirty="0"/>
              <a:t>Several modules that touch the same</a:t>
            </a:r>
            <a:br>
              <a:rPr lang="en-US" sz="2000" dirty="0"/>
            </a:br>
            <a:r>
              <a:rPr lang="en-US" sz="2000" dirty="0"/>
              <a:t>lower module: can we break it up?</a:t>
            </a:r>
          </a:p>
          <a:p>
            <a:pPr lvl="1"/>
            <a:r>
              <a:rPr lang="en-US" sz="2000" dirty="0"/>
              <a:t>For example: logging can use flash only</a:t>
            </a:r>
            <a:br>
              <a:rPr lang="en-US" sz="2000" dirty="0"/>
            </a:br>
            <a:r>
              <a:rPr lang="en-US" sz="2000" dirty="0"/>
              <a:t>at the start to read serial no, and never again!</a:t>
            </a:r>
          </a:p>
        </p:txBody>
      </p:sp>
    </p:spTree>
    <p:extLst>
      <p:ext uri="{BB962C8B-B14F-4D97-AF65-F5344CB8AC3E}">
        <p14:creationId xmlns:p14="http://schemas.microsoft.com/office/powerpoint/2010/main" val="387372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8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46BA-E9CF-41F5-AE81-C17A7106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system diagrams:</a:t>
            </a:r>
            <a:br>
              <a:rPr lang="en-US" dirty="0"/>
            </a:br>
            <a:r>
              <a:rPr lang="en-US" dirty="0"/>
              <a:t>Delegation of tasks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1B59-AF91-494F-B0B5-D1BD56DC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D5B08-33D8-4A37-87D1-F6226620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AFA09-72D8-4019-9607-EF5BECDF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141" y="1343249"/>
            <a:ext cx="2378419" cy="2038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65A514-0AD8-4A21-B659-65BEEB64CA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270" t="3327" r="2270" b="9252"/>
          <a:stretch/>
        </p:blipFill>
        <p:spPr>
          <a:xfrm>
            <a:off x="6207588" y="3429000"/>
            <a:ext cx="2905932" cy="190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8ECA51-42BE-4CB0-8B50-A6ED12FFCA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9" t="8766" r="1919" b="17257"/>
          <a:stretch/>
        </p:blipFill>
        <p:spPr>
          <a:xfrm>
            <a:off x="5152502" y="5411789"/>
            <a:ext cx="3961018" cy="115229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F35C6F-6DA5-4498-B054-87C8BEBB9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" y="1371600"/>
            <a:ext cx="6066065" cy="5014912"/>
          </a:xfrm>
        </p:spPr>
        <p:txBody>
          <a:bodyPr/>
          <a:lstStyle/>
          <a:p>
            <a:r>
              <a:rPr lang="en-US" sz="2000" dirty="0"/>
              <a:t>How would you split tasks within the team?</a:t>
            </a:r>
          </a:p>
          <a:p>
            <a:pPr lvl="1"/>
            <a:r>
              <a:rPr lang="en-US" sz="1600" dirty="0"/>
              <a:t>Assign entire blocks / groups of blocks</a:t>
            </a:r>
          </a:p>
          <a:p>
            <a:pPr lvl="1"/>
            <a:r>
              <a:rPr lang="en-US" sz="1600" dirty="0"/>
              <a:t>Assign hierarchy branches</a:t>
            </a:r>
          </a:p>
          <a:p>
            <a:r>
              <a:rPr lang="en-US" sz="2000" dirty="0"/>
              <a:t>Reduce interdependencies</a:t>
            </a:r>
          </a:p>
          <a:p>
            <a:pPr lvl="1"/>
            <a:r>
              <a:rPr lang="en-US" sz="1600" dirty="0"/>
              <a:t>How interdependent are the tasks of different team members?</a:t>
            </a:r>
          </a:p>
          <a:p>
            <a:pPr lvl="1"/>
            <a:r>
              <a:rPr lang="en-US" sz="1600" dirty="0"/>
              <a:t>Too much interdependency </a:t>
            </a:r>
            <a:r>
              <a:rPr lang="en-US" sz="1600" dirty="0">
                <a:sym typeface="Wingdings" panose="05000000000000000000" pitchFamily="2" charset="2"/>
              </a:rPr>
              <a:t> complex, buggy, fragile software</a:t>
            </a:r>
          </a:p>
          <a:p>
            <a:r>
              <a:rPr lang="en-US" sz="2000" dirty="0">
                <a:sym typeface="Wingdings" panose="05000000000000000000" pitchFamily="2" charset="2"/>
              </a:rPr>
              <a:t>Identify interfaces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Scope for delegation  scope for splitting + interface</a:t>
            </a:r>
          </a:p>
          <a:p>
            <a:r>
              <a:rPr lang="en-US" sz="2000" dirty="0">
                <a:sym typeface="Wingdings" panose="05000000000000000000" pitchFamily="2" charset="2"/>
              </a:rPr>
              <a:t>Protection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Think of your module can be protected from mistakes by other modules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Will adding a box to your group reduce data sharing?</a:t>
            </a:r>
          </a:p>
          <a:p>
            <a:r>
              <a:rPr lang="en-US" sz="2000" dirty="0">
                <a:sym typeface="Wingdings" panose="05000000000000000000" pitchFamily="2" charset="2"/>
              </a:rPr>
              <a:t>Testing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Define inputs, outputs and function of each module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Define tests to confirm this behavior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377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70E0-83B8-4261-B2C0-72521E6C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Encapsulating modules and building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54497-8AF4-4345-BCF7-968C3EBF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465824" cy="50149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2C3E8"/>
                </a:solidFill>
              </a:rPr>
              <a:t>Making interfaces between modules that do not depend specifically on what is inside the modules</a:t>
            </a:r>
          </a:p>
          <a:p>
            <a:r>
              <a:rPr lang="en-US" dirty="0"/>
              <a:t>POSIX / Unix driver standard</a:t>
            </a:r>
          </a:p>
          <a:p>
            <a:pPr lvl="1"/>
            <a:r>
              <a:rPr lang="en-US" dirty="0"/>
              <a:t>open() and close(): initialize and clean up</a:t>
            </a:r>
          </a:p>
          <a:p>
            <a:pPr marL="457200" lvl="1" indent="0">
              <a:buNone/>
            </a:pPr>
            <a:r>
              <a:rPr lang="en-US" dirty="0"/>
              <a:t>	open() is often replaced by </a:t>
            </a:r>
            <a:r>
              <a:rPr lang="en-US" dirty="0" err="1"/>
              <a:t>init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read() and write(): move data</a:t>
            </a:r>
          </a:p>
          <a:p>
            <a:pPr lvl="1"/>
            <a:r>
              <a:rPr lang="en-US" dirty="0" err="1"/>
              <a:t>ioctl</a:t>
            </a:r>
            <a:r>
              <a:rPr lang="en-US" dirty="0"/>
              <a:t>(): handle device-specific features</a:t>
            </a:r>
          </a:p>
          <a:p>
            <a:r>
              <a:rPr lang="en-US" dirty="0"/>
              <a:t>Convert ungainly hardware interfaces into consistent software APIs for higher level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FDBCD-6154-423B-8859-741232D6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51327-CFBB-4E8C-8F16-E3721230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CC69F-CD5A-4C13-A7B4-0609B56C1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744" y="1446211"/>
            <a:ext cx="3391664" cy="361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6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52E1-BC02-4622-BFD9-E668CF99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interface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C472C-4EA2-4FE5-A494-38A242183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spi.open</a:t>
            </a:r>
            <a:r>
              <a:rPr lang="en-US" dirty="0"/>
              <a:t>()</a:t>
            </a:r>
          </a:p>
          <a:p>
            <a:r>
              <a:rPr lang="en-US" dirty="0" err="1"/>
              <a:t>spi_open</a:t>
            </a:r>
            <a:r>
              <a:rPr lang="en-US" dirty="0"/>
              <a:t>()</a:t>
            </a:r>
          </a:p>
          <a:p>
            <a:r>
              <a:rPr lang="en-US" dirty="0" err="1"/>
              <a:t>SpiOpen</a:t>
            </a:r>
            <a:r>
              <a:rPr lang="en-US" dirty="0"/>
              <a:t>(WITH_LOCK)</a:t>
            </a:r>
          </a:p>
          <a:p>
            <a:r>
              <a:rPr lang="en-US" dirty="0" err="1"/>
              <a:t>spi.ioctl_change_frequency</a:t>
            </a:r>
            <a:r>
              <a:rPr lang="en-US" dirty="0"/>
              <a:t>(</a:t>
            </a:r>
            <a:r>
              <a:rPr lang="en-US" dirty="0" err="1"/>
              <a:t>THIRTY_MHz</a:t>
            </a:r>
            <a:r>
              <a:rPr lang="en-US" dirty="0"/>
              <a:t>)</a:t>
            </a:r>
          </a:p>
          <a:p>
            <a:r>
              <a:rPr lang="en-US" dirty="0" err="1"/>
              <a:t>SpiIoctl</a:t>
            </a:r>
            <a:r>
              <a:rPr lang="en-US" dirty="0"/>
              <a:t>(</a:t>
            </a:r>
            <a:r>
              <a:rPr lang="en-US" dirty="0" err="1"/>
              <a:t>kChangeFrequency</a:t>
            </a:r>
            <a:r>
              <a:rPr lang="en-US" dirty="0"/>
              <a:t>, </a:t>
            </a:r>
            <a:r>
              <a:rPr lang="en-US" dirty="0" err="1"/>
              <a:t>THIRTY_MHz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are a few representative coding styles. BUT they are very important (save time debugging by following a consistent style). See </a:t>
            </a:r>
            <a:r>
              <a:rPr lang="en-US" dirty="0">
                <a:hlinkClick r:id="rId2"/>
              </a:rPr>
              <a:t>Google’s suggestions.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092CD-9940-42B6-A154-CB2D0535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9E19C-7280-4CAE-BE44-2A8E30E5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20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8329-E9F1-4704-9E04-B2D93ACA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Drivers can (and should) be stackable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2502B3-2275-47E2-B7CA-680497DC7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2331" y="1418779"/>
            <a:ext cx="3620605" cy="50149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7669-3FDA-4FEA-9461-AF4E2D18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F8FB6-06B4-4A7C-AD76-19D8284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4CD53B-B0F6-44CE-AF36-B7C249B82D11}"/>
              </a:ext>
            </a:extLst>
          </p:cNvPr>
          <p:cNvSpPr txBox="1">
            <a:spLocks/>
          </p:cNvSpPr>
          <p:nvPr/>
        </p:nvSpPr>
        <p:spPr bwMode="auto">
          <a:xfrm>
            <a:off x="152399" y="1446211"/>
            <a:ext cx="5239931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Each interface offered by a lower layer contains:</a:t>
            </a:r>
          </a:p>
          <a:p>
            <a:r>
              <a:rPr lang="en-US" dirty="0" err="1"/>
              <a:t>init</a:t>
            </a:r>
            <a:r>
              <a:rPr lang="en-US" dirty="0"/>
              <a:t>() or open(), close(), read(), write()</a:t>
            </a:r>
          </a:p>
          <a:p>
            <a:r>
              <a:rPr lang="en-US" dirty="0"/>
              <a:t>Or equivalently, </a:t>
            </a:r>
            <a:r>
              <a:rPr lang="en-US" dirty="0" err="1"/>
              <a:t>get_image_data</a:t>
            </a:r>
            <a:r>
              <a:rPr lang="en-US" dirty="0"/>
              <a:t>() etc.</a:t>
            </a:r>
          </a:p>
          <a:p>
            <a:r>
              <a:rPr lang="en-US" b="1" dirty="0"/>
              <a:t>test()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should a good </a:t>
            </a:r>
            <a:r>
              <a:rPr lang="en-US" i="1" dirty="0" err="1"/>
              <a:t>init</a:t>
            </a:r>
            <a:r>
              <a:rPr lang="en-US" i="1" dirty="0"/>
              <a:t>()</a:t>
            </a:r>
            <a:r>
              <a:rPr lang="en-US" dirty="0"/>
              <a:t> be like / do?</a:t>
            </a:r>
          </a:p>
          <a:p>
            <a:r>
              <a:rPr lang="en-US" dirty="0"/>
              <a:t>Initialize all modules below it in the hierarchy</a:t>
            </a:r>
          </a:p>
          <a:p>
            <a:r>
              <a:rPr lang="en-US" dirty="0"/>
              <a:t>OK to be called multiple times</a:t>
            </a:r>
          </a:p>
          <a:p>
            <a:r>
              <a:rPr lang="en-US" dirty="0"/>
              <a:t>Resets system to a known state in case of partial failure</a:t>
            </a:r>
          </a:p>
        </p:txBody>
      </p:sp>
    </p:spTree>
    <p:extLst>
      <p:ext uri="{BB962C8B-B14F-4D97-AF65-F5344CB8AC3E}">
        <p14:creationId xmlns:p14="http://schemas.microsoft.com/office/powerpoint/2010/main" val="12768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751C-871B-4448-B966-1FE5195C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Model-View-Controller (MVC)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EAB79-75AB-47E4-8AFB-46113EE21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/>
              <a:t>Purpose: isolate the algorithm (the gooey center of the application) from the UI for independent development and testing</a:t>
            </a:r>
          </a:p>
          <a:p>
            <a:r>
              <a:rPr lang="en-US" sz="2500" dirty="0"/>
              <a:t>View: interface to the user (or other hardware), including input from sensors or output to actuators</a:t>
            </a:r>
          </a:p>
          <a:p>
            <a:r>
              <a:rPr lang="en-US" sz="2500" dirty="0"/>
              <a:t>Model: domain-specific data and logic</a:t>
            </a:r>
          </a:p>
          <a:p>
            <a:r>
              <a:rPr lang="en-US" sz="2500" dirty="0"/>
              <a:t>Controller: glue between Model and View</a:t>
            </a:r>
          </a:p>
          <a:p>
            <a:pPr lvl="1"/>
            <a:r>
              <a:rPr lang="en-US" sz="2100" dirty="0"/>
              <a:t>Handles how to get the inputs to the model for processing and outputs from the model for display / communication</a:t>
            </a:r>
          </a:p>
          <a:p>
            <a:pPr marL="0" indent="0">
              <a:buNone/>
            </a:pPr>
            <a:r>
              <a:rPr lang="en-US" sz="2500" dirty="0"/>
              <a:t>Why?</a:t>
            </a:r>
          </a:p>
          <a:p>
            <a:r>
              <a:rPr lang="en-US" sz="2500" dirty="0"/>
              <a:t>Replace views with virtual / file-based inputs and outputs</a:t>
            </a:r>
          </a:p>
          <a:p>
            <a:r>
              <a:rPr lang="en-US" sz="2500" dirty="0"/>
              <a:t>Test the core (model) under a variety of conditions</a:t>
            </a:r>
          </a:p>
          <a:p>
            <a:r>
              <a:rPr lang="en-US" sz="2500" dirty="0"/>
              <a:t>Portability – application core is independent of externals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9707-944C-421E-8421-85448B88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17A7D-4955-4640-A7BB-93941BB5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3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C8E0-77E1-4549-8E57-C94EE679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in your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1EDC-08AD-4077-8A18-1D652B0CC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6211"/>
            <a:ext cx="9144000" cy="5014912"/>
          </a:xfrm>
        </p:spPr>
        <p:txBody>
          <a:bodyPr/>
          <a:lstStyle/>
          <a:p>
            <a:r>
              <a:rPr lang="en-US" sz="2400" dirty="0"/>
              <a:t>View is the UART (interface to the user)</a:t>
            </a:r>
          </a:p>
          <a:p>
            <a:r>
              <a:rPr lang="en-US" sz="2400" dirty="0"/>
              <a:t>Controller: a small module that you will write to supply UART inputs to the core logic and extract logic outputs over UART to your PC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A948-3D66-4D3D-8A49-94D32421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83720-9613-4976-B95F-9D455AEC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68DAFD-A14E-4715-B289-2D6360C80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95600"/>
            <a:ext cx="8198780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E26EF6-8C34-474D-9E86-14B8E174C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355" y="4724400"/>
            <a:ext cx="7239381" cy="1122482"/>
          </a:xfrm>
          <a:prstGeom prst="rect">
            <a:avLst/>
          </a:prstGeom>
        </p:spPr>
      </p:pic>
      <p:sp>
        <p:nvSpPr>
          <p:cNvPr id="10" name="Arrow: Bent-Up 9">
            <a:extLst>
              <a:ext uri="{FF2B5EF4-FFF2-40B4-BE49-F238E27FC236}">
                <a16:creationId xmlns:a16="http://schemas.microsoft.com/office/drawing/2014/main" id="{91F1E4DB-0C51-40FA-BBA8-90E29E4A0FC2}"/>
              </a:ext>
            </a:extLst>
          </p:cNvPr>
          <p:cNvSpPr/>
          <p:nvPr/>
        </p:nvSpPr>
        <p:spPr>
          <a:xfrm rot="5400000">
            <a:off x="686943" y="4218686"/>
            <a:ext cx="850392" cy="731520"/>
          </a:xfrm>
          <a:prstGeom prst="bent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3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BAAD-F9BD-40DA-8E0D-D6719878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your code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C5826-832E-4DA5-BA23-B8A02115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4114A-2FEB-4AAF-9C91-2C2C2A52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4F1AF-A082-479E-BD7E-0DD884284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23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61E22F8D-4B4D-4D74-BCE6-F3A9BA2F5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58875"/>
          <a:stretch/>
        </p:blipFill>
        <p:spPr bwMode="auto">
          <a:xfrm>
            <a:off x="176784" y="1908591"/>
            <a:ext cx="8839200" cy="164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D135F828-9547-46D2-B3F8-9BF31F32C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27335"/>
          <a:stretch/>
        </p:blipFill>
        <p:spPr bwMode="auto">
          <a:xfrm>
            <a:off x="152400" y="1902496"/>
            <a:ext cx="8839200" cy="28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5A673820-B16E-48E8-938D-B8720ADD5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3233"/>
          <a:stretch/>
        </p:blipFill>
        <p:spPr bwMode="auto">
          <a:xfrm>
            <a:off x="176784" y="1902496"/>
            <a:ext cx="8839200" cy="4117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5CA19D-CB9F-421A-9F7A-F5449892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many ways to blink an LED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65DC40-4AC0-4D08-A612-9590942DD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7103" b="89900"/>
          <a:stretch/>
        </p:blipFill>
        <p:spPr>
          <a:xfrm>
            <a:off x="170688" y="1908592"/>
            <a:ext cx="3791712" cy="40283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B2B8-35BC-483D-9AF9-2288804C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08A46-63CC-45A9-A39B-AE0D3B48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F17FD713-3275-4629-8D35-2E203C65D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54" r="50276" b="75099"/>
          <a:stretch/>
        </p:blipFill>
        <p:spPr bwMode="auto">
          <a:xfrm>
            <a:off x="176784" y="2311422"/>
            <a:ext cx="4395216" cy="584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CC0AD16-6AB2-44D9-93A6-349A3AFB84AD}"/>
              </a:ext>
            </a:extLst>
          </p:cNvPr>
          <p:cNvSpPr txBox="1"/>
          <p:nvPr/>
        </p:nvSpPr>
        <p:spPr>
          <a:xfrm>
            <a:off x="4038600" y="5239434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A3F26"/>
                </a:solidFill>
              </a:rPr>
              <a:t>Read – Modify – Write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A3F26"/>
                </a:solidFill>
              </a:rPr>
              <a:t>Must be atomic, i.e. complete as a single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A3F26"/>
                </a:solidFill>
              </a:rPr>
              <a:t>Otherwise: unintended consequences!</a:t>
            </a:r>
          </a:p>
        </p:txBody>
      </p:sp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5A3DF5B2-D1EE-4BF0-A2FB-B930BD6C10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45" b="89686"/>
          <a:stretch/>
        </p:blipFill>
        <p:spPr bwMode="auto">
          <a:xfrm>
            <a:off x="3276600" y="1904809"/>
            <a:ext cx="5715000" cy="411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Content Placeholder 6">
            <a:extLst>
              <a:ext uri="{FF2B5EF4-FFF2-40B4-BE49-F238E27FC236}">
                <a16:creationId xmlns:a16="http://schemas.microsoft.com/office/drawing/2014/main" id="{1C4FF83A-C28A-41A0-A0CA-FC51934CC0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38" t="465" b="76431"/>
          <a:stretch/>
        </p:blipFill>
        <p:spPr bwMode="auto">
          <a:xfrm>
            <a:off x="4672584" y="1923366"/>
            <a:ext cx="4319016" cy="921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D806B76-D015-4771-AE35-2EB33A6F17C2}"/>
              </a:ext>
            </a:extLst>
          </p:cNvPr>
          <p:cNvGrpSpPr/>
          <p:nvPr/>
        </p:nvGrpSpPr>
        <p:grpSpPr>
          <a:xfrm>
            <a:off x="5715000" y="2362200"/>
            <a:ext cx="3252216" cy="2667000"/>
            <a:chOff x="5715000" y="2362200"/>
            <a:chExt cx="3252216" cy="2667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B36A35-9394-4045-B4AD-283E95AB7A32}"/>
                </a:ext>
              </a:extLst>
            </p:cNvPr>
            <p:cNvSpPr/>
            <p:nvPr/>
          </p:nvSpPr>
          <p:spPr>
            <a:xfrm>
              <a:off x="5715000" y="2362200"/>
              <a:ext cx="3252216" cy="533400"/>
            </a:xfrm>
            <a:prstGeom prst="ellipse">
              <a:avLst/>
            </a:prstGeom>
            <a:noFill/>
            <a:ln>
              <a:solidFill>
                <a:srgbClr val="EA3F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99F936-9461-46AE-B813-85EDCF203B6E}"/>
                </a:ext>
              </a:extLst>
            </p:cNvPr>
            <p:cNvCxnSpPr>
              <a:stCxn id="13" idx="4"/>
            </p:cNvCxnSpPr>
            <p:nvPr/>
          </p:nvCxnSpPr>
          <p:spPr>
            <a:xfrm flipH="1">
              <a:off x="7315200" y="2895600"/>
              <a:ext cx="25908" cy="2133600"/>
            </a:xfrm>
            <a:prstGeom prst="straightConnector1">
              <a:avLst/>
            </a:prstGeom>
            <a:ln w="28575">
              <a:solidFill>
                <a:srgbClr val="EA3F26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450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BDDA-1801-4090-9813-F56FEC554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553200" cy="1195386"/>
          </a:xfrm>
        </p:spPr>
        <p:txBody>
          <a:bodyPr/>
          <a:lstStyle/>
          <a:p>
            <a:r>
              <a:rPr lang="en-US" dirty="0"/>
              <a:t>The many ways to blink an LED! Separating hardware from 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F35809-6A6E-4C52-A4C0-95751A297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91228"/>
          <a:stretch/>
        </p:blipFill>
        <p:spPr>
          <a:xfrm>
            <a:off x="75851" y="1752600"/>
            <a:ext cx="8992298" cy="3810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7498-BE59-4BD0-8C20-7ADEC2E1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F2FFB-B80B-4A70-A44E-8BD79961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6E768695-FBC3-4A59-8F6C-7AB3CA50F1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 b="56140"/>
          <a:stretch/>
        </p:blipFill>
        <p:spPr bwMode="auto">
          <a:xfrm>
            <a:off x="75851" y="1752600"/>
            <a:ext cx="4496149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E258FAC3-086C-4EDC-B963-8B333F81E4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140"/>
          <a:stretch/>
        </p:blipFill>
        <p:spPr bwMode="auto">
          <a:xfrm>
            <a:off x="75851" y="1752600"/>
            <a:ext cx="899229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42802742-8454-416B-9145-2D3C4BF495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5614"/>
          <a:stretch/>
        </p:blipFill>
        <p:spPr bwMode="auto">
          <a:xfrm>
            <a:off x="152400" y="1752600"/>
            <a:ext cx="8992298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5493C6F9-01C4-4CD2-86BE-7730CF91D2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40" r="61863" b="-1"/>
          <a:stretch/>
        </p:blipFill>
        <p:spPr bwMode="auto">
          <a:xfrm>
            <a:off x="75851" y="4190998"/>
            <a:ext cx="3429349" cy="190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1C85F5AE-3B4F-4D91-9107-6E0BBF277E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39" t="56140" r="-3" b="-1"/>
          <a:stretch/>
        </p:blipFill>
        <p:spPr bwMode="auto">
          <a:xfrm>
            <a:off x="3505200" y="4190997"/>
            <a:ext cx="5562948" cy="190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27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5828-B82B-44E1-A9B1-0AC83E3F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934200" cy="1195386"/>
          </a:xfrm>
        </p:spPr>
        <p:txBody>
          <a:bodyPr/>
          <a:lstStyle/>
          <a:p>
            <a:r>
              <a:rPr lang="en-US" dirty="0"/>
              <a:t>The many ways to blink an LED! Separating hardware from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88B2-3B2E-4F6C-A817-E26E54A1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Board-specific header files and version reuse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F6088-9C95-4574-AB7D-62D692727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67A67-80D3-4FAF-A68C-EAC1126E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15B54-BCFF-4023-82CD-F057AADC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202852"/>
            <a:ext cx="6660157" cy="2064347"/>
          </a:xfrm>
          <a:prstGeom prst="rect">
            <a:avLst/>
          </a:prstGeo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868618D4-8F5A-4B3E-809C-6C8A82FBF4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087" t="80702" r="-3" b="-1"/>
          <a:stretch/>
        </p:blipFill>
        <p:spPr bwMode="auto">
          <a:xfrm>
            <a:off x="3161466" y="4635895"/>
            <a:ext cx="550767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48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314C-970B-440B-869C-F611F519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many ways to blink an LED</a:t>
            </a:r>
            <a:br>
              <a:rPr lang="en-US" dirty="0"/>
            </a:br>
            <a:r>
              <a:rPr lang="en-US" dirty="0"/>
              <a:t>I/O handling code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13F63B8-6CCE-4232-A80D-5BBA6B9F0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4787"/>
          <a:stretch/>
        </p:blipFill>
        <p:spPr>
          <a:xfrm>
            <a:off x="114300" y="1685226"/>
            <a:ext cx="8915400" cy="105797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13DAC-0318-4A47-B03F-90E3796E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9C1E6-B711-4B68-BC68-5853FA5D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18BEDDC3-15B4-4762-80F6-8627CE0811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" b="-1484"/>
          <a:stretch/>
        </p:blipFill>
        <p:spPr bwMode="auto">
          <a:xfrm>
            <a:off x="111252" y="1685224"/>
            <a:ext cx="8915400" cy="425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C2BC368-341C-4EDA-B492-327D795583A3}"/>
              </a:ext>
            </a:extLst>
          </p:cNvPr>
          <p:cNvSpPr txBox="1">
            <a:spLocks/>
          </p:cNvSpPr>
          <p:nvPr/>
        </p:nvSpPr>
        <p:spPr bwMode="auto">
          <a:xfrm>
            <a:off x="5833872" y="1565718"/>
            <a:ext cx="3195828" cy="129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IOWrite</a:t>
            </a:r>
            <a:r>
              <a:rPr lang="en-US" sz="1800" dirty="0"/>
              <a:t>: does everything in one function, so less code space</a:t>
            </a:r>
          </a:p>
          <a:p>
            <a:r>
              <a:rPr lang="en-US" sz="1800" dirty="0"/>
              <a:t>More parameters </a:t>
            </a:r>
            <a:r>
              <a:rPr lang="en-US" sz="1800" dirty="0">
                <a:sym typeface="Wingdings" panose="05000000000000000000" pitchFamily="2" charset="2"/>
              </a:rPr>
              <a:t> more stack</a:t>
            </a:r>
          </a:p>
        </p:txBody>
      </p:sp>
    </p:spTree>
    <p:extLst>
      <p:ext uri="{BB962C8B-B14F-4D97-AF65-F5344CB8AC3E}">
        <p14:creationId xmlns:p14="http://schemas.microsoft.com/office/powerpoint/2010/main" val="324633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16EB-2FA1-43D0-98C5-8CAA83E3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8839200" cy="1195386"/>
          </a:xfrm>
        </p:spPr>
        <p:txBody>
          <a:bodyPr/>
          <a:lstStyle/>
          <a:p>
            <a:r>
              <a:rPr lang="en-US" dirty="0"/>
              <a:t>The many ways to blink an LED</a:t>
            </a:r>
            <a:br>
              <a:rPr lang="en-US" dirty="0"/>
            </a:br>
            <a:r>
              <a:rPr lang="en-US" dirty="0"/>
              <a:t>Simplifying the main interface (façade)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8F41D0-C729-46E4-BE6F-F335E49C5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2258"/>
          <a:stretch/>
        </p:blipFill>
        <p:spPr>
          <a:xfrm>
            <a:off x="0" y="1546111"/>
            <a:ext cx="9144000" cy="10446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A825-586A-4667-A60C-12AC3A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4F6BC-E6F6-419B-B242-A726F252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98F45FE-8CCA-4B3C-B08D-0E2FCB936D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70"/>
          <a:stretch/>
        </p:blipFill>
        <p:spPr bwMode="auto">
          <a:xfrm>
            <a:off x="0" y="1546110"/>
            <a:ext cx="9144000" cy="184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59D4EE9B-D516-4830-8FCC-DBA0C8506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4"/>
          <a:stretch/>
        </p:blipFill>
        <p:spPr bwMode="auto">
          <a:xfrm>
            <a:off x="0" y="1575428"/>
            <a:ext cx="9144000" cy="37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92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C1DB-3E97-4779-BE4C-B80A5D33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3</a:t>
            </a:r>
            <a:r>
              <a:rPr lang="en-US" baseline="30000" dirty="0"/>
              <a:t>rd</a:t>
            </a:r>
            <a:r>
              <a:rPr lang="en-US" dirty="0"/>
              <a:t> party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5E16-1485-4B8E-B590-2808AC12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 BME280 sensor from Bosch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A287D-772B-40E9-987E-731B5389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B950E-6EC6-43A0-98C8-7AC598CD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DCE70-653E-45DE-A27B-3B3657940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48" y="2197846"/>
            <a:ext cx="6477904" cy="40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47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8972-C25F-4A5B-AB4F-4CC7316F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BME280 sensor API:</a:t>
            </a:r>
            <a:br>
              <a:rPr lang="en-US" dirty="0"/>
            </a:br>
            <a:r>
              <a:rPr lang="en-US" dirty="0"/>
              <a:t>bme280_defs.h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F8D9-8787-4EC5-8299-0443B9B7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91E9D-0487-45A1-B57B-64E94DA6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8BF8F-1BB4-4966-8041-2EEF158B7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76692"/>
            <a:ext cx="3657600" cy="2780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309847-3109-4BD6-B629-2F69084D4AB1}"/>
              </a:ext>
            </a:extLst>
          </p:cNvPr>
          <p:cNvSpPr txBox="1"/>
          <p:nvPr/>
        </p:nvSpPr>
        <p:spPr>
          <a:xfrm>
            <a:off x="266700" y="4410920"/>
            <a:ext cx="312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Register definitions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3682BA-8FCD-45E9-9355-A64013DF7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3314050"/>
            <a:ext cx="5658709" cy="30395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0495E9-0192-43C2-A3C9-B07D101ACFB5}"/>
              </a:ext>
            </a:extLst>
          </p:cNvPr>
          <p:cNvSpPr txBox="1"/>
          <p:nvPr/>
        </p:nvSpPr>
        <p:spPr>
          <a:xfrm>
            <a:off x="4658154" y="2866863"/>
            <a:ext cx="312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Utility functions / macros</a:t>
            </a:r>
          </a:p>
        </p:txBody>
      </p:sp>
    </p:spTree>
    <p:extLst>
      <p:ext uri="{BB962C8B-B14F-4D97-AF65-F5344CB8AC3E}">
        <p14:creationId xmlns:p14="http://schemas.microsoft.com/office/powerpoint/2010/main" val="277127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8972-C25F-4A5B-AB4F-4CC7316F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BME280 sensor API:</a:t>
            </a:r>
            <a:br>
              <a:rPr lang="en-US" dirty="0"/>
            </a:br>
            <a:r>
              <a:rPr lang="en-US" dirty="0"/>
              <a:t>bme280.h / bme280.c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F8D9-8787-4EC5-8299-0443B9B7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91E9D-0487-45A1-B57B-64E94DA6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8BF8F-1BB4-4966-8041-2EEF158B7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" y="1441686"/>
            <a:ext cx="6003174" cy="2969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309847-3109-4BD6-B629-2F69084D4AB1}"/>
              </a:ext>
            </a:extLst>
          </p:cNvPr>
          <p:cNvSpPr txBox="1"/>
          <p:nvPr/>
        </p:nvSpPr>
        <p:spPr>
          <a:xfrm>
            <a:off x="-36576" y="4465961"/>
            <a:ext cx="3107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Useful functions to manipulate the sensor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495E9-0192-43C2-A3C9-B07D101ACFB5}"/>
              </a:ext>
            </a:extLst>
          </p:cNvPr>
          <p:cNvSpPr txBox="1"/>
          <p:nvPr/>
        </p:nvSpPr>
        <p:spPr>
          <a:xfrm>
            <a:off x="4495800" y="2532587"/>
            <a:ext cx="35142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do you talk to the device?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53159-8EAE-4C7E-83A7-8FDF59E54200}"/>
              </a:ext>
            </a:extLst>
          </p:cNvPr>
          <p:cNvSpPr txBox="1"/>
          <p:nvPr/>
        </p:nvSpPr>
        <p:spPr>
          <a:xfrm>
            <a:off x="152399" y="5138066"/>
            <a:ext cx="46588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bme280_get_sensor_settings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bme280_set_sensor_mode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bme280_soft_reset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bme280_get_sensor_data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85616-FDC1-41E5-8272-8F082B02D8A2}"/>
              </a:ext>
            </a:extLst>
          </p:cNvPr>
          <p:cNvSpPr txBox="1"/>
          <p:nvPr/>
        </p:nvSpPr>
        <p:spPr>
          <a:xfrm>
            <a:off x="4340353" y="3075335"/>
            <a:ext cx="4800599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Suppose we want to use I2C, supported by the peripheral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I2C is processor specific (project specific)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Application code is project specific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Sandwiched in between is the project agnostic third party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2C3E8"/>
                </a:solidFill>
              </a:rPr>
              <a:t>How do we cleanly integrate it?</a:t>
            </a:r>
          </a:p>
        </p:txBody>
      </p:sp>
    </p:spTree>
    <p:extLst>
      <p:ext uri="{BB962C8B-B14F-4D97-AF65-F5344CB8AC3E}">
        <p14:creationId xmlns:p14="http://schemas.microsoft.com/office/powerpoint/2010/main" val="25189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0" grpId="0"/>
      <p:bldP spid="1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BCAA-6F3E-4001-A0F1-58AED114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third party libraries:</a:t>
            </a:r>
            <a:br>
              <a:rPr lang="en-US" dirty="0"/>
            </a:br>
            <a:r>
              <a:rPr lang="en-US" dirty="0"/>
              <a:t>the glue for sandwich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46088B-BE10-484D-9A1C-4B1E1A0CB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795764"/>
            <a:ext cx="7842504" cy="16576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69D96-E92B-465D-8D5F-842AF3D6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09B9D-2D78-4A61-89B9-65CF9912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505C2-1948-4FD9-89E1-DF606E14ADD6}"/>
              </a:ext>
            </a:extLst>
          </p:cNvPr>
          <p:cNvSpPr txBox="1"/>
          <p:nvPr/>
        </p:nvSpPr>
        <p:spPr>
          <a:xfrm>
            <a:off x="0" y="1441821"/>
            <a:ext cx="891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2C3E8"/>
                </a:solidFill>
              </a:rPr>
              <a:t>1. </a:t>
            </a:r>
            <a:r>
              <a:rPr lang="en-US" sz="2000" dirty="0" err="1">
                <a:solidFill>
                  <a:srgbClr val="72C3E8"/>
                </a:solidFill>
              </a:rPr>
              <a:t>bme</a:t>
            </a:r>
            <a:r>
              <a:rPr lang="en-US" sz="2000" dirty="0">
                <a:solidFill>
                  <a:srgbClr val="72C3E8"/>
                </a:solidFill>
              </a:rPr>
              <a:t> library internally defines a </a:t>
            </a:r>
            <a:r>
              <a:rPr lang="en-US" sz="2000" dirty="0" err="1">
                <a:solidFill>
                  <a:srgbClr val="72C3E8"/>
                </a:solidFill>
              </a:rPr>
              <a:t>set_regs</a:t>
            </a:r>
            <a:r>
              <a:rPr lang="en-US" sz="2000" dirty="0">
                <a:solidFill>
                  <a:srgbClr val="72C3E8"/>
                </a:solidFill>
              </a:rPr>
              <a:t>() function to set register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A669F1-73AC-43BA-809E-B6213A8FCF4A}"/>
              </a:ext>
            </a:extLst>
          </p:cNvPr>
          <p:cNvSpPr txBox="1"/>
          <p:nvPr/>
        </p:nvSpPr>
        <p:spPr>
          <a:xfrm>
            <a:off x="0" y="3505200"/>
            <a:ext cx="891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2C3E8"/>
                </a:solidFill>
              </a:rPr>
              <a:t>2. </a:t>
            </a:r>
            <a:r>
              <a:rPr lang="en-US" sz="2000" dirty="0" err="1">
                <a:solidFill>
                  <a:srgbClr val="72C3E8"/>
                </a:solidFill>
              </a:rPr>
              <a:t>set_regs</a:t>
            </a:r>
            <a:r>
              <a:rPr lang="en-US" sz="2000" dirty="0">
                <a:solidFill>
                  <a:srgbClr val="72C3E8"/>
                </a:solidFill>
              </a:rPr>
              <a:t> uses a user-defined </a:t>
            </a:r>
            <a:r>
              <a:rPr lang="en-US" sz="2000" dirty="0" err="1">
                <a:solidFill>
                  <a:srgbClr val="72C3E8"/>
                </a:solidFill>
              </a:rPr>
              <a:t>dev.write</a:t>
            </a:r>
            <a:r>
              <a:rPr lang="en-US" sz="2000" dirty="0">
                <a:solidFill>
                  <a:srgbClr val="72C3E8"/>
                </a:solidFill>
              </a:rPr>
              <a:t> (or dev-&gt;write)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E34986-C770-44EA-892C-79ECE5AD7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943289"/>
            <a:ext cx="6416608" cy="214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7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BCAA-6F3E-4001-A0F1-58AED114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third party libraries:</a:t>
            </a:r>
            <a:br>
              <a:rPr lang="en-US" dirty="0"/>
            </a:br>
            <a:r>
              <a:rPr lang="en-US" dirty="0"/>
              <a:t>the glue for sandwich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69D96-E92B-465D-8D5F-842AF3D6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09B9D-2D78-4A61-89B9-65CF9912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505C2-1948-4FD9-89E1-DF606E14ADD6}"/>
              </a:ext>
            </a:extLst>
          </p:cNvPr>
          <p:cNvSpPr txBox="1"/>
          <p:nvPr/>
        </p:nvSpPr>
        <p:spPr>
          <a:xfrm>
            <a:off x="0" y="1441821"/>
            <a:ext cx="906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2C3E8"/>
                </a:solidFill>
              </a:rPr>
              <a:t>3. Library will provide a struct / class through which this write function pointer is used by the library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C7516E-F88A-49E2-81DF-00288259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98195"/>
            <a:ext cx="3785869" cy="4510187"/>
          </a:xfrm>
          <a:prstGeom prst="rect">
            <a:avLst/>
          </a:prstGeom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A2469CD8-32F1-4A7C-A7FB-47B793D08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8824" y="2342167"/>
            <a:ext cx="7842504" cy="165762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E6CD14-2181-4492-A3E7-9AB783903F54}"/>
              </a:ext>
            </a:extLst>
          </p:cNvPr>
          <p:cNvSpPr txBox="1"/>
          <p:nvPr/>
        </p:nvSpPr>
        <p:spPr>
          <a:xfrm>
            <a:off x="1905000" y="3999787"/>
            <a:ext cx="7239000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2C3E8"/>
                </a:solidFill>
              </a:rPr>
              <a:t>4. Your code (sensor </a:t>
            </a:r>
            <a:r>
              <a:rPr lang="en-US" sz="2000" dirty="0" err="1">
                <a:solidFill>
                  <a:srgbClr val="72C3E8"/>
                </a:solidFill>
              </a:rPr>
              <a:t>init</a:t>
            </a:r>
            <a:r>
              <a:rPr lang="en-US" sz="2000" dirty="0">
                <a:solidFill>
                  <a:srgbClr val="72C3E8"/>
                </a:solidFill>
              </a:rPr>
              <a:t> module): define the i2c write function; then initialize the </a:t>
            </a:r>
            <a:r>
              <a:rPr lang="en-US" sz="2000" dirty="0" err="1">
                <a:solidFill>
                  <a:srgbClr val="72C3E8"/>
                </a:solidFill>
              </a:rPr>
              <a:t>bme</a:t>
            </a:r>
            <a:r>
              <a:rPr lang="en-US" sz="2000" dirty="0">
                <a:solidFill>
                  <a:srgbClr val="72C3E8"/>
                </a:solidFill>
              </a:rPr>
              <a:t> device with pointer to your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83F31B-499D-4912-8BC4-CDD4C780E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869" y="4672563"/>
            <a:ext cx="6858000" cy="980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75EAAB-6563-4337-AEB5-091BF8CE1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092" y="6160231"/>
            <a:ext cx="2694833" cy="6977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460E62-E747-41BC-8E9D-E3ED3A7C4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980" y="5652644"/>
            <a:ext cx="1930479" cy="9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9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233316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DBBD-7815-4F90-8740-2769965C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the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FDBF-39F5-41B9-94E9-87F94477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 layer is the main (gooey) logic of your system; but within the app layer:</a:t>
            </a:r>
          </a:p>
          <a:p>
            <a:r>
              <a:rPr lang="en-US" dirty="0"/>
              <a:t>Is there a single controller that decides what to do next?</a:t>
            </a:r>
          </a:p>
          <a:p>
            <a:r>
              <a:rPr lang="en-US" dirty="0"/>
              <a:t>Are there multiple controllers?</a:t>
            </a:r>
          </a:p>
          <a:p>
            <a:r>
              <a:rPr lang="en-US" dirty="0"/>
              <a:t>Who receives events from the lower layers?</a:t>
            </a:r>
          </a:p>
          <a:p>
            <a:r>
              <a:rPr lang="en-US" dirty="0"/>
              <a:t>Who decides the mode or ‘state’?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DA3D6-CF4F-44B5-A015-FA8A179C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0C85B-39D3-4CAC-AFCE-04BB6E16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43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468F-25C2-4CAC-9987-DE189BF8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I: Monolithic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141B-042C-4406-B6ED-8E5B5D77A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central state machine that handles all state transitions and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5ED3C-AF8F-4D05-A6DE-44E40EA1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32ACE-58A5-4406-862B-7A0A696B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711-127B-4157-AF46-371842D8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1752600" cy="3527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EC9AE-0B61-49C7-8A77-1F440510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38400"/>
            <a:ext cx="4038600" cy="286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51DD68-A85B-4172-883C-D391CE573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818475"/>
            <a:ext cx="4038600" cy="3583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B26B9D-B287-4400-AA50-DD2785828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923" y="3429000"/>
            <a:ext cx="2798157" cy="1530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2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2BC5-ED82-45AF-98D8-BD4D91F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II: Coordinated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AD11B-EEBD-4F2C-B90B-CBA80FA8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Separate state machines control therapy, alarm and UI</a:t>
            </a:r>
          </a:p>
          <a:p>
            <a:r>
              <a:rPr lang="en-US" sz="2400" dirty="0"/>
              <a:t>Coordination via defined interfaces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22A42-6844-4CCF-BBA1-1D79F0A2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871F3-1A09-4CC2-8985-0C6E81AC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2BBA2-6B52-471D-947D-C659A789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3459193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BA3B1D-0D03-47DF-B117-EAC30870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25313"/>
            <a:ext cx="3581400" cy="2032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34F7E5-5E17-4CA3-B7C8-956E64CF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2895600" cy="19213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E243BA-02C8-4253-A33D-E4D2E3F73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924" y="4075461"/>
            <a:ext cx="305795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4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5BBD-20FC-4A42-8589-EF018D7E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III: Event dispatcher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E822-1124-4F9F-98B4-4ED1070C7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central dispatcher receives events</a:t>
            </a:r>
          </a:p>
          <a:p>
            <a:r>
              <a:rPr lang="en-US" sz="2400" dirty="0"/>
              <a:t>Separate controllers subscribe to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3D13E-ACCD-43A5-9007-17B879D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4A240-8AA9-42B5-8214-D6ECED31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49AEB-5DE4-44ED-B36F-F3FF698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0"/>
            <a:ext cx="3503449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B9CFE5-8A71-4FD4-98E9-B1EF1CEF1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68" y="2286000"/>
            <a:ext cx="3873083" cy="4258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F0001-114D-4571-9FCC-43D475845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099" y="3429000"/>
            <a:ext cx="4124901" cy="1352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F157D-41B3-47AD-AE6C-24D824882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996" y="4865260"/>
            <a:ext cx="2896004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0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4CFDEB-D860-495E-92C1-68DF7ABF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3" y="1368322"/>
            <a:ext cx="8985395" cy="3432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1EA9F-374D-4869-9151-7A70469B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ownership at application level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46B5EC-541D-4406-80C2-69AA0C431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83941"/>
              </p:ext>
            </p:extLst>
          </p:nvPr>
        </p:nvGraphicFramePr>
        <p:xfrm>
          <a:off x="152400" y="2523680"/>
          <a:ext cx="6096000" cy="319313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8748677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9972853"/>
                    </a:ext>
                  </a:extLst>
                </a:gridCol>
              </a:tblGrid>
              <a:tr h="63826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Owned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6004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Start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623076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Occlusion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Alarm Manager (may notify Therapy)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38237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Timer 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226560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Low 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Alarm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366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B0DD-3FAE-4D3F-8E21-7EB22244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47277-7852-4306-8684-26084DFF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F03B6-3B99-4E1E-89DC-AFD8834B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22" y="4890232"/>
            <a:ext cx="2872146" cy="183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3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2980-995A-4B11-AEDE-27165ECD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application level patterns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6F2883-E492-429F-8299-B27E3B5F0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334499"/>
              </p:ext>
            </p:extLst>
          </p:nvPr>
        </p:nvGraphicFramePr>
        <p:xfrm>
          <a:off x="-12192" y="1502366"/>
          <a:ext cx="7007352" cy="2347504"/>
        </p:xfrm>
        <a:graphic>
          <a:graphicData uri="http://schemas.openxmlformats.org/drawingml/2006/table">
            <a:tbl>
              <a:tblPr/>
              <a:tblGrid>
                <a:gridCol w="2335784">
                  <a:extLst>
                    <a:ext uri="{9D8B030D-6E8A-4147-A177-3AD203B41FA5}">
                      <a16:colId xmlns:a16="http://schemas.microsoft.com/office/drawing/2014/main" val="2058590319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440336953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781431631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Weakness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8423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Becomes large, mixed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688604"/>
                  </a:ext>
                </a:extLst>
              </a:tr>
              <a:tr h="789214">
                <a:tc>
                  <a:txBody>
                    <a:bodyPr/>
                    <a:lstStyle/>
                    <a:p>
                      <a:r>
                        <a:rPr lang="en-US"/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Ordering &amp; coupling must be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94306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Modular &amp;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control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31363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9600-D0A9-40B1-A3BC-3D8C4B98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38C47-A017-470F-8557-75F5CE8C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C7765-B1CD-46AA-ACDA-3F1DD1F8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8355"/>
              </p:ext>
            </p:extLst>
          </p:nvPr>
        </p:nvGraphicFramePr>
        <p:xfrm>
          <a:off x="1524000" y="3977094"/>
          <a:ext cx="7620000" cy="257932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68540720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9746032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74184330"/>
                    </a:ext>
                  </a:extLst>
                </a:gridCol>
              </a:tblGrid>
              <a:tr h="40826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783854"/>
                  </a:ext>
                </a:extLst>
              </a:tr>
              <a:tr h="714457">
                <a:tc>
                  <a:txBody>
                    <a:bodyPr/>
                    <a:lstStyle/>
                    <a:p>
                      <a:r>
                        <a:rPr lang="en-US"/>
                        <a:t>Who knows whom?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each 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only 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242618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Direct function calls?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99702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Explicit, directional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Indirect, via event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322514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Compile-time dependency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74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14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C114-0AFB-4C38-B91B-5C479ECA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108C-556F-4BAA-98CF-9759F8F74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Control flow is explicit.</a:t>
            </a:r>
          </a:p>
          <a:p>
            <a:r>
              <a:rPr lang="en-US" dirty="0"/>
              <a:t>You can trace calls statically.</a:t>
            </a:r>
          </a:p>
          <a:p>
            <a:r>
              <a:rPr lang="en-US" dirty="0"/>
              <a:t>Easier to reason locally.</a:t>
            </a:r>
          </a:p>
          <a:p>
            <a:r>
              <a:rPr lang="en-US" dirty="0"/>
              <a:t>Harder to scale globally.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31A8E-401B-436A-9646-7D2BCD015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Control flow is indirect.</a:t>
            </a:r>
          </a:p>
          <a:p>
            <a:r>
              <a:rPr lang="en-US" dirty="0"/>
              <a:t>Requires mental model of event routing.</a:t>
            </a:r>
          </a:p>
          <a:p>
            <a:r>
              <a:rPr lang="en-US" dirty="0"/>
              <a:t>Scales better.</a:t>
            </a:r>
          </a:p>
          <a:p>
            <a:r>
              <a:rPr lang="en-US" dirty="0"/>
              <a:t>Harder to trace.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CF816-06E1-423F-B4EE-7B204CBB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62CD-3B9F-4118-A993-418E27DF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051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194B-BBFC-4FF4-86FC-526CBA6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Ease of adding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63E8-8424-468B-BFBB-6736D502F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Every new controller may require:</a:t>
            </a:r>
          </a:p>
          <a:p>
            <a:pPr lvl="1"/>
            <a:r>
              <a:rPr lang="en-US" dirty="0"/>
              <a:t>new direct calls</a:t>
            </a:r>
          </a:p>
          <a:p>
            <a:pPr lvl="1"/>
            <a:r>
              <a:rPr lang="en-US" dirty="0"/>
              <a:t>updated dependencies</a:t>
            </a:r>
          </a:p>
          <a:p>
            <a:pPr lvl="1"/>
            <a:r>
              <a:rPr lang="en-US" dirty="0"/>
              <a:t>careful ordering</a:t>
            </a:r>
          </a:p>
          <a:p>
            <a:r>
              <a:rPr lang="en-US" dirty="0"/>
              <a:t>The dependency graph grows quadratically.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004B-EC70-4BC3-94DB-92C7D7A59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 Pattern</a:t>
            </a:r>
          </a:p>
          <a:p>
            <a:r>
              <a:rPr lang="en-US" dirty="0"/>
              <a:t>New module:</a:t>
            </a:r>
          </a:p>
          <a:p>
            <a:pPr lvl="1"/>
            <a:r>
              <a:rPr lang="en-US" dirty="0"/>
              <a:t>subscribes to events</a:t>
            </a:r>
          </a:p>
          <a:p>
            <a:pPr lvl="1"/>
            <a:r>
              <a:rPr lang="en-US" dirty="0"/>
              <a:t>no other controller modified</a:t>
            </a:r>
          </a:p>
          <a:p>
            <a:r>
              <a:rPr lang="en-US" dirty="0"/>
              <a:t>The dependency graph remains star-shaped.</a:t>
            </a:r>
          </a:p>
          <a:p>
            <a:r>
              <a:rPr lang="en-US" dirty="0"/>
              <a:t>That’s the scaling advantage.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022C-3FA9-469B-A3E5-A1199FEE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8E159-FAD3-4F92-913F-C745DD2C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BFF589-E76D-45F2-979E-C8E3DBAF51C5}"/>
              </a:ext>
            </a:extLst>
          </p:cNvPr>
          <p:cNvSpPr txBox="1">
            <a:spLocks/>
          </p:cNvSpPr>
          <p:nvPr/>
        </p:nvSpPr>
        <p:spPr bwMode="auto">
          <a:xfrm>
            <a:off x="24384" y="1371601"/>
            <a:ext cx="904341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want to add logging, safety monitor, UI refresh</a:t>
            </a:r>
          </a:p>
        </p:txBody>
      </p:sp>
    </p:spTree>
    <p:extLst>
      <p:ext uri="{BB962C8B-B14F-4D97-AF65-F5344CB8AC3E}">
        <p14:creationId xmlns:p14="http://schemas.microsoft.com/office/powerpoint/2010/main" val="194543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A05-5EAE-4E3E-8B73-B9672727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distinctions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B083-2277-4497-A306-E6A6C7CB2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Small system</a:t>
            </a:r>
          </a:p>
          <a:p>
            <a:r>
              <a:rPr lang="en-US" dirty="0"/>
              <a:t>Safety-critical clarity needed</a:t>
            </a:r>
          </a:p>
          <a:p>
            <a:r>
              <a:rPr lang="en-US" dirty="0"/>
              <a:t>Explicit authority required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CA36D-D7A8-4E40-9573-EF920E1B2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Large system</a:t>
            </a:r>
          </a:p>
          <a:p>
            <a:r>
              <a:rPr lang="en-US" dirty="0"/>
              <a:t>Many loosely coupled modules</a:t>
            </a:r>
          </a:p>
          <a:p>
            <a:r>
              <a:rPr lang="en-US" dirty="0"/>
              <a:t>Plugin-style extensibility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B747A-994D-4B46-9502-1871350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F840B-D707-4CD8-9786-AE347F38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272A0F41-7E64-4EB4-A027-C7E84E032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667698"/>
              </p:ext>
            </p:extLst>
          </p:nvPr>
        </p:nvGraphicFramePr>
        <p:xfrm>
          <a:off x="228600" y="1388208"/>
          <a:ext cx="8610600" cy="1264392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1370720198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402076987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6127971"/>
                    </a:ext>
                  </a:extLst>
                </a:gridCol>
              </a:tblGrid>
              <a:tr h="2625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Coordinated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02841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Who stops infusion?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calls Therapy directly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emits STOP event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032997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 dirty="0"/>
                        <a:t>Who routes events?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Caller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196688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Where is coupling expressed?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Function calls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Subscription list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03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3039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7959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5A39-2E59-4324-9432-F30BDBC6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= Rules of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7F85-7A32-4F31-A667-BE0A589E8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An execution model defines how control flows through the system over time.</a:t>
            </a:r>
          </a:p>
          <a:p>
            <a:r>
              <a:rPr lang="en-US" dirty="0"/>
              <a:t>Where code runs (i.e. in what context)</a:t>
            </a:r>
          </a:p>
          <a:p>
            <a:r>
              <a:rPr lang="en-US" dirty="0"/>
              <a:t>When code runs?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CPU performs one task at a time.</a:t>
            </a:r>
          </a:p>
          <a:p>
            <a:pPr>
              <a:buFontTx/>
              <a:buChar char="-"/>
            </a:pPr>
            <a:r>
              <a:rPr lang="en-US" dirty="0"/>
              <a:t>We create the illusion of multitasking by switching Contexts</a:t>
            </a:r>
          </a:p>
          <a:p>
            <a:pPr>
              <a:buFontTx/>
              <a:buChar char="-"/>
            </a:pPr>
            <a:r>
              <a:rPr lang="en-US" dirty="0"/>
              <a:t>A context is the snapshot of the CPU’s soul: its registers, its program counter, and its stack</a:t>
            </a:r>
          </a:p>
          <a:p>
            <a:pPr>
              <a:buFontTx/>
              <a:buChar char="-"/>
            </a:pPr>
            <a:r>
              <a:rPr lang="en-US" dirty="0"/>
              <a:t>When we switch tasks, we "freeze" one soul and "thaw" another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Execution modeling is the management of CPU "Contexts" and the cost of switching between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5C62-22F0-4636-90C7-8ACA9E30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47492-95DE-4C55-8B62-F7535F3F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7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5865-7215-4589-9543-DAB6207E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3657E-F754-4EF7-A04D-917E0D8C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Superloop</a:t>
            </a:r>
            <a:r>
              <a:rPr lang="en-US" dirty="0"/>
              <a:t>: everyone waits in a long line to run sequentially</a:t>
            </a:r>
          </a:p>
          <a:p>
            <a:r>
              <a:rPr lang="en-US" dirty="0"/>
              <a:t>Foreground/background: Loop + ISRs</a:t>
            </a:r>
          </a:p>
          <a:p>
            <a:r>
              <a:rPr lang="en-US" dirty="0"/>
              <a:t>Cooperative and preemptive multitasking</a:t>
            </a:r>
          </a:p>
          <a:p>
            <a:r>
              <a:rPr lang="en-US" dirty="0"/>
              <a:t>RTOS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Contexts:</a:t>
            </a:r>
          </a:p>
          <a:p>
            <a:r>
              <a:rPr lang="en-US" dirty="0"/>
              <a:t>Main loop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Task (RTOS)</a:t>
            </a:r>
          </a:p>
          <a:p>
            <a:r>
              <a:rPr lang="en-US" dirty="0"/>
              <a:t>Deferred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1B36-C9C1-44FE-8753-47DF89B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B0626-305B-4699-9725-2C5E6B0D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9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6CB7-615B-458C-A721-119388AF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superloop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50AB8-6806-4E12-AE68-E4800B57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Deterministic, simple</a:t>
            </a:r>
          </a:p>
          <a:p>
            <a:r>
              <a:rPr lang="en-US" dirty="0"/>
              <a:t>Context shared throughout</a:t>
            </a:r>
          </a:p>
          <a:p>
            <a:endParaRPr lang="en-US" dirty="0"/>
          </a:p>
          <a:p>
            <a:r>
              <a:rPr lang="en-US" dirty="0"/>
              <a:t>Hard to scale</a:t>
            </a:r>
          </a:p>
          <a:p>
            <a:r>
              <a:rPr lang="en-US" dirty="0"/>
              <a:t>Blocking breaks all timing constraints</a:t>
            </a:r>
          </a:p>
          <a:p>
            <a:endParaRPr lang="en-US" dirty="0"/>
          </a:p>
          <a:p>
            <a:r>
              <a:rPr lang="en-US" dirty="0"/>
              <a:t>Improvement: loop + ISR</a:t>
            </a:r>
          </a:p>
          <a:p>
            <a:r>
              <a:rPr lang="en-US" dirty="0"/>
              <a:t>Still sequential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062E-2CAB-477F-B76F-85EA5CF8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9C9FB-F82F-4876-80C8-23094081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52C9E-9AD1-44D6-B57A-C9FE5A50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24000"/>
            <a:ext cx="3259667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4EB6-81B8-4351-9BCD-9D09EC37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DB0A3-41F3-49D8-8617-F9C07F11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Illusion of parallel execution</a:t>
            </a:r>
          </a:p>
          <a:p>
            <a:r>
              <a:rPr lang="en-US" dirty="0"/>
              <a:t>Cooperative: tasks yield voluntarily to the next task</a:t>
            </a:r>
          </a:p>
          <a:p>
            <a:r>
              <a:rPr lang="en-US" dirty="0"/>
              <a:t>Preemptive: Scheduler starts and stops tasks</a:t>
            </a:r>
          </a:p>
          <a:p>
            <a:r>
              <a:rPr lang="en-US" dirty="0"/>
              <a:t>Idea of priority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955BF-6403-4EFB-9086-54095161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A32AE-E16E-4ABB-8149-57167CC2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1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15372</TotalTime>
  <Words>2220</Words>
  <Application>Microsoft Office PowerPoint</Application>
  <PresentationFormat>On-screen Show (4:3)</PresentationFormat>
  <Paragraphs>447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Software for Embedded Systems</vt:lpstr>
      <vt:lpstr>Where we are</vt:lpstr>
      <vt:lpstr>What UML has given us</vt:lpstr>
      <vt:lpstr>What UML does not decide</vt:lpstr>
      <vt:lpstr>Firmware architecture</vt:lpstr>
      <vt:lpstr>What is firmware architecture?</vt:lpstr>
      <vt:lpstr>The building blocks of a software</vt:lpstr>
      <vt:lpstr>Modules Are Units of Responsibility</vt:lpstr>
      <vt:lpstr>Owners of time and urgency</vt:lpstr>
      <vt:lpstr>Who decides vs who executes?</vt:lpstr>
      <vt:lpstr>Architecture: How do we arrange these blocks?</vt:lpstr>
      <vt:lpstr>Back to diagrams! Creating system diagrams</vt:lpstr>
      <vt:lpstr>View 1: block diagrams What exists in the system?</vt:lpstr>
      <vt:lpstr>View 1: block diagrams What exists in the system?</vt:lpstr>
      <vt:lpstr>View 2: Hierarchy of Control Who controls whom?</vt:lpstr>
      <vt:lpstr>View 3: the layered view Size and relationship between objects</vt:lpstr>
      <vt:lpstr>Using system diagrams: Simplifying the system</vt:lpstr>
      <vt:lpstr>Using system diagrams: Delegation of tasks</vt:lpstr>
      <vt:lpstr>Encapsulating modules and building interfaces</vt:lpstr>
      <vt:lpstr>Driver interface example</vt:lpstr>
      <vt:lpstr>Drivers can (and should) be stackable</vt:lpstr>
      <vt:lpstr>The Model-View-Controller (MVC) pattern</vt:lpstr>
      <vt:lpstr>MVC in your projects</vt:lpstr>
      <vt:lpstr>Organizing your code</vt:lpstr>
      <vt:lpstr>The many ways to blink an LED</vt:lpstr>
      <vt:lpstr>The many ways to blink an LED! Separating hardware from action</vt:lpstr>
      <vt:lpstr>The many ways to blink an LED! Separating hardware from action</vt:lpstr>
      <vt:lpstr>The many ways to blink an LED I/O handling code</vt:lpstr>
      <vt:lpstr>The many ways to blink an LED Simplifying the main interface (façade)</vt:lpstr>
      <vt:lpstr>Integrating 3rd party libraries</vt:lpstr>
      <vt:lpstr>BME280 sensor API: bme280_defs.h</vt:lpstr>
      <vt:lpstr>BME280 sensor API: bme280.h / bme280.c</vt:lpstr>
      <vt:lpstr>Integrating third party libraries: the glue for sandwich</vt:lpstr>
      <vt:lpstr>Integrating third party libraries: the glue for sandwich</vt:lpstr>
      <vt:lpstr>Where we are</vt:lpstr>
      <vt:lpstr>Organization of the application layer</vt:lpstr>
      <vt:lpstr>Pattern I: Monolithic controller</vt:lpstr>
      <vt:lpstr>Pattern II: Coordinated controllers</vt:lpstr>
      <vt:lpstr>Pattern III: Event dispatcher</vt:lpstr>
      <vt:lpstr>Event ownership at application level</vt:lpstr>
      <vt:lpstr>Comparison of application level patterns</vt:lpstr>
      <vt:lpstr>Control flow visibility</vt:lpstr>
      <vt:lpstr>Ease of adding modules</vt:lpstr>
      <vt:lpstr>Final distinctions</vt:lpstr>
      <vt:lpstr>Where we are</vt:lpstr>
      <vt:lpstr>Execution model = Rules of Running</vt:lpstr>
      <vt:lpstr>Models and contexts</vt:lpstr>
      <vt:lpstr>The superloop</vt:lpstr>
      <vt:lpstr>Multitasking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726</cp:revision>
  <dcterms:created xsi:type="dcterms:W3CDTF">2010-01-15T20:22:21Z</dcterms:created>
  <dcterms:modified xsi:type="dcterms:W3CDTF">2026-02-17T06:24:03Z</dcterms:modified>
</cp:coreProperties>
</file>