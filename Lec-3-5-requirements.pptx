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337" r:id="rId2"/>
    <p:sldId id="362" r:id="rId3"/>
    <p:sldId id="361" r:id="rId4"/>
    <p:sldId id="363" r:id="rId5"/>
    <p:sldId id="364" r:id="rId6"/>
    <p:sldId id="365" r:id="rId7"/>
    <p:sldId id="366" r:id="rId8"/>
    <p:sldId id="368" r:id="rId9"/>
    <p:sldId id="369" r:id="rId10"/>
    <p:sldId id="367" r:id="rId11"/>
    <p:sldId id="370" r:id="rId12"/>
    <p:sldId id="371" r:id="rId13"/>
    <p:sldId id="372" r:id="rId14"/>
    <p:sldId id="373" r:id="rId15"/>
    <p:sldId id="374" r:id="rId16"/>
    <p:sldId id="375" r:id="rId17"/>
    <p:sldId id="353" r:id="rId18"/>
    <p:sldId id="376" r:id="rId19"/>
    <p:sldId id="377" r:id="rId20"/>
    <p:sldId id="378" r:id="rId21"/>
    <p:sldId id="379" r:id="rId22"/>
    <p:sldId id="380" r:id="rId23"/>
    <p:sldId id="381" r:id="rId24"/>
    <p:sldId id="350" r:id="rId25"/>
    <p:sldId id="351" r:id="rId26"/>
    <p:sldId id="382" r:id="rId27"/>
    <p:sldId id="352" r:id="rId28"/>
    <p:sldId id="383" r:id="rId29"/>
    <p:sldId id="384" r:id="rId30"/>
    <p:sldId id="385" r:id="rId31"/>
    <p:sldId id="386" r:id="rId3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136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1/13/2026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Adult vs pediatric</a:t>
            </a:r>
          </a:p>
          <a:p>
            <a:r>
              <a:rPr lang="en-US" dirty="0"/>
              <a:t>Different countries might have dosage regulations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27323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C380-3A71-436F-AF85-106A4B1CA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066925"/>
            <a:ext cx="7924800" cy="1362075"/>
          </a:xfrm>
        </p:spPr>
        <p:txBody>
          <a:bodyPr/>
          <a:lstStyle/>
          <a:p>
            <a:r>
              <a:rPr lang="en-US" sz="3600" dirty="0"/>
              <a:t>Lifecycle and Evolution Constraints in Embedded Software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238BF-8103-48BF-B754-41500EC09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FDAD1-D15A-4F0E-9EFD-0A534279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91CA3-F3C5-4644-A2FF-2E077507C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810000"/>
            <a:ext cx="7772400" cy="25146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Additional constraints specifically faced by embedded systems</a:t>
            </a:r>
          </a:p>
        </p:txBody>
      </p:sp>
    </p:spTree>
    <p:extLst>
      <p:ext uri="{BB962C8B-B14F-4D97-AF65-F5344CB8AC3E}">
        <p14:creationId xmlns:p14="http://schemas.microsoft.com/office/powerpoint/2010/main" val="1725514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906BB-3CC0-49CE-9D14-30AD9ACE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software lives long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339D8-0285-4310-93A6-69758228F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/>
              <a:t>Embedded software often outlives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The hardware platform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Suppliers (hardware components)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Development teams</a:t>
            </a:r>
          </a:p>
          <a:p>
            <a:pPr>
              <a:spcBef>
                <a:spcPts val="1000"/>
              </a:spcBef>
            </a:pPr>
            <a:r>
              <a:rPr lang="en-US" dirty="0"/>
              <a:t>Typical lifetimes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Automotive ECUs: 10 – 15 years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Medical devices: 10 – 20 years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Industrial controllers: few – several decades</a:t>
            </a:r>
          </a:p>
          <a:p>
            <a:pPr>
              <a:spcBef>
                <a:spcPts val="1000"/>
              </a:spcBef>
            </a:pPr>
            <a:r>
              <a:rPr lang="en-US" dirty="0"/>
              <a:t>Example: Medtronic — Medical Devices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Medical device firmware in use for decades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Post-market surveillance frequently triggers late updates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Updates require full safety justification / certification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dirty="0"/>
              <a:t>Long-term maintenance is a requirement for embedded systems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B501B-8F76-4F7C-813A-23DF3A6E8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AF787-209A-4BE8-886D-9DD288E59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839DE7-26E3-46AF-ABE6-29FA06A01104}"/>
              </a:ext>
            </a:extLst>
          </p:cNvPr>
          <p:cNvGrpSpPr/>
          <p:nvPr/>
        </p:nvGrpSpPr>
        <p:grpSpPr>
          <a:xfrm>
            <a:off x="4834331" y="1600200"/>
            <a:ext cx="4163365" cy="1883292"/>
            <a:chOff x="4834331" y="1600200"/>
            <a:chExt cx="4163365" cy="1883292"/>
          </a:xfrm>
        </p:grpSpPr>
        <p:pic>
          <p:nvPicPr>
            <p:cNvPr id="2050" name="Picture 2" descr="Hemodiaz Syringe Infusion Pump : Amazon.in: Industrial &amp; Scientific">
              <a:extLst>
                <a:ext uri="{FF2B5EF4-FFF2-40B4-BE49-F238E27FC236}">
                  <a16:creationId xmlns:a16="http://schemas.microsoft.com/office/drawing/2014/main" id="{E543085F-01DD-454D-BF59-873E7D5AA4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34331" y="1600200"/>
              <a:ext cx="4163365" cy="1544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CCCE8E-370C-4210-B727-C188722B35A5}"/>
                </a:ext>
              </a:extLst>
            </p:cNvPr>
            <p:cNvSpPr txBox="1"/>
            <p:nvPr/>
          </p:nvSpPr>
          <p:spPr>
            <a:xfrm>
              <a:off x="5941695" y="3114160"/>
              <a:ext cx="2035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Infusion pump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80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D540-5512-4803-A392-3BAC67B86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77000" cy="1195386"/>
          </a:xfrm>
        </p:spPr>
        <p:txBody>
          <a:bodyPr/>
          <a:lstStyle/>
          <a:p>
            <a:r>
              <a:rPr lang="en-US" dirty="0"/>
              <a:t>Many things directly affecting the S/W change over these times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F525F-EFE7-45E1-A8F1-84DCB7B34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kind of factors change?</a:t>
            </a:r>
          </a:p>
          <a:p>
            <a:pPr lvl="1"/>
            <a:r>
              <a:rPr lang="en-US" dirty="0"/>
              <a:t>Components reach end-of-life</a:t>
            </a:r>
          </a:p>
          <a:p>
            <a:pPr lvl="1"/>
            <a:r>
              <a:rPr lang="en-US" dirty="0"/>
              <a:t>Suppliers change</a:t>
            </a:r>
          </a:p>
          <a:p>
            <a:pPr lvl="1"/>
            <a:r>
              <a:rPr lang="en-US" dirty="0"/>
              <a:t>Hardware revisions to reduce cost</a:t>
            </a:r>
          </a:p>
          <a:p>
            <a:pPr lvl="1"/>
            <a:r>
              <a:rPr lang="en-US" dirty="0"/>
              <a:t>Regulatory requirements</a:t>
            </a:r>
          </a:p>
          <a:p>
            <a:r>
              <a:rPr lang="en-US" dirty="0"/>
              <a:t>Changes are inevitable and cannot be planned</a:t>
            </a:r>
          </a:p>
          <a:p>
            <a:r>
              <a:rPr lang="en-US" dirty="0"/>
              <a:t>But the can be </a:t>
            </a:r>
            <a:r>
              <a:rPr lang="en-US" i="1" dirty="0"/>
              <a:t>planned for</a:t>
            </a:r>
            <a:endParaRPr lang="en-US" dirty="0"/>
          </a:p>
          <a:p>
            <a:r>
              <a:rPr lang="en-US" dirty="0"/>
              <a:t>How to write software that is adaptable to change?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B835F-8CCA-4DCC-BB81-D5E33F29A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4B6B61-82D4-4422-A531-47F1014B2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3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Volumetric Infusion Pump | NXP FRDM | Maker Pro">
            <a:extLst>
              <a:ext uri="{FF2B5EF4-FFF2-40B4-BE49-F238E27FC236}">
                <a16:creationId xmlns:a16="http://schemas.microsoft.com/office/drawing/2014/main" id="{1291793B-A6E6-426D-AF0A-EA551648CF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480" y="2895599"/>
            <a:ext cx="5593080" cy="34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202DFE-9F2E-4C24-8C00-F452A5F32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059A6-9018-4FD5-942D-9D83FF99E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592389"/>
          </a:xfrm>
        </p:spPr>
        <p:txBody>
          <a:bodyPr/>
          <a:lstStyle/>
          <a:p>
            <a:r>
              <a:rPr lang="en-US" dirty="0"/>
              <a:t>Changes in one part should not destabilize others</a:t>
            </a:r>
          </a:p>
          <a:p>
            <a:pPr lvl="1"/>
            <a:r>
              <a:rPr lang="en-US" dirty="0"/>
              <a:t>components of the system as independent as possible</a:t>
            </a:r>
          </a:p>
          <a:p>
            <a:r>
              <a:rPr lang="en-US" dirty="0"/>
              <a:t>Isolating change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5352A-A131-4765-81A2-002E69E86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1381E-828C-47E7-8DCC-709BE4E3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A6CECFA-98A8-420B-9595-EFB15651E611}"/>
              </a:ext>
            </a:extLst>
          </p:cNvPr>
          <p:cNvSpPr txBox="1">
            <a:spLocks/>
          </p:cNvSpPr>
          <p:nvPr/>
        </p:nvSpPr>
        <p:spPr bwMode="auto">
          <a:xfrm>
            <a:off x="5257800" y="2666999"/>
            <a:ext cx="3886200" cy="39465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50" dirty="0"/>
              <a:t>Infusion pump example</a:t>
            </a:r>
          </a:p>
          <a:p>
            <a:r>
              <a:rPr lang="en-US" sz="2250" dirty="0"/>
              <a:t>What can change over time?</a:t>
            </a:r>
          </a:p>
          <a:p>
            <a:r>
              <a:rPr lang="en-US" sz="2250" dirty="0"/>
              <a:t>What are the different functions that can and should remain independent?</a:t>
            </a:r>
          </a:p>
          <a:p>
            <a:r>
              <a:rPr lang="en-US" sz="2250" dirty="0"/>
              <a:t>Sensor replaced </a:t>
            </a:r>
            <a:r>
              <a:rPr lang="en-US" sz="2250" dirty="0">
                <a:sym typeface="Wingdings" panose="05000000000000000000" pitchFamily="2" charset="2"/>
              </a:rPr>
              <a:t></a:t>
            </a:r>
          </a:p>
          <a:p>
            <a:pPr lvl="1"/>
            <a:r>
              <a:rPr lang="en-US" sz="2250" dirty="0">
                <a:sym typeface="Wingdings" panose="05000000000000000000" pitchFamily="2" charset="2"/>
              </a:rPr>
              <a:t>Should control behavior change?</a:t>
            </a:r>
          </a:p>
          <a:p>
            <a:pPr lvl="1"/>
            <a:r>
              <a:rPr lang="en-US" sz="2250" dirty="0">
                <a:sym typeface="Wingdings" panose="05000000000000000000" pitchFamily="2" charset="2"/>
              </a:rPr>
              <a:t>Control code?</a:t>
            </a:r>
            <a:endParaRPr lang="en-US" sz="2250" dirty="0"/>
          </a:p>
        </p:txBody>
      </p:sp>
    </p:spTree>
    <p:extLst>
      <p:ext uri="{BB962C8B-B14F-4D97-AF65-F5344CB8AC3E}">
        <p14:creationId xmlns:p14="http://schemas.microsoft.com/office/powerpoint/2010/main" val="241931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71865-9225-4C69-A7FF-EDED1985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radar sensors from Bosch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082A4-EB3C-43A7-A022-ECFDDE7F6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781800" cy="501491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Several OEMs (BMW, Audi, Mercedes, VW) use it for:</a:t>
            </a:r>
          </a:p>
          <a:p>
            <a:pPr lvl="1"/>
            <a:r>
              <a:rPr lang="en-US" sz="2400" dirty="0"/>
              <a:t>Adaptive cruise control (ACC)</a:t>
            </a:r>
          </a:p>
          <a:p>
            <a:pPr lvl="1"/>
            <a:r>
              <a:rPr lang="en-US" sz="2400" dirty="0"/>
              <a:t>Automatic emergency braking</a:t>
            </a:r>
          </a:p>
          <a:p>
            <a:r>
              <a:rPr lang="en-US" sz="2800" dirty="0"/>
              <a:t>New sensor generation introduces</a:t>
            </a:r>
          </a:p>
          <a:p>
            <a:pPr lvl="1"/>
            <a:r>
              <a:rPr lang="en-US" sz="2400" dirty="0"/>
              <a:t>Same function and interface</a:t>
            </a:r>
          </a:p>
          <a:p>
            <a:pPr lvl="1"/>
            <a:r>
              <a:rPr lang="en-US" sz="2400" dirty="0"/>
              <a:t>But signal behavior was different (noise, SNR etc.)</a:t>
            </a:r>
          </a:p>
          <a:p>
            <a:r>
              <a:rPr lang="en-US" sz="2800" dirty="0"/>
              <a:t>Behavior degraded</a:t>
            </a:r>
          </a:p>
          <a:p>
            <a:pPr lvl="1"/>
            <a:r>
              <a:rPr lang="en-US" sz="2400" dirty="0"/>
              <a:t>False positive braking</a:t>
            </a:r>
          </a:p>
          <a:p>
            <a:pPr lvl="1"/>
            <a:r>
              <a:rPr lang="en-US" sz="2400" dirty="0"/>
              <a:t>Degraded ACC smoothness</a:t>
            </a:r>
          </a:p>
          <a:p>
            <a:r>
              <a:rPr lang="en-US" sz="2800" dirty="0"/>
              <a:t>OEMs had to retune control logic, revalidate safety via software updates, recalls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78DA3-FB3B-448E-9C04-32C82912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CA7CFB-54E6-4836-92B9-87B18C5C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4098" name="Picture 2" descr="Auto Shanghai: Bosch presents new software and hardware for assisted and  automated driving - Bosch Media Service">
            <a:extLst>
              <a:ext uri="{FF2B5EF4-FFF2-40B4-BE49-F238E27FC236}">
                <a16:creationId xmlns:a16="http://schemas.microsoft.com/office/drawing/2014/main" id="{50BCB6FB-57B1-4517-9467-44401FCF2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1828800"/>
            <a:ext cx="2971800" cy="197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51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90FFC-B2B0-4755-87DA-DAF8A6FB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C403-24A0-40E6-9567-815B861D4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Hardware platforms change, but software must remain equivalent</a:t>
            </a:r>
          </a:p>
          <a:p>
            <a:r>
              <a:rPr lang="en-US" dirty="0"/>
              <a:t>Infusion pump example: microcontroller itself reached EOL, and new MCU introduced</a:t>
            </a:r>
          </a:p>
          <a:p>
            <a:r>
              <a:rPr lang="en-US" dirty="0"/>
              <a:t>Why does change of MCU matter so much?</a:t>
            </a:r>
          </a:p>
          <a:p>
            <a:r>
              <a:rPr lang="en-US" dirty="0"/>
              <a:t>Is it simply about recompiling the code for a different platform?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3587C-27CE-4AD3-81DA-0C771CDBB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021D60-CD13-4158-8A03-A2B880F1C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4931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C4A82-379C-43F4-A2C8-BE99614B8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3A96F-4250-476C-9061-1FF3A3118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Programmable Logic Controllers (PLCs): devices used for industrial automation</a:t>
            </a:r>
          </a:p>
          <a:p>
            <a:r>
              <a:rPr lang="en-US" dirty="0"/>
              <a:t>Observe </a:t>
            </a:r>
            <a:r>
              <a:rPr lang="en-US" dirty="0">
                <a:sym typeface="Wingdings" panose="05000000000000000000" pitchFamily="2" charset="2"/>
              </a:rPr>
              <a:t> Decide  Act  Repeat (1 scan)</a:t>
            </a:r>
          </a:p>
          <a:p>
            <a:r>
              <a:rPr lang="en-US" dirty="0">
                <a:sym typeface="Wingdings" panose="05000000000000000000" pitchFamily="2" charset="2"/>
              </a:rPr>
              <a:t>Assumes observed variables remain fixed for duration of scan</a:t>
            </a:r>
          </a:p>
          <a:p>
            <a:r>
              <a:rPr lang="en-US" dirty="0"/>
              <a:t>Siemens – SIMATIC S7 PLC family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Control executed once per scan, but scan time was never explicitly specified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New hardware: faster CPUs, but added more complex communication protocols, logging etc.</a:t>
            </a:r>
          </a:p>
          <a:p>
            <a:pPr lvl="1"/>
            <a:r>
              <a:rPr lang="en-US" dirty="0"/>
              <a:t>Scan times became variable!</a:t>
            </a:r>
          </a:p>
          <a:p>
            <a:pPr lvl="1"/>
            <a:r>
              <a:rPr lang="en-US" dirty="0"/>
              <a:t>Control became unstable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92CE0-6D91-4FED-842F-1F242CCAE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FA3667-2457-4512-8EFA-F72ED61D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970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D8A53-DEA6-4016-9059-18673C61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Portability is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AA277D-B069-4D8F-BC3B-CC7F2DF42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358B6-2FCE-4EC7-9777-EDB0D15B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FF1391-E991-4077-A56D-AFAB26542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Not just easy of recompiling, BUT</a:t>
            </a:r>
          </a:p>
          <a:p>
            <a:r>
              <a:rPr lang="en-US" dirty="0"/>
              <a:t>Avoiding undocumented hardware assumptions</a:t>
            </a:r>
          </a:p>
          <a:p>
            <a:r>
              <a:rPr lang="en-US" dirty="0"/>
              <a:t>Making timing and resource constraints explicit</a:t>
            </a:r>
          </a:p>
        </p:txBody>
      </p:sp>
    </p:spTree>
    <p:extLst>
      <p:ext uri="{BB962C8B-B14F-4D97-AF65-F5344CB8AC3E}">
        <p14:creationId xmlns:p14="http://schemas.microsoft.com/office/powerpoint/2010/main" val="4000288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BA389-DF8D-48D1-927C-E805859D0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Configurability: one system, many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442CC-2311-4FCD-9110-8164C3D54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example, same car sold in different markets:</a:t>
            </a:r>
          </a:p>
          <a:p>
            <a:pPr lvl="1"/>
            <a:r>
              <a:rPr lang="en-US" dirty="0"/>
              <a:t>Different features</a:t>
            </a:r>
          </a:p>
          <a:p>
            <a:pPr lvl="1"/>
            <a:r>
              <a:rPr lang="en-US" dirty="0"/>
              <a:t>Different safety norms</a:t>
            </a:r>
          </a:p>
          <a:p>
            <a:r>
              <a:rPr lang="en-US" dirty="0"/>
              <a:t>Proper understanding / mapping of configuration required for safe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FEE0B9-341F-4C98-AB2F-65C28CAF6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AF8C-2FB5-4C9A-B660-37EF21B6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99909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8B092-5EB5-42AA-85E4-A205F8B8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Therac-25 (Radiation Therapy Device)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35BE8-C24F-48F0-84E1-1A6DE7F2E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Software controlled modes of operation: low and high energy radiation, with different dosage times etc., configured in software</a:t>
            </a:r>
          </a:p>
          <a:p>
            <a:r>
              <a:rPr lang="en-US" dirty="0"/>
              <a:t>Certain configuration settings were rare and not properly validated</a:t>
            </a:r>
          </a:p>
          <a:p>
            <a:r>
              <a:rPr lang="en-US" dirty="0"/>
              <a:t>Configuration became inconsistent across software modules, causing the timing module to think it is in low energy, and radiation module to think it is in high energy mode</a:t>
            </a:r>
          </a:p>
          <a:p>
            <a:r>
              <a:rPr lang="en-US" dirty="0"/>
              <a:t>Overdose led to several patient deaths</a:t>
            </a:r>
          </a:p>
          <a:p>
            <a:r>
              <a:rPr lang="en-US" dirty="0"/>
              <a:t>No hardware failed, no bugs, but poor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A78B9-37FF-486E-BDDD-14642C89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CA895-49DC-468A-ABBE-AF28A991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2709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CACC5-C8C0-42FB-82E4-68AB8D7BD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Volkswagen </a:t>
            </a:r>
            <a:r>
              <a:rPr lang="en-US" dirty="0" err="1"/>
              <a:t>Dieselgate</a:t>
            </a:r>
            <a:r>
              <a:rPr lang="en-US" dirty="0"/>
              <a:t> controversy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06651-35DF-4B11-BE75-677F31B2F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OEM developed two software configurations – test/diagnostic and normal</a:t>
            </a:r>
          </a:p>
          <a:p>
            <a:r>
              <a:rPr lang="en-US" sz="2800" dirty="0"/>
              <a:t>Emissions testing during certification was in test mode, within limits</a:t>
            </a:r>
          </a:p>
          <a:p>
            <a:r>
              <a:rPr lang="en-US" sz="2800" dirty="0"/>
              <a:t>Emissions in normal mode much higher!</a:t>
            </a:r>
          </a:p>
          <a:p>
            <a:endParaRPr lang="en-US" sz="2800" dirty="0"/>
          </a:p>
          <a:p>
            <a:r>
              <a:rPr lang="en-US" sz="2800" dirty="0"/>
              <a:t>Same software </a:t>
            </a:r>
            <a:r>
              <a:rPr lang="en-US" sz="2800" dirty="0">
                <a:sym typeface="Wingdings" panose="05000000000000000000" pitchFamily="2" charset="2"/>
              </a:rPr>
              <a:t> very different behaviors</a:t>
            </a:r>
          </a:p>
          <a:p>
            <a:endParaRPr lang="en-US" sz="28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Infusion pump example: what kind of configurations can you think of?</a:t>
            </a: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218E2-FDD8-4D0D-8A67-2915E614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92A550-84BA-422C-84A6-B5E465CF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02452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EB1A7-2282-42E6-9FEB-A7907D4C8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as a safety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CDEF8-B0E0-4315-AD1A-4918C04069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Feature / configuration flags scattered across code</a:t>
            </a:r>
          </a:p>
          <a:p>
            <a:r>
              <a:rPr lang="en-US" dirty="0"/>
              <a:t>Difficult to trace unsafe combinations</a:t>
            </a:r>
          </a:p>
          <a:p>
            <a:endParaRPr lang="en-US" dirty="0"/>
          </a:p>
          <a:p>
            <a:r>
              <a:rPr lang="en-US" dirty="0"/>
              <a:t>Explicitly defined and placed rules</a:t>
            </a:r>
          </a:p>
          <a:p>
            <a:r>
              <a:rPr lang="en-US" dirty="0"/>
              <a:t>Verifiable combinations</a:t>
            </a:r>
          </a:p>
          <a:p>
            <a:r>
              <a:rPr lang="en-US" dirty="0"/>
              <a:t>Safe as software evolves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F0767-42C6-45C4-8DC9-BD8297751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6AF14E-2840-4EB3-A27F-07B13DEA7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500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E5BC3-C66A-44D5-93ED-F3D6E9FCC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term maintenance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BC75-6E1D-44E3-B4D6-E3D79D98F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The ability to diagnose and, crucially, fix issues after deployment</a:t>
            </a:r>
          </a:p>
          <a:p>
            <a:endParaRPr lang="en-US" dirty="0"/>
          </a:p>
          <a:p>
            <a:r>
              <a:rPr lang="en-US" dirty="0"/>
              <a:t>Who maintains embedded software?</a:t>
            </a:r>
          </a:p>
          <a:p>
            <a:pPr lvl="1"/>
            <a:r>
              <a:rPr lang="en-US" dirty="0"/>
              <a:t>Original developers no longer involved</a:t>
            </a:r>
          </a:p>
          <a:p>
            <a:pPr lvl="1"/>
            <a:r>
              <a:rPr lang="en-US" dirty="0"/>
              <a:t>Full hardware access might not be available</a:t>
            </a:r>
          </a:p>
          <a:p>
            <a:pPr lvl="1"/>
            <a:endParaRPr lang="en-US" dirty="0"/>
          </a:p>
          <a:p>
            <a:r>
              <a:rPr lang="en-US" dirty="0"/>
              <a:t>Infusion pump example: if a bug is discovered after 10 years of operation, can it be handled?</a:t>
            </a:r>
          </a:p>
          <a:p>
            <a:endParaRPr lang="en-US" dirty="0"/>
          </a:p>
          <a:p>
            <a:r>
              <a:rPr lang="en-US" dirty="0"/>
              <a:t>Code without maintainability considerations:</a:t>
            </a:r>
          </a:p>
          <a:p>
            <a:pPr lvl="1"/>
            <a:r>
              <a:rPr lang="en-US" dirty="0"/>
              <a:t>Fear of making changes – it will break the system!</a:t>
            </a:r>
          </a:p>
          <a:p>
            <a:pPr lvl="1"/>
            <a:r>
              <a:rPr lang="en-US" dirty="0"/>
              <a:t>Slow fixes</a:t>
            </a:r>
          </a:p>
          <a:p>
            <a:pPr lvl="1"/>
            <a:r>
              <a:rPr lang="en-US" dirty="0"/>
              <a:t>Increased risk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23F9F-B9B7-4B73-A2AB-AF08D6449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A3A2D2-885F-440C-81ED-47DBBF755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965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1667B-F3CC-4F3B-A9D7-8AACC4464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Mars Pathfinder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051B-5BC5-49AF-969A-0A8832195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‘Priority inversion’ caused the robot to frequently restart after deployment on Mars</a:t>
            </a:r>
          </a:p>
          <a:p>
            <a:r>
              <a:rPr lang="en-US" dirty="0"/>
              <a:t>Remote logging, debugging and analysis designed into the software</a:t>
            </a:r>
          </a:p>
          <a:p>
            <a:r>
              <a:rPr lang="en-US" dirty="0"/>
              <a:t>Over-the-air updates</a:t>
            </a:r>
          </a:p>
          <a:p>
            <a:r>
              <a:rPr lang="en-US" dirty="0"/>
              <a:t>Successfully patched software to recover the robot on Mars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1C5D38-6D0E-4385-B7C5-7E24CC5DA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2709F-C67F-4838-821C-9DC1952D3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276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63DF1-1319-4490-BDB3-383E0E3D8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Constraints, not design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A150E-E466-425A-B81C-14B596A43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  <a:p>
            <a:r>
              <a:rPr lang="en-US" dirty="0"/>
              <a:t>Portability</a:t>
            </a:r>
          </a:p>
          <a:p>
            <a:r>
              <a:rPr lang="en-US" dirty="0"/>
              <a:t>Configurability</a:t>
            </a:r>
          </a:p>
          <a:p>
            <a:r>
              <a:rPr lang="en-US" dirty="0"/>
              <a:t>Maintainability</a:t>
            </a:r>
          </a:p>
          <a:p>
            <a:endParaRPr lang="en-US" dirty="0"/>
          </a:p>
          <a:p>
            <a:r>
              <a:rPr lang="en-US" dirty="0"/>
              <a:t>Required for proper lifecycle handling</a:t>
            </a:r>
          </a:p>
          <a:p>
            <a:endParaRPr lang="en-US" dirty="0"/>
          </a:p>
          <a:p>
            <a:r>
              <a:rPr lang="en-US" dirty="0"/>
              <a:t>Next class: defining requirements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759F8-D7A5-417E-B30E-CD877E3BC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C6E1C9-ADB6-439D-9E9A-82B31973E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8718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A77F9-D067-4F29-9413-81CF9989F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Engineering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253B47-5555-4B3D-9848-2764F9BDA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897E2-C287-436F-B453-FC710297A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C92651-9FA6-4E9E-B113-A7EB60175E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Getting things right more critical for embedded systems than others</a:t>
            </a:r>
          </a:p>
          <a:p>
            <a:r>
              <a:rPr lang="en-US" dirty="0"/>
              <a:t>Cost of requirement errors grows exponentially if discovered during deployment</a:t>
            </a:r>
          </a:p>
        </p:txBody>
      </p:sp>
    </p:spTree>
    <p:extLst>
      <p:ext uri="{BB962C8B-B14F-4D97-AF65-F5344CB8AC3E}">
        <p14:creationId xmlns:p14="http://schemas.microsoft.com/office/powerpoint/2010/main" val="2388212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14FB-A35C-40D2-8116-109ECD7D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requirements engineering exists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97ECA-3344-4515-BBD0-DFDB98470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Embedded systems often fail, not because of coding errors, but because of hidden:</a:t>
            </a:r>
          </a:p>
          <a:p>
            <a:r>
              <a:rPr lang="en-US" dirty="0"/>
              <a:t>Assumptions</a:t>
            </a:r>
          </a:p>
          <a:p>
            <a:r>
              <a:rPr lang="en-US" dirty="0"/>
              <a:t>Ambiguities</a:t>
            </a:r>
          </a:p>
          <a:p>
            <a:r>
              <a:rPr lang="en-US" dirty="0"/>
              <a:t>Constraints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Give examples based on last lecture.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A5962-1358-42DE-B03C-73E80ACC5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59596-2944-43CE-BF07-BDCCC496C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488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4249-BF3C-4F6A-8CF1-10D01C0C5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5AAEA-AF79-4B02-A182-0695FD669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Elicitation: Discovering what the system must do.</a:t>
            </a:r>
          </a:p>
          <a:p>
            <a:r>
              <a:rPr lang="en-US" dirty="0"/>
              <a:t>Analysis: Checking for consistency and feasibility.</a:t>
            </a:r>
          </a:p>
          <a:p>
            <a:r>
              <a:rPr lang="en-US" dirty="0"/>
              <a:t>Specification: Documenting the requirements formally.</a:t>
            </a:r>
          </a:p>
          <a:p>
            <a:r>
              <a:rPr lang="en-US" dirty="0"/>
              <a:t>Validation: Ensuring the requirements meet the stakeholder's true needs.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B0C70-71DE-4C8E-B390-3A6B1A762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DC420-66D2-4575-BACD-5EE885BAE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27918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A48A8-C765-40B3-B187-C15E7093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requirement?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983F1-6BC3-4FF4-A9BE-7221123D1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Example (infusion pump):</a:t>
            </a:r>
          </a:p>
          <a:p>
            <a:pPr marL="0" indent="0">
              <a:buNone/>
            </a:pPr>
            <a:r>
              <a:rPr lang="en-US" dirty="0"/>
              <a:t>“The pump should deliver fluid safely”</a:t>
            </a:r>
          </a:p>
          <a:p>
            <a:pPr marL="0" indent="0">
              <a:buNone/>
            </a:pPr>
            <a:endParaRPr lang="en-US" sz="1100" dirty="0"/>
          </a:p>
          <a:p>
            <a:r>
              <a:rPr lang="en-US" dirty="0"/>
              <a:t>Is this a requirement?</a:t>
            </a:r>
          </a:p>
          <a:p>
            <a:r>
              <a:rPr lang="en-US" dirty="0"/>
              <a:t>Is this a good requirement?</a:t>
            </a:r>
          </a:p>
          <a:p>
            <a:endParaRPr lang="en-US" sz="1200" dirty="0"/>
          </a:p>
          <a:p>
            <a:pPr marL="0" indent="0">
              <a:buNone/>
            </a:pPr>
            <a:r>
              <a:rPr lang="en-US" dirty="0"/>
              <a:t>“The system shall stop the pump motor within 20 </a:t>
            </a:r>
            <a:r>
              <a:rPr lang="en-US" dirty="0" err="1"/>
              <a:t>ms</a:t>
            </a:r>
            <a:r>
              <a:rPr lang="en-US" dirty="0"/>
              <a:t> of detecting an over-temperature condition.”</a:t>
            </a:r>
          </a:p>
          <a:p>
            <a:pPr marL="0" indent="0">
              <a:buNone/>
            </a:pPr>
            <a:endParaRPr lang="en-US" sz="1200" dirty="0"/>
          </a:p>
          <a:p>
            <a:r>
              <a:rPr lang="en-US" dirty="0"/>
              <a:t>Which of the two ‘requirements’ above is better?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AA1FD-F9D3-4D4D-B1FB-9F3551F0A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B34A0B-79E0-48C0-8F9A-AC484CAD5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780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F5F4F-08E2-49D4-A27D-F7B9BA8B0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requirement?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72BC2-84CB-4C22-A5B9-FDD1C49D7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An obligation on the system that must hold under specified conditions</a:t>
            </a:r>
          </a:p>
          <a:p>
            <a:endParaRPr lang="en-US" dirty="0"/>
          </a:p>
          <a:p>
            <a:r>
              <a:rPr lang="en-US" dirty="0"/>
              <a:t>Not a list of features, a design decision, or an implementation detail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42888-20A4-488D-ADDA-0AEDE9DAD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A13480-DC27-4DC6-9407-F2F75EBA9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65923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4A0A7-C95C-4D81-B156-4612BA171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category are these?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0958F-7B86-47F3-949B-41F606927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system has alarm feature when sensor fails</a:t>
            </a:r>
          </a:p>
          <a:p>
            <a:r>
              <a:rPr lang="en-US" dirty="0"/>
              <a:t>The system shall detect over-temperature within 50 </a:t>
            </a:r>
            <a:r>
              <a:rPr lang="en-US" dirty="0" err="1"/>
              <a:t>ms</a:t>
            </a:r>
            <a:endParaRPr lang="en-US" dirty="0"/>
          </a:p>
          <a:p>
            <a:r>
              <a:rPr lang="en-US" dirty="0"/>
              <a:t>The system shall use SPI to communicate with sensors</a:t>
            </a:r>
          </a:p>
          <a:p>
            <a:r>
              <a:rPr lang="en-US" dirty="0"/>
              <a:t>The system shall store data in a circular buffer</a:t>
            </a:r>
          </a:p>
          <a:p>
            <a:r>
              <a:rPr lang="en-US" dirty="0"/>
              <a:t>System supports multiple operating modes</a:t>
            </a:r>
          </a:p>
          <a:p>
            <a:r>
              <a:rPr lang="en-US" dirty="0"/>
              <a:t>The system shall use an RTOS</a:t>
            </a:r>
          </a:p>
          <a:p>
            <a:r>
              <a:rPr lang="en-US" dirty="0"/>
              <a:t>The system shall support replacement of temperature sensors without modification to control logic.</a:t>
            </a:r>
          </a:p>
          <a:p>
            <a:r>
              <a:rPr lang="en-US" dirty="0"/>
              <a:t>The system shall use an ADC to read the temperature sensor</a:t>
            </a:r>
          </a:p>
          <a:p>
            <a:r>
              <a:rPr lang="en-US" dirty="0"/>
              <a:t>The system shall use a hardware abstraction layer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66AD4-4145-4FF9-83CF-BE9DABAA2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00EFD-13CC-4B48-9FF8-CDDB8C35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760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03F22-572F-46EB-84F0-47FB74F09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1E09B-EB6C-4525-B7E1-9CD5BC15E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Infusion pump</a:t>
            </a:r>
          </a:p>
          <a:p>
            <a:r>
              <a:rPr lang="en-US" dirty="0"/>
              <a:t>Doctors </a:t>
            </a:r>
            <a:r>
              <a:rPr lang="en-US" dirty="0">
                <a:sym typeface="Wingdings" panose="05000000000000000000" pitchFamily="2" charset="2"/>
              </a:rPr>
              <a:t> dosage accuracy</a:t>
            </a:r>
          </a:p>
          <a:p>
            <a:r>
              <a:rPr lang="en-US" dirty="0">
                <a:sym typeface="Wingdings" panose="05000000000000000000" pitchFamily="2" charset="2"/>
              </a:rPr>
              <a:t>Nurses  alarms and response time</a:t>
            </a:r>
          </a:p>
          <a:p>
            <a:r>
              <a:rPr lang="en-US" dirty="0">
                <a:sym typeface="Wingdings" panose="05000000000000000000" pitchFamily="2" charset="2"/>
              </a:rPr>
              <a:t>Hardware  sensor limits</a:t>
            </a:r>
          </a:p>
          <a:p>
            <a:r>
              <a:rPr lang="en-US" dirty="0">
                <a:sym typeface="Wingdings" panose="05000000000000000000" pitchFamily="2" charset="2"/>
              </a:rPr>
              <a:t>Regulations  safety limits</a:t>
            </a:r>
          </a:p>
          <a:p>
            <a:r>
              <a:rPr lang="en-US" dirty="0">
                <a:sym typeface="Wingdings" panose="05000000000000000000" pitchFamily="2" charset="2"/>
              </a:rPr>
              <a:t>Lifecycle  maintainability, configurability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/>
              <a:t>Beyond the User:</a:t>
            </a:r>
            <a:r>
              <a:rPr lang="en-US" dirty="0"/>
              <a:t> Identifying non-human stakeholders is important!</a:t>
            </a:r>
          </a:p>
          <a:p>
            <a:endParaRPr lang="en-US" dirty="0"/>
          </a:p>
          <a:p>
            <a:r>
              <a:rPr lang="en-US" dirty="0"/>
              <a:t>Iterative process – you will have to go back and forth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FE1F6-0886-4550-A25E-D98C388EA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1CF871-A954-44FC-BC76-20873993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9441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BA08F-9821-4D80-A108-D8037383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24C14-C931-4DC4-8542-63929069F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Needed to make the system work</a:t>
            </a:r>
          </a:p>
          <a:p>
            <a:r>
              <a:rPr lang="en-US" dirty="0"/>
              <a:t>Control logic</a:t>
            </a:r>
          </a:p>
          <a:p>
            <a:r>
              <a:rPr lang="en-US" dirty="0"/>
              <a:t>Data acquisition and processing</a:t>
            </a:r>
          </a:p>
          <a:p>
            <a:r>
              <a:rPr lang="en-US" dirty="0"/>
              <a:t>State-based behavior</a:t>
            </a:r>
          </a:p>
          <a:p>
            <a:r>
              <a:rPr lang="en-US" dirty="0"/>
              <a:t>Coordination between subsystems</a:t>
            </a:r>
          </a:p>
          <a:p>
            <a:endParaRPr lang="en-US" dirty="0"/>
          </a:p>
          <a:p>
            <a:r>
              <a:rPr lang="en-US" dirty="0"/>
              <a:t>What are the functional requirements for the infusion pump?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“The system shall deliver fluid at the programmed rate.”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91024-1FD3-4DAE-8731-0D94F21F3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39780E-5850-49F3-9E24-60528ABF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03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23004-BE65-4D50-8D46-7E2D7273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Non-functional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90EF9-A827-41CE-96B4-16AEC6039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Needed to make the system work </a:t>
            </a:r>
            <a:r>
              <a:rPr lang="en-US" i="1" dirty="0"/>
              <a:t>well</a:t>
            </a:r>
          </a:p>
          <a:p>
            <a:r>
              <a:rPr lang="en-US" dirty="0"/>
              <a:t>Timing correctness</a:t>
            </a:r>
          </a:p>
          <a:p>
            <a:r>
              <a:rPr lang="en-US" dirty="0"/>
              <a:t>Resource usage (CPU, memory, power)</a:t>
            </a:r>
          </a:p>
          <a:p>
            <a:r>
              <a:rPr lang="en-US" dirty="0"/>
              <a:t>Configurability</a:t>
            </a:r>
          </a:p>
          <a:p>
            <a:r>
              <a:rPr lang="en-US" dirty="0"/>
              <a:t>RAMS: Reliability, Availability, Maintainability, Safety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dirty="0"/>
              <a:t>In embedded systems, NFRs often "outweigh" functional ones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45D41-AB28-4FC5-B1AB-8E9370D98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01CED-5829-44BA-B556-3A8F6B85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0741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165" end="2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FB2CE-A4AB-4152-B0E5-D585F8A1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NFRs for the infusion pump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AFBB0-0203-4042-B28E-3D0D40399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system shall enter a safe state upon sensor failure.</a:t>
            </a:r>
          </a:p>
          <a:p>
            <a:r>
              <a:rPr lang="en-US" dirty="0"/>
              <a:t>The system shall operate within available RAM without dynamic memory allocation during operation</a:t>
            </a:r>
          </a:p>
          <a:p>
            <a:r>
              <a:rPr lang="en-US" dirty="0"/>
              <a:t>The system shall detect over-temperature within 50 </a:t>
            </a:r>
            <a:r>
              <a:rPr lang="en-US" dirty="0" err="1"/>
              <a:t>ms</a:t>
            </a:r>
            <a:endParaRPr lang="en-US" dirty="0"/>
          </a:p>
          <a:p>
            <a:r>
              <a:rPr lang="en-US" dirty="0"/>
              <a:t>The system shall prevent unsafe combinations of operating modes.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BBAA3-AF79-4AFD-A70E-1A2B82255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FF77D0-8517-4FC3-B746-1845B2162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0600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A339-EFE9-4829-89D1-E1172E682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Important to understand and distinguish the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A31A0-A595-4EC2-931A-643CD3539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7BE3A-77C5-41E2-AEBA-655058D2B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pic>
        <p:nvPicPr>
          <p:cNvPr id="3074" name="Picture 2" descr="Functional vs Nonfunctional Requirements: what is the difference [with  Examples] | DDI Development">
            <a:extLst>
              <a:ext uri="{FF2B5EF4-FFF2-40B4-BE49-F238E27FC236}">
                <a16:creationId xmlns:a16="http://schemas.microsoft.com/office/drawing/2014/main" id="{65AF73D9-985D-4484-BB08-93C8A2A245F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25" b="5762"/>
          <a:stretch/>
        </p:blipFill>
        <p:spPr bwMode="auto">
          <a:xfrm>
            <a:off x="1143000" y="1371600"/>
            <a:ext cx="6858000" cy="5095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9755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87A04-02D3-48C3-AA53-662F9F81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 of a good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961FE-250E-4CCB-A7E9-38FA9B5D0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Unambiguous</a:t>
            </a:r>
          </a:p>
          <a:p>
            <a:r>
              <a:rPr lang="en-US" dirty="0"/>
              <a:t>Testable</a:t>
            </a:r>
          </a:p>
          <a:p>
            <a:r>
              <a:rPr lang="en-US" dirty="0"/>
              <a:t>Necessary</a:t>
            </a:r>
          </a:p>
          <a:p>
            <a:r>
              <a:rPr lang="en-US" dirty="0"/>
              <a:t>Feasible</a:t>
            </a:r>
          </a:p>
          <a:p>
            <a:r>
              <a:rPr lang="en-US" dirty="0"/>
              <a:t>Traceable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Good or bad? (why?):</a:t>
            </a:r>
          </a:p>
          <a:p>
            <a:pPr marL="0" indent="0">
              <a:buNone/>
            </a:pPr>
            <a:r>
              <a:rPr lang="en-US" dirty="0"/>
              <a:t>“system should respond quickly”</a:t>
            </a:r>
          </a:p>
          <a:p>
            <a:pPr marL="0" indent="0">
              <a:buNone/>
            </a:pPr>
            <a:r>
              <a:rPr lang="en-US" dirty="0"/>
              <a:t>“system must be robust”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26E6-936A-40E4-B50A-4C807FBF2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365F0-A020-487D-84D8-ED0D9E8F0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7103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55373-DCC8-471A-8B14-9BCE9D122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DC24-3458-46F7-B895-0FE126B42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Things to consider before writing requirements:</a:t>
            </a:r>
          </a:p>
          <a:p>
            <a:r>
              <a:rPr lang="en-US" dirty="0"/>
              <a:t>Are there conflicts?</a:t>
            </a:r>
          </a:p>
          <a:p>
            <a:r>
              <a:rPr lang="en-US" dirty="0"/>
              <a:t>Are there any hidden assumptions?</a:t>
            </a:r>
          </a:p>
          <a:p>
            <a:r>
              <a:rPr lang="en-US" dirty="0"/>
              <a:t>Are there any missing constraints?</a:t>
            </a:r>
          </a:p>
          <a:p>
            <a:r>
              <a:rPr lang="en-US" dirty="0"/>
              <a:t>Validation: are we building the right system?</a:t>
            </a:r>
          </a:p>
          <a:p>
            <a:pPr lvl="1"/>
            <a:r>
              <a:rPr lang="en-US" dirty="0"/>
              <a:t>Do the requirements reflect user intent?</a:t>
            </a:r>
          </a:p>
          <a:p>
            <a:pPr lvl="1"/>
            <a:r>
              <a:rPr lang="en-US" dirty="0"/>
              <a:t>Do they cover failure cases?</a:t>
            </a:r>
          </a:p>
          <a:p>
            <a:pPr lvl="1"/>
            <a:r>
              <a:rPr lang="en-US" dirty="0"/>
              <a:t>Can we verify the requirements later?</a:t>
            </a:r>
          </a:p>
          <a:p>
            <a:r>
              <a:rPr lang="en-US" dirty="0"/>
              <a:t>Verification: are we building the system right?</a:t>
            </a:r>
          </a:p>
          <a:p>
            <a:pPr lvl="1"/>
            <a:r>
              <a:rPr lang="en-US" dirty="0"/>
              <a:t>Does the implementation satisfy all requirements?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9222F-9C63-4B6E-9F00-0651D73A1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552AE0-341C-454B-AD41-CE92C6312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69615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6DC6-0B34-4A0F-97F2-651063B50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3AA-AE42-41E1-A113-57537F27A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long projects, requirements are written early, design decisions made later, code modified even later…</a:t>
            </a:r>
          </a:p>
          <a:p>
            <a:r>
              <a:rPr lang="en-US" dirty="0"/>
              <a:t>Not easy to track why something exists, and what will break if we change it</a:t>
            </a:r>
          </a:p>
          <a:p>
            <a:r>
              <a:rPr lang="en-US" dirty="0"/>
              <a:t>Traceability: ability to answer:</a:t>
            </a:r>
          </a:p>
          <a:p>
            <a:pPr lvl="1"/>
            <a:r>
              <a:rPr lang="en-US" dirty="0"/>
              <a:t>Why does this exist?</a:t>
            </a:r>
          </a:p>
          <a:p>
            <a:pPr lvl="1"/>
            <a:r>
              <a:rPr lang="en-US" dirty="0"/>
              <a:t>What requirement does it satisfy?</a:t>
            </a:r>
          </a:p>
          <a:p>
            <a:pPr lvl="1"/>
            <a:r>
              <a:rPr lang="en-US" dirty="0"/>
              <a:t>What must be rechecked of it changes?</a:t>
            </a:r>
          </a:p>
          <a:p>
            <a:r>
              <a:rPr lang="en-US" dirty="0"/>
              <a:t>Traceability preserves intent over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2AED-CDF3-4535-BDD1-51BF5D13E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B65E8-395C-400D-9CF1-CF87C2C7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116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30BE4-4C22-419C-855B-2F793A23F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CB026-43CA-437C-A276-900CE34E9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Requirements capture obligations</a:t>
            </a:r>
          </a:p>
          <a:p>
            <a:r>
              <a:rPr lang="en-US" dirty="0"/>
              <a:t>Validation ensures we chose the right obligations</a:t>
            </a:r>
          </a:p>
          <a:p>
            <a:r>
              <a:rPr lang="en-US" dirty="0"/>
              <a:t>Verification ensures obligations are met</a:t>
            </a:r>
          </a:p>
          <a:p>
            <a:r>
              <a:rPr lang="en-US" dirty="0"/>
              <a:t>Traceability connects intent to implementation over time</a:t>
            </a:r>
          </a:p>
          <a:p>
            <a:endParaRPr lang="en-US" dirty="0"/>
          </a:p>
          <a:p>
            <a:r>
              <a:rPr lang="en-US" dirty="0"/>
              <a:t>How to ensure our design process incorporates these steps from the very beginning? V-model!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F2003-214F-4E28-935E-40C5A091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40333-61A0-403A-943F-25C069BC1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8489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12357</TotalTime>
  <Words>1464</Words>
  <Application>Microsoft Office PowerPoint</Application>
  <PresentationFormat>On-screen Show (4:3)</PresentationFormat>
  <Paragraphs>295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Software for Embedded Systems</vt:lpstr>
      <vt:lpstr>Lifecycle and Evolution Constraints in Embedded Software</vt:lpstr>
      <vt:lpstr>Embedded software lives long</vt:lpstr>
      <vt:lpstr>Many things directly affecting the S/W change over these times</vt:lpstr>
      <vt:lpstr>Modularity</vt:lpstr>
      <vt:lpstr>Example – radar sensors from Bosch</vt:lpstr>
      <vt:lpstr>Portability</vt:lpstr>
      <vt:lpstr>Example</vt:lpstr>
      <vt:lpstr>Portability is</vt:lpstr>
      <vt:lpstr>Configurability: one system, many variants</vt:lpstr>
      <vt:lpstr>Example: Therac-25 (Radiation Therapy Device)</vt:lpstr>
      <vt:lpstr>Example: Volkswagen Dieselgate controversy</vt:lpstr>
      <vt:lpstr>Configuration as a safety concern</vt:lpstr>
      <vt:lpstr>Long term maintenance</vt:lpstr>
      <vt:lpstr>Example: Mars Pathfinder</vt:lpstr>
      <vt:lpstr>Constraints, not design choices</vt:lpstr>
      <vt:lpstr>Requirements Engineering</vt:lpstr>
      <vt:lpstr>Why requirements engineering exists</vt:lpstr>
      <vt:lpstr>The RE process</vt:lpstr>
      <vt:lpstr>What is a requirement?</vt:lpstr>
      <vt:lpstr>What is a requirement?</vt:lpstr>
      <vt:lpstr>What category are these?</vt:lpstr>
      <vt:lpstr>Sources of requirements</vt:lpstr>
      <vt:lpstr>Functional requirements</vt:lpstr>
      <vt:lpstr>Non-functional responsibilities</vt:lpstr>
      <vt:lpstr>NFRs for the infusion pump</vt:lpstr>
      <vt:lpstr>Important to understand and distinguish the two</vt:lpstr>
      <vt:lpstr>Characteristics of a good requirement</vt:lpstr>
      <vt:lpstr>Requirements analysis</vt:lpstr>
      <vt:lpstr>Traceability</vt:lpstr>
      <vt:lpstr>Summary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602</cp:revision>
  <dcterms:created xsi:type="dcterms:W3CDTF">2010-01-15T20:22:21Z</dcterms:created>
  <dcterms:modified xsi:type="dcterms:W3CDTF">2026-01-13T06:22:55Z</dcterms:modified>
</cp:coreProperties>
</file>